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504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tổng quan dự án: quản lý trang thiết bị bằng C# WinForms, thực hiện trong 6 tuần.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bài toán: 9 thuộc tính đối tượng ThietBi và 6 nhóm chức năng M1–M6 theo yêu cầu học phần.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6 tuần thực hiện theo lộ trình học phần: từ giao diện, dữ liệu, sắp xếp, tìm kiếm, thống kê đến hoàn thiện.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5 thuật toán sắp xếp cài đặt thủ công và 3 phương pháp tìm kiếm. Nhấn mạnh Comparison&lt;T&gt; generic cho phép dùng chung 1 hàm cho nhiều khóa.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kết quả dữ liệu mẫu (235 hồ sơ), cách gom nhóm linh hoạt bằng Func&lt;T&gt;, xuất CSV cho Excel và backup ZIP có kiểm tra nghiệp vụ.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những điểm vượt yêu cầu: generic delegate, cơ chế bảo toàn dữ liệu, chuẩn hóa chuỗi tiếng Việt, backup có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Trình bày thẳng thắn các hạn chế hiện tại và lộ trình 3 giai đoạn phát triển tiếp theo.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luận: nhấn mạnh kết quả học tập và các kiến thức OOP/generic/file/error handling được vận dụng qua dự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131A47">
              <a:alpha val="40000"/>
            </a:srgbClr>
          </a:solidFill>
          <a:ln w="12700">
            <a:solidFill>
              <a:srgbClr val="131A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6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DỰ ÁN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Quản Lý Trang Thiết Bị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vi-VN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</a:t>
            </a:r>
            <a:r>
              <a:rPr lang="vi-VN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Kỹ Thuật Lập Trình  |  K60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3200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 8   </a:t>
            </a: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diện: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tuần thực tập  ·  6 chức năng M1–M6  ·  5 thuật toán sắp xếp  ·  3 phương pháp tìm kiếm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YÊU CẦU DỰ ÁN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 quản lý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trang thiết bị (TTB)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hiệu TTB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TTB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sản xuất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đưa vào sử dụng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cấp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lượng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Chủng loại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quản lý (1–5)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chức năng M1–M6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92040" y="1463040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6304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40680" y="14813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hồ sơ (Thêm / Sửa)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1975104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97510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0680" y="19933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danh sách có phân trang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2487168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48716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0680" y="25054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(5 thuật toán)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999232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99923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0680" y="30175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(tuần tự, nhị phân)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3511296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511296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35295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kê, báo cáo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4023360"/>
            <a:ext cx="475488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402336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40680" y="40416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Thoát chương trình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ĐÃ THỰC HIỆN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069848"/>
            <a:ext cx="777240" cy="274320"/>
          </a:xfrm>
          <a:prstGeom prst="roundRect">
            <a:avLst>
              <a:gd name="adj" fmla="val 2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69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71600" y="1051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Khung chương trình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4356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MainForm + 6 UserControl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M1–M6 &amp; điều hướng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069848"/>
            <a:ext cx="777240" cy="274320"/>
          </a:xfrm>
          <a:prstGeom prst="roundRect">
            <a:avLst>
              <a:gd name="adj" fmla="val 2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069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15000" y="10515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trúc dữ liệu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14356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ThietBi (9 thuộc tính)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JSON + phân trang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395728"/>
            <a:ext cx="777240" cy="274320"/>
          </a:xfrm>
          <a:prstGeom prst="roundRect">
            <a:avLst>
              <a:gd name="adj" fmla="val 2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95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2377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Thuật toán sắp xếp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276148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Selection, Insertion, Bubble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Sort, Merge Sort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395728"/>
            <a:ext cx="777240" cy="274320"/>
          </a:xfrm>
          <a:prstGeom prst="roundRect">
            <a:avLst>
              <a:gd name="adj" fmla="val 2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395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15000" y="2377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Tìm kiếm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276148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tự (không dấu)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Nhị phân + Chỉ mục hậu tố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721608"/>
            <a:ext cx="777240" cy="274320"/>
          </a:xfrm>
          <a:prstGeom prst="roundRect">
            <a:avLst>
              <a:gd name="adj" fmla="val 2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721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71600" y="3703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Thống kê &amp; xuất dữ liệu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" y="40873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 nhóm theo cấp/loại/nguồn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CSV + Backup ZIP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3721608"/>
            <a:ext cx="777240" cy="274320"/>
          </a:xfrm>
          <a:prstGeom prst="roundRect">
            <a:avLst>
              <a:gd name="adj" fmla="val 2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721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15000" y="3703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thử &amp; hoàn thiện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73752" y="40873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kịch bản kiểm thử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toàn dữ liệu, build Release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TRÚC DỮ LIỆU &amp; KIẾN TRÚC CHƯƠNG TRÌNH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dữ liệu chính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520440" cy="329184"/>
          </a:xfrm>
          <a:prstGeom prst="roundRect">
            <a:avLst>
              <a:gd name="adj" fmla="val 19444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data.json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837944"/>
            <a:ext cx="18288" cy="155448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93392"/>
            <a:ext cx="3520440" cy="329184"/>
          </a:xfrm>
          <a:prstGeom prst="roundRect">
            <a:avLst>
              <a:gd name="adj" fmla="val 19444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9339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ThuDocDuLieu()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2322576"/>
            <a:ext cx="18288" cy="155448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478024"/>
            <a:ext cx="3520440" cy="329184"/>
          </a:xfrm>
          <a:prstGeom prst="roundRect">
            <a:avLst>
              <a:gd name="adj" fmla="val 19444"/>
            </a:avLst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7802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List&lt;ThietBi&gt;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2807208"/>
            <a:ext cx="18288" cy="155448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962656"/>
            <a:ext cx="3520440" cy="329184"/>
          </a:xfrm>
          <a:prstGeom prst="roundRect">
            <a:avLst>
              <a:gd name="adj" fmla="val 19444"/>
            </a:avLst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6265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/ M2 / M3 / M4 / M5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3291840"/>
            <a:ext cx="18288" cy="155448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447288"/>
            <a:ext cx="3520440" cy="329184"/>
          </a:xfrm>
          <a:prstGeom prst="roundRect">
            <a:avLst>
              <a:gd name="adj" fmla="val 19444"/>
            </a:avLst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4728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LuuDuLieu()  →  data.json.tmp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3776472"/>
            <a:ext cx="18288" cy="155448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931920"/>
            <a:ext cx="3520440" cy="329184"/>
          </a:xfrm>
          <a:prstGeom prst="roundRect">
            <a:avLst>
              <a:gd name="adj" fmla="val 19444"/>
            </a:avLst>
          </a:prstGeom>
          <a:solidFill>
            <a:srgbClr val="1E2761">
              <a:alpha val="12000"/>
            </a:srgbClr>
          </a:solidFill>
          <a:ln w="12700">
            <a:solidFill>
              <a:srgbClr val="1E2761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319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data.json  (ghi nguyên tử)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960120"/>
            <a:ext cx="416052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mã nguồn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MainForm.cs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hướng, đọc/ghi JSON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865376"/>
            <a:ext cx="3840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938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Models/ThietBi.cs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20840" y="1938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thuộc tính đối tượng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322576"/>
            <a:ext cx="3840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UcThemMoi.cs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Thêm, sửa, validation, hoàn tác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779776"/>
            <a:ext cx="3840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852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UcDanhSach.cs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20840" y="2852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sách, phân trang, CSV, ZIP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236976"/>
            <a:ext cx="3840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3101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UcSapXep.cs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33101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thuật toán, 8 khóa sắp xếp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694176"/>
            <a:ext cx="3840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767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UcTimKiem.cs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20840" y="3767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hóa, tuần tự, nhị phân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151376"/>
            <a:ext cx="3840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UcThongKe.cs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2084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Đếm, cộng tổng, gom nhóm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THUẬT TOÁN SẮP XẾP &amp; TÌM KIẾM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42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(M3)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840480" cy="530352"/>
          </a:xfrm>
          <a:prstGeom prst="roundRect">
            <a:avLst>
              <a:gd name="adj" fmla="val 12069"/>
            </a:avLst>
          </a:prstGeom>
          <a:solidFill>
            <a:srgbClr val="1E2761">
              <a:alpha val="9000"/>
            </a:srgbClr>
          </a:solidFill>
          <a:ln w="12700">
            <a:solidFill>
              <a:srgbClr val="1E2761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996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4996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7373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phần tử nhỏ nhất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084832"/>
            <a:ext cx="3840480" cy="530352"/>
          </a:xfrm>
          <a:prstGeom prst="roundRect">
            <a:avLst>
              <a:gd name="adj" fmla="val 12069"/>
            </a:avLst>
          </a:prstGeom>
          <a:solidFill>
            <a:srgbClr val="1E2761">
              <a:alpha val="9000"/>
            </a:srgbClr>
          </a:solidFill>
          <a:ln w="12700">
            <a:solidFill>
              <a:srgbClr val="1E2761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1214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1214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359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vào đúng vị trí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706624"/>
            <a:ext cx="3840480" cy="530352"/>
          </a:xfrm>
          <a:prstGeom prst="roundRect">
            <a:avLst>
              <a:gd name="adj" fmla="val 12069"/>
            </a:avLst>
          </a:prstGeom>
          <a:solidFill>
            <a:srgbClr val="1E2761">
              <a:alpha val="9000"/>
            </a:srgbClr>
          </a:solidFill>
          <a:ln w="12700">
            <a:solidFill>
              <a:srgbClr val="1E2761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7432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2743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29809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chỗ cặp sai, dừng sớm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328416"/>
            <a:ext cx="3840480" cy="530352"/>
          </a:xfrm>
          <a:prstGeom prst="roundRect">
            <a:avLst>
              <a:gd name="adj" fmla="val 12069"/>
            </a:avLst>
          </a:prstGeom>
          <a:solidFill>
            <a:srgbClr val="028090">
              <a:alpha val="9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3649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33649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n)*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36027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hoạch đệ quy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950208"/>
            <a:ext cx="3840480" cy="530352"/>
          </a:xfrm>
          <a:prstGeom prst="roundRect">
            <a:avLst>
              <a:gd name="adj" fmla="val 12069"/>
            </a:avLst>
          </a:prstGeom>
          <a:solidFill>
            <a:srgbClr val="028090">
              <a:alpha val="9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9867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39867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42245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đôi và trộn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960120"/>
            <a:ext cx="411480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1042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(M4)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0600" y="1444752"/>
            <a:ext cx="137160" cy="1005840"/>
          </a:xfrm>
          <a:prstGeom prst="roundRect">
            <a:avLst>
              <a:gd name="adj" fmla="val 2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1444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tuần tự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10912" y="173736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toàn bộ danh sách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nhiều từ khóa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sắp xếp trước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587752"/>
            <a:ext cx="137160" cy="1005840"/>
          </a:xfrm>
          <a:prstGeom prst="roundRect">
            <a:avLst>
              <a:gd name="adj" fmla="val 2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2587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nhị phân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10912" y="288036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đã sắp xếp đúng khóa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vị trí đầu + duyệt sang phải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cho số, ngày, cấp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730752"/>
            <a:ext cx="137160" cy="100584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3730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mục hậu tố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10912" y="402336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tất cả hậu tố chuỗi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một phần chuỗi không dấu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"sung ak47" → chứa "sung"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THỐNG KÊ, XUẤT DỮ LIỆU &amp; BẢO VỆ DỮ LIỆU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3327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thiết bị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3327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41.549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6888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số lượng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3327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Chủng loại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3327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67512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cấp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225856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2585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(M5)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3776" y="2596896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 nhóm theo cấp / chủng loại / nguồn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không phân biệt hoa thường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chủng loại bằng HashSet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14884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0128" y="225856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2585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CSV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28416" y="2596896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BOM → Excel hiển thị đúng tiếng Việt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ô trong dấu ngoặc kép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đôi dấu ngoặc kép bên trong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214884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225856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22585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/ Restore ZIP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63056" y="2596896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data.json thành .zip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nội dung trước khi khôi phục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chối dữ liệu lỗi, trùng, âm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ƯU ĐIỂM NỔI BẬT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069848"/>
            <a:ext cx="384048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69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thủ công 5 thuật toán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4356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Selection, Insertion, Bubble, Quick Sort, Merge Sort — dùng Comparison&lt;T&gt; generic, có thể sắp theo mọi khóa.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069848"/>
            <a:ext cx="384048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069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1051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linh hoạt không dấu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14356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phần chuỗi, nhiều từ, không phân biệt dấu/hoa thường. Hỗ trợ cả chỉ mục hậu tố cho chuỗi tiếng Việt.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395728"/>
            <a:ext cx="384048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957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377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toàn dữ liệu vững chắc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276148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qua file tạm .tmp; hoàn tác trong bộ nhớ khi lưu thất bại; khóa ghi nếu JSON lỗi khi khởi động.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395728"/>
            <a:ext cx="384048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3957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377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đầy đủ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276148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trùng mã TTB, số hiệu; kiểm tra ngày, số lượng, cấp; kiểm tra backup trước khi khôi phục.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721608"/>
            <a:ext cx="384048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7216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703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 đổi dữ liệu với Excel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" y="40873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CSV UTF-8 BOM, đúng tiếng Việt. Backup/Restore ZIP có kiểm tra nghiệp vụ toàn diện.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611880"/>
            <a:ext cx="4160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3721608"/>
            <a:ext cx="384048" cy="347472"/>
          </a:xfrm>
          <a:prstGeom prst="roundRect">
            <a:avLst>
              <a:gd name="adj" fmla="val 184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7216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703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rõ ràng, module hóa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73752" y="40873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M1–M6 tách biệt thành UserControl; MainForm chỉ điều hướng; dễ theo dõi và mở rộng.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 &amp; HƯỚNG PHÁT TRIỂN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690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424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phục vụ một người dùng, chưa có phân quyền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JSON chưa phù hợp môi trường nhiều người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dẫn file còn phụ thuộc vị trí máy chạy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 tự M3 chỉ giữ trong phiên (file lưu theo mã TTB)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mục hậu tố tạo lại mỗi lần – tốn bộ nhớ khi lớn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O(n²) chậm khi số hồ sơ rất lớn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chỉ dạng bảng, chưa có biểu đồ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bộ unit test tự động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042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463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Ngắn hạn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7647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dẫn dữ liệu tương đối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khôi phục nguyên tử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cập nhật trạng thái M4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251460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5146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hạn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281635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tầng lưu trữ / nghiệp vụ / UI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test: sắp xếp, tìm kiếm, validation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thống kê trực quan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3566160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5661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Dài hạn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38679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SQL Server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khoản, phân quyền, lịch sử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kê, điều chuyển, khấu hao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31A47">
              <a:alpha val="50000"/>
            </a:srgbClr>
          </a:solidFill>
          <a:ln w="12700">
            <a:solidFill>
              <a:srgbClr val="131A4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phẩm hoàn thành, kiến thức được vận dụng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84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6791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M1–M6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chỉnh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87752" y="20116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2084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87752" y="26791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thủ công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72584" y="20116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2084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72584" y="26791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57416" y="20116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7416" y="2084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235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757416" y="26791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dữ liệu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kiểm thử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E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vận dụng: cấu trúc dữ liệu · generic &amp; delegate · xử lý chuỗi Unicode · thao tác tệp · tư duy kiểm soát lỗi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 và các bạn đã theo dõi!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1333</Words>
  <Application>Microsoft Office PowerPoint</Application>
  <PresentationFormat>On-screen Show (16:9)</PresentationFormat>
  <Paragraphs>204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Dự Án Kỹ Thuật Lập Trình</dc:title>
  <dc:subject>PptxGenJS Presentation</dc:subject>
  <dc:creator>PptxGenJS</dc:creator>
  <cp:lastModifiedBy>buinamdong9@gmail.com</cp:lastModifiedBy>
  <cp:revision>2</cp:revision>
  <dcterms:created xsi:type="dcterms:W3CDTF">2026-06-10T13:33:13Z</dcterms:created>
  <dcterms:modified xsi:type="dcterms:W3CDTF">2026-06-10T13:37:50Z</dcterms:modified>
</cp:coreProperties>
</file>