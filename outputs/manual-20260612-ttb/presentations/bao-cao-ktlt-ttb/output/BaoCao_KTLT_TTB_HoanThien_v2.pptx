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733bc803842cc" /><Relationship Type="http://schemas.openxmlformats.org/officeDocument/2006/relationships/extended-properties" Target="/docProps/app.xml" Id="Rbc33a843319e4ca2" /><Relationship Type="http://schemas.openxmlformats.org/officeDocument/2006/relationships/officeDocument" Target="/ppt/presentation.xml" Id="Rba122ca98dd4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570191e0d4b31"/>
  </p:sldMasterIdLst>
  <p:notesMasterIdLst>
    <p:notesMasterId xmlns:r="http://schemas.openxmlformats.org/officeDocument/2006/relationships" r:id="R6e0ef12ef7784e20"/>
  </p:notesMasterIdLst>
  <p:sldIdLst>
    <p:sldId xmlns:r="http://schemas.openxmlformats.org/officeDocument/2006/relationships" id="256" r:id="Rccd9adb5915a4fd3"/>
    <p:sldId xmlns:r="http://schemas.openxmlformats.org/officeDocument/2006/relationships" id="257" r:id="R842f0fde720e4bc8"/>
    <p:sldId xmlns:r="http://schemas.openxmlformats.org/officeDocument/2006/relationships" id="258" r:id="R81b8cdd646aa4f98"/>
    <p:sldId xmlns:r="http://schemas.openxmlformats.org/officeDocument/2006/relationships" id="259" r:id="R201b273331974be2"/>
    <p:sldId xmlns:r="http://schemas.openxmlformats.org/officeDocument/2006/relationships" id="260" r:id="R4d54a8aabe034d95"/>
    <p:sldId xmlns:r="http://schemas.openxmlformats.org/officeDocument/2006/relationships" id="261" r:id="R3b8e83a242734bbb"/>
    <p:sldId xmlns:r="http://schemas.openxmlformats.org/officeDocument/2006/relationships" id="262" r:id="R853cc4fa07224445"/>
    <p:sldId xmlns:r="http://schemas.openxmlformats.org/officeDocument/2006/relationships" id="263" r:id="R93edb87c44e340de"/>
    <p:sldId xmlns:r="http://schemas.openxmlformats.org/officeDocument/2006/relationships" id="264" r:id="R3d2676ab03b5448a"/>
    <p:sldId xmlns:r="http://schemas.openxmlformats.org/officeDocument/2006/relationships" id="265" r:id="R3f38018a5a2d4c77"/>
    <p:sldId xmlns:r="http://schemas.openxmlformats.org/officeDocument/2006/relationships" id="266" r:id="R0ab1f19b99ad4bd7"/>
    <p:sldId xmlns:r="http://schemas.openxmlformats.org/officeDocument/2006/relationships" id="267" r:id="Rf26a8a8e217547ef"/>
    <p:sldId xmlns:r="http://schemas.openxmlformats.org/officeDocument/2006/relationships" id="268" r:id="Ra14091f441444d88"/>
    <p:sldId xmlns:r="http://schemas.openxmlformats.org/officeDocument/2006/relationships" id="269" r:id="R647d29629d1c4c2f"/>
    <p:sldId xmlns:r="http://schemas.openxmlformats.org/officeDocument/2006/relationships" id="270" r:id="R556edf5e22ed4d52"/>
    <p:sldId xmlns:r="http://schemas.openxmlformats.org/officeDocument/2006/relationships" id="271" r:id="R2885a8dee3904b32"/>
    <p:sldId xmlns:r="http://schemas.openxmlformats.org/officeDocument/2006/relationships" id="272" r:id="R502e6bd1eab749b9"/>
    <p:sldId xmlns:r="http://schemas.openxmlformats.org/officeDocument/2006/relationships" id="273" r:id="R9b9da8ad6cd443fa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3f86077654826" /><Relationship Type="http://schemas.openxmlformats.org/officeDocument/2006/relationships/slideMaster" Target="/ppt/slideMasters/slideMaster1.xml" Id="R740570191e0d4b31" /><Relationship Type="http://schemas.openxmlformats.org/officeDocument/2006/relationships/notesMaster" Target="/ppt/notesMasters/notesMaster1.xml" Id="R6e0ef12ef7784e20" /><Relationship Type="http://schemas.openxmlformats.org/officeDocument/2006/relationships/presProps" Target="/ppt/presProps.xml" Id="R6cbfffb954d8441a" /><Relationship Type="http://schemas.openxmlformats.org/officeDocument/2006/relationships/viewProps" Target="/ppt/viewProps.xml" Id="R7e4a47855e1142d5" /><Relationship Type="http://schemas.openxmlformats.org/officeDocument/2006/relationships/tableStyles" Target="/ppt/tableStyles.xml" Id="R85ce6ef3c96b478e" /><Relationship Type="http://schemas.openxmlformats.org/officeDocument/2006/relationships/slide" Target="/ppt/slides/slide1.xml" Id="Rccd9adb5915a4fd3" /><Relationship Type="http://schemas.openxmlformats.org/officeDocument/2006/relationships/slide" Target="/ppt/slides/slide2.xml" Id="R842f0fde720e4bc8" /><Relationship Type="http://schemas.openxmlformats.org/officeDocument/2006/relationships/slide" Target="/ppt/slides/slide3.xml" Id="R81b8cdd646aa4f98" /><Relationship Type="http://schemas.openxmlformats.org/officeDocument/2006/relationships/slide" Target="/ppt/slides/slide4.xml" Id="R201b273331974be2" /><Relationship Type="http://schemas.openxmlformats.org/officeDocument/2006/relationships/slide" Target="/ppt/slides/slide5.xml" Id="R4d54a8aabe034d95" /><Relationship Type="http://schemas.openxmlformats.org/officeDocument/2006/relationships/slide" Target="/ppt/slides/slide6.xml" Id="R3b8e83a242734bbb" /><Relationship Type="http://schemas.openxmlformats.org/officeDocument/2006/relationships/slide" Target="/ppt/slides/slide7.xml" Id="R853cc4fa07224445" /><Relationship Type="http://schemas.openxmlformats.org/officeDocument/2006/relationships/slide" Target="/ppt/slides/slide8.xml" Id="R93edb87c44e340de" /><Relationship Type="http://schemas.openxmlformats.org/officeDocument/2006/relationships/slide" Target="/ppt/slides/slide9.xml" Id="R3d2676ab03b5448a" /><Relationship Type="http://schemas.openxmlformats.org/officeDocument/2006/relationships/slide" Target="/ppt/slides/slide10.xml" Id="R3f38018a5a2d4c77" /><Relationship Type="http://schemas.openxmlformats.org/officeDocument/2006/relationships/slide" Target="/ppt/slides/slide11.xml" Id="R0ab1f19b99ad4bd7" /><Relationship Type="http://schemas.openxmlformats.org/officeDocument/2006/relationships/slide" Target="/ppt/slides/slide12.xml" Id="Rf26a8a8e217547ef" /><Relationship Type="http://schemas.openxmlformats.org/officeDocument/2006/relationships/slide" Target="/ppt/slides/slide13.xml" Id="Ra14091f441444d88" /><Relationship Type="http://schemas.openxmlformats.org/officeDocument/2006/relationships/slide" Target="/ppt/slides/slide14.xml" Id="R647d29629d1c4c2f" /><Relationship Type="http://schemas.openxmlformats.org/officeDocument/2006/relationships/slide" Target="/ppt/slides/slide15.xml" Id="R556edf5e22ed4d52" /><Relationship Type="http://schemas.openxmlformats.org/officeDocument/2006/relationships/slide" Target="/ppt/slides/slide16.xml" Id="R2885a8dee3904b32" /><Relationship Type="http://schemas.openxmlformats.org/officeDocument/2006/relationships/slide" Target="/ppt/slides/slide17.xml" Id="R502e6bd1eab749b9" /><Relationship Type="http://schemas.openxmlformats.org/officeDocument/2006/relationships/slide" Target="/ppt/slides/slide18.xml" Id="R9b9da8ad6cd4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1949cbcca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e8cfb42cea440d" /><Relationship Type="http://schemas.openxmlformats.org/officeDocument/2006/relationships/notesMaster" Target="/ppt/notesMasters/notesMaster1.xml" Id="R7f64eaaff9a7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1cdd5b20040be" /><Relationship Type="http://schemas.openxmlformats.org/officeDocument/2006/relationships/notesMaster" Target="/ppt/notesMasters/notesMaster1.xml" Id="R5d0536f83be848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d1004d9f141ac" /><Relationship Type="http://schemas.openxmlformats.org/officeDocument/2006/relationships/notesMaster" Target="/ppt/notesMasters/notesMaster1.xml" Id="R2987dd51f430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6ab5bd11a4795" /><Relationship Type="http://schemas.openxmlformats.org/officeDocument/2006/relationships/notesMaster" Target="/ppt/notesMasters/notesMaster1.xml" Id="Rbf92c4309765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73edb85e6425f" /><Relationship Type="http://schemas.openxmlformats.org/officeDocument/2006/relationships/notesMaster" Target="/ppt/notesMasters/notesMaster1.xml" Id="R2547776c845346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709ba92bf14a68" /><Relationship Type="http://schemas.openxmlformats.org/officeDocument/2006/relationships/notesMaster" Target="/ppt/notesMasters/notesMaster1.xml" Id="R6651750f2d364d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685680d4241c0" /><Relationship Type="http://schemas.openxmlformats.org/officeDocument/2006/relationships/notesMaster" Target="/ppt/notesMasters/notesMaster1.xml" Id="R6d50744a4436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c0ca694634c43" /><Relationship Type="http://schemas.openxmlformats.org/officeDocument/2006/relationships/notesMaster" Target="/ppt/notesMasters/notesMaster1.xml" Id="R61e5aeea698d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609e342b54af5" /><Relationship Type="http://schemas.openxmlformats.org/officeDocument/2006/relationships/notesMaster" Target="/ppt/notesMasters/notesMaster1.xml" Id="Rdff0a333e67e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c7020b8d534766" /><Relationship Type="http://schemas.openxmlformats.org/officeDocument/2006/relationships/notesMaster" Target="/ppt/notesMasters/notesMaster1.xml" Id="R364e1817ba6845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0c7dc7e384451" /><Relationship Type="http://schemas.openxmlformats.org/officeDocument/2006/relationships/notesMaster" Target="/ppt/notesMasters/notesMaster1.xml" Id="R2e773363200b4c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c80321bc624227" /><Relationship Type="http://schemas.openxmlformats.org/officeDocument/2006/relationships/notesMaster" Target="/ppt/notesMasters/notesMaster1.xml" Id="Ra501853bc03648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8b2242d3744caa" /><Relationship Type="http://schemas.openxmlformats.org/officeDocument/2006/relationships/notesMaster" Target="/ppt/notesMasters/notesMaster1.xml" Id="R42b3a871cf9f4d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df471fe05b43b8" /><Relationship Type="http://schemas.openxmlformats.org/officeDocument/2006/relationships/notesMaster" Target="/ppt/notesMasters/notesMaster1.xml" Id="R9a166df4f4d74b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01ffffe04348cc" /><Relationship Type="http://schemas.openxmlformats.org/officeDocument/2006/relationships/notesMaster" Target="/ppt/notesMasters/notesMaster1.xml" Id="R5682d45bc13942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d095c689c947c1" /><Relationship Type="http://schemas.openxmlformats.org/officeDocument/2006/relationships/notesMaster" Target="/ppt/notesMasters/notesMaster1.xml" Id="R890c612b192b46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0ea757dffa4da1" /><Relationship Type="http://schemas.openxmlformats.org/officeDocument/2006/relationships/notesMaster" Target="/ppt/notesMasters/notesMaster1.xml" Id="Rddb4de2d53b54a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672871f9304a02" /><Relationship Type="http://schemas.openxmlformats.org/officeDocument/2006/relationships/notesMaster" Target="/ppt/notesMasters/notesMaster1.xml" Id="R50ce315337ca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tổng quan dự án: quản lý trang thiết bị bằng C# WinForms, thực hiện trong 6 tuần.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bài toán: 9 thuộc tính đối tượng ThietBi và 6 nhóm chức năng M1–M6 theo yêu cầu học phần.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6 tuần thực hiện theo lộ trình học phần: từ giao diện, dữ liệu, sắp xếp, tìm kiếm, thống kê đến hoàn thiện.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5 thuật toán sắp xếp cài đặt thủ công và 3 phương pháp tìm kiếm. Nhấn mạnh Comparison&lt;T&gt; generic cho phép dùng chung 1 hàm cho nhiều khóa.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kết quả dữ liệu mẫu (235 hồ sơ), cách gom nhóm linh hoạt bằng Func&lt;T&gt;, xuất CSV cho Excel và backup ZIP có kiểm tra nghiệp vụ.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những điểm vượt yêu cầu: generic delegate, cơ chế bảo toàn dữ liệu, chuẩn hóa chuỗi tiếng Việt, backup có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thẳng thắn các hạn chế hiện tại và lộ trình 3 giai đoạn phát triển tiếp theo.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luận: nhấn mạnh kết quả học tập và các kiến thức OOP/generic/file/error handling được vận dụng qua dự 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4c50a1d054b9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b26770c1034d49" /><Relationship Type="http://schemas.openxmlformats.org/officeDocument/2006/relationships/slideLayout" Target="/ppt/slideLayouts/slideLayout1.xml" Id="Rc6d74d2d8eec4b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74d2d8eec4bd7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57945287d40d1" /><Relationship Type="http://schemas.openxmlformats.org/officeDocument/2006/relationships/notesSlide" Target="/ppt/notesSlides/notesSlide1.xml" Id="R0473126d6a13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ddef330f14605" /><Relationship Type="http://schemas.openxmlformats.org/officeDocument/2006/relationships/notesSlide" Target="/ppt/notesSlides/notesSlide2.xml" Id="Rc2ae87e85335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45113c0f94ec2" /><Relationship Type="http://schemas.openxmlformats.org/officeDocument/2006/relationships/notesSlide" Target="/ppt/notesSlides/notesSlide3.xml" Id="R1064b6bdd60c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cff570e994952" /><Relationship Type="http://schemas.openxmlformats.org/officeDocument/2006/relationships/notesSlide" Target="/ppt/notesSlides/notesSlide4.xml" Id="Rb61d60a8098b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fce71b64b4821" /><Relationship Type="http://schemas.openxmlformats.org/officeDocument/2006/relationships/notesSlide" Target="/ppt/notesSlides/notesSlide5.xml" Id="Rb3ad0da9cd2a49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2832c7b7d4ebb" /><Relationship Type="http://schemas.openxmlformats.org/officeDocument/2006/relationships/notesSlide" Target="/ppt/notesSlides/notesSlide6.xml" Id="R01c82b5982ca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a5b09dc5b4467" /><Relationship Type="http://schemas.openxmlformats.org/officeDocument/2006/relationships/notesSlide" Target="/ppt/notesSlides/notesSlide7.xml" Id="Rb207918affc64f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d7f8ed66c4280" /><Relationship Type="http://schemas.openxmlformats.org/officeDocument/2006/relationships/notesSlide" Target="/ppt/notesSlides/notesSlide8.xml" Id="R4bed23caf55d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0a7879791426f" /><Relationship Type="http://schemas.openxmlformats.org/officeDocument/2006/relationships/notesSlide" Target="/ppt/notesSlides/notesSlide9.xml" Id="R6eb7a456e6bb4e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563d43344538" /><Relationship Type="http://schemas.openxmlformats.org/officeDocument/2006/relationships/notesSlide" Target="/ppt/notesSlides/notesSlide10.xml" Id="R83255171464849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94b3f1b674d61" /><Relationship Type="http://schemas.openxmlformats.org/officeDocument/2006/relationships/notesSlide" Target="/ppt/notesSlides/notesSlide11.xml" Id="R00e28f42cee54a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ba7a8ed974aeb" /><Relationship Type="http://schemas.openxmlformats.org/officeDocument/2006/relationships/notesSlide" Target="/ppt/notesSlides/notesSlide12.xml" Id="Rdd56d68ef5b84f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dd0d78cd45ab" /><Relationship Type="http://schemas.openxmlformats.org/officeDocument/2006/relationships/notesSlide" Target="/ppt/notesSlides/notesSlide13.xml" Id="R7d59e5f9e2f440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849fe35974a00" /><Relationship Type="http://schemas.openxmlformats.org/officeDocument/2006/relationships/notesSlide" Target="/ppt/notesSlides/notesSlide14.xml" Id="Re2bb0e072b5b45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30598851b43f0" /><Relationship Type="http://schemas.openxmlformats.org/officeDocument/2006/relationships/notesSlide" Target="/ppt/notesSlides/notesSlide15.xml" Id="Ra0e72d77e0ee4f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357803d184cae" /><Relationship Type="http://schemas.openxmlformats.org/officeDocument/2006/relationships/notesSlide" Target="/ppt/notesSlides/notesSlide16.xml" Id="Rb7548fe4334b4f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b8e028d0040d1" /><Relationship Type="http://schemas.openxmlformats.org/officeDocument/2006/relationships/notesSlide" Target="/ppt/notesSlides/notesSlide17.xml" Id="R409409b356d54a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a57f7ed2d4ea2" /><Relationship Type="http://schemas.openxmlformats.org/officeDocument/2006/relationships/notesSlide" Target="/ppt/notesSlides/notesSlide18.xml" Id="R0bf687865d7b41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E085B4-90CA-41AA-8223-5EFFA9A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9144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47">
              <a:alpha val="40000"/>
            </a:srgbClr>
          </a:solidFill>
          <a:ln xmlns:a="http://schemas.openxmlformats.org/drawingml/2006/main"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03AAF0-221F-4C61-ABB2-E26E9FD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13716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>
              <a:alpha val="30000"/>
            </a:srgbClr>
          </a:solidFill>
          <a:ln xmlns:a="http://schemas.openxmlformats.org/drawingml/2006/main"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285CE1-8B61-44E8-971E-E35575B4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BÁO CÁO DỰ ÁN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85C9B1-F814-4EC3-94BA-2475D9D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498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Quản Lý Trang Thiết Bị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5BA5CE-44A5-4142-A248-74167E4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Học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phần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Dự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Án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Kỹ Thuật Lập Trình  |  K60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5F5EA85-03ED-4ABD-ACDA-E98775E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2004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 w="12700">
            <a:solidFill>
              <a:srgbClr val="02C3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9517B4-0E19-4664-844F-F4548487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Ngôn ngữ: 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C# / .NET 8   </a:t>
            </a: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Giao diện: 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Windows Forms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ED39A1-C630-41D8-8140-C42EF78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EA6C8"/>
                </a:solidFill>
                <a:latin typeface="Calibri"/>
                <a:ea typeface="Calibri"/>
                <a:cs typeface="Calibri"/>
              </a:rPr>
              <a:t>6 tuần thực tập  ·  6 chức năng M1–M6  ·  5 thuật toán sắp xếp  ·  2 thuật toán tìm kiếm · 1 chỉ mục hậu tố</a:t>
            </a:r>
          </a:p>
        </p:txBody>
      </p:sp>
    </p:spTree>
    <p:extLst>
      <p:ext uri="{BB962C8B-B14F-4D97-AF65-F5344CB8AC3E}">
        <p14:creationId xmlns:p14="http://schemas.microsoft.com/office/powerpoint/2010/main" val="294504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8CFDAC-000A-4ABC-8A1F-BA19165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YÊU CẦU DỰ ÁN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C9BECD-F1BD-4FB5-87D2-F4DB6BA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A01FAB-14BF-45D9-9EF0-050FECC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0"/>
            <a:ext cx="4206240" cy="384048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67D8DA-10E1-445C-8261-E2DAABE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Đối tượng quản lý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23D708-4E22-4048-8954-7E9E25F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9319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Mã trang thiết bị (TTB)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Số hiệu TTB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Tên TTB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Ngày sản xuất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Ngày đưa vào sử dụng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Nguồn cấp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Số lượng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Chủng loại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Cấp quản lý (1–5)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BDDE382-060B-47B0-8989-FBBA514E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14400"/>
            <a:ext cx="4023360" cy="384048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B1FB18-4443-4C2F-A8A9-B015448C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00584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Menu chức năng M1–M6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61F29B5-1E41-4A04-A74A-EFD3108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4F70C08-62C1-4365-93C6-2A38E95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655EB00-D7D3-488B-80BE-55660711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81328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Cập nhật hồ sơ (Thêm / Sửa)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F22047A-C2FA-4BC2-9397-7FE5813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75104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20C218-19B9-4B06-98A9-1367177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75104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6C6013-543E-44AB-8F4A-BE05FF6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993392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In danh sách có phân trang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E5C4572-F466-4403-8B18-8D22343D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87168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25FA889-960D-49D7-B5E0-02F5FA4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8716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0788782-1B5E-4D65-A345-0CB064B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05456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Sắp xếp (5 thuật toán)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EE7146F-CD60-43FB-B569-F6864C25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99232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4342D81-151D-4D6B-960A-73E11B2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99232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CCD8F10-E605-4CC3-8534-4FFF85E6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1752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kiếm (tuần tự, nhị phân)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9BA2429-D07B-4FCA-9C3B-7FF4D0B0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511296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A01A688-A413-4B52-951E-347BD38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511296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F93DFE-35C9-4934-891A-46AC1B4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529584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Thống kê, báo cáo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80635C-1F7F-4CFB-9CF6-DD7E90AF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023360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6D433D7-0FBF-454C-B154-B929FDE7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023360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0B99B8D-A0E5-4807-A485-5255989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041648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Thoát chương trình</a:t>
            </a:r>
          </a:p>
        </p:txBody>
      </p:sp>
    </p:spTree>
    <p:extLst>
      <p:ext uri="{BB962C8B-B14F-4D97-AF65-F5344CB8AC3E}">
        <p14:creationId xmlns:p14="http://schemas.microsoft.com/office/powerpoint/2010/main" val="713273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E4C272-C244-43CD-B73F-6EF28E2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NỘI DUNG ĐÃ THỰC HIỆN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79A16BF-3846-42F7-B059-326B3B55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44CB93B-A8EE-46BE-BE8C-3D601C66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3C2A74-C65F-409B-A7CD-C168139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53D84E-E816-458C-AAFA-BC4B2D83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FBA0DD-54F6-4BA9-9A96-2FE506C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05156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Khung chương trình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001931-EA74-48F3-849D-4AD47C4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MainForm + 6 UserControl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Menu M1–M6 &amp; điều hướng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179CA39-70F8-4258-9A39-DC9EFE2E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959DB7-5D8E-4C48-B30C-48F0852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A955803-0CEB-4F7F-B827-31EA918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FA08E5D-A885-4987-8743-A223B411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5156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Cấu trúc dữ liệu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A8D96A-EC2D-46BA-8FA1-BE9703F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Lớp ThietBi (9 thuộc tính)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CRUD + JSON + phân trang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1720244-5BF8-47C8-88EB-9735CEBC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0CC87DE-DF7B-4591-85EB-EF2FA2A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EB2C427-E6A3-4286-9FFA-675E25A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C0D593-720C-4E65-897E-AFA8DD5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744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Thuật toán sắp xếp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2CF5B75-D3A4-4C20-951E-74036AD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Selection, Insertion, Bubble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Quick Sort, Merge Sort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B2B228-3E44-4AD4-B7FC-09AC2A3C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F9338E7-39B0-406B-A466-AF9A1A3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11F395A-7BDC-42D9-AB8C-FB09E914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3C60FF2-36A3-4E0E-BDC5-E7D3A92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744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Tìm kiếm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232168-6D26-4E07-B46F-CFA0349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Tuần tự (không dấu)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Nhị phân + Chỉ mục hậu tố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F7A92D9-824E-417A-BFFC-365B7C5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8CCAA8D-B96D-4B5F-B5E7-3F10B701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970253E-ABF8-49A4-B7CD-703596C0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5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FB17E0A-2EE9-4834-807D-2EE0E3A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Thống kê &amp; xuất dữ liệu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287E07-D0B5-414B-9C8F-D9229130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Gom nhóm theo cấp/loại/nguồn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Xuất CSV + Backup JSON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E00B066-AB90-48F9-90FD-DB6DA022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337DAD5-A856-41F7-9AF5-08B1E2D0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C26BE8B-DDC4-4282-AD20-53CCDD8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6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32BF5BB-66EF-4373-9BBD-CBF336F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332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Kiểm thử &amp; hoàn thiện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3069308-0839-4C02-988A-783FDFA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8 kịch bản kiểm thử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Bảo toàn dữ liệu, build Release</a:t>
            </a:r>
          </a:p>
        </p:txBody>
      </p:sp>
    </p:spTree>
    <p:extLst>
      <p:ext uri="{BB962C8B-B14F-4D97-AF65-F5344CB8AC3E}">
        <p14:creationId xmlns:p14="http://schemas.microsoft.com/office/powerpoint/2010/main" val="456667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SƠ ĐỒ USE CASE TỔNG QUAN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FCA1-BF37-470A-8EBA-C3C66C5A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3B5F4-6935-4755-A0BD-AA013E9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5AA29-3DDF-4368-A26F-ED8C42B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76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A557F-3053-41B7-BC61-202AAB5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527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Người quản lý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2661F-4600-47E8-8898-7E77B321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4300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9C1C5-2355-4ACC-8A71-6763F9F6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17157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M1 · Thêm / cập nhật hồ sơ</a:t>
            </a:r>
          </a:p>
        </p:txBody>
      </p:sp>
      <p:cxnSp>
        <p:nvCxnSpPr>
          <p:cNvPr id="10" name=""/>
          <p:cNvCxnSpPr>
            <a:stCxn xmlns:a="http://schemas.openxmlformats.org/drawingml/2006/main" id="4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81075" y="1400175"/>
            <a:ext cx="11144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571D0-64C2-48D8-8038-AEA49F3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52625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242A3-41FC-4263-A809-B2AA466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812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M2 · Xem, sửa, xóa, phân trang</a:t>
            </a:r>
          </a:p>
        </p:txBody>
      </p:sp>
      <p:cxnSp>
        <p:nvCxnSpPr>
          <p:cNvPr id="13" name=""/>
          <p:cNvCxnSpPr>
            <a:stCxn xmlns:a="http://schemas.openxmlformats.org/drawingml/2006/main" id="4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" y="1876425"/>
            <a:ext cx="111442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21F7D-FD03-42B4-9E18-7F79EC7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4CAC-3521-4FBB-B22D-305101C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9082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M3 · Chọn thuật toán và sắp xếp</a:t>
            </a:r>
          </a:p>
        </p:txBody>
      </p:sp>
      <p:cxnSp>
        <p:nvCxnSpPr>
          <p:cNvPr id="16" name=""/>
          <p:cNvCxnSpPr>
            <a:stCxn xmlns:a="http://schemas.openxmlformats.org/drawingml/2006/main" id="4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1075" y="1876425"/>
            <a:ext cx="11144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ACA70-34C7-47E2-B74E-4479152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4300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BA7CE-C0B6-4713-9C3C-BAE88B5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7157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M4 · Tìm tuần tự / nhị phân</a:t>
            </a:r>
          </a:p>
        </p:txBody>
      </p:sp>
      <p:cxnSp>
        <p:nvCxnSpPr>
          <p:cNvPr id="19" name=""/>
          <p:cNvCxnSpPr>
            <a:stCxn xmlns:a="http://schemas.openxmlformats.org/drawingml/2006/main" id="4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81075" y="1400175"/>
            <a:ext cx="44481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E5934-F925-4081-8A49-9CBFAE68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1183E-3421-43A9-AB1E-27C5436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812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M5 · Thống kê theo tiêu chí</a:t>
            </a:r>
          </a:p>
        </p:txBody>
      </p:sp>
      <p:cxnSp>
        <p:nvCxnSpPr>
          <p:cNvPr id="22" name=""/>
          <p:cNvCxnSpPr>
            <a:stCxn xmlns:a="http://schemas.openxmlformats.org/drawingml/2006/main" id="4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1075" y="1876425"/>
            <a:ext cx="444817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2AD1E-E68E-4A7B-93CB-669D7234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0D4BA-8A3D-474A-A4B1-2D46A9F7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9082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Sao lưu · khôi phục · xuất CSV</a:t>
            </a:r>
          </a:p>
        </p:txBody>
      </p:sp>
      <p:cxnSp>
        <p:nvCxnSpPr>
          <p:cNvPr id="25" name=""/>
          <p:cNvCxnSpPr>
            <a:stCxn xmlns:a="http://schemas.openxmlformats.org/drawingml/2006/main" id="4" idx="6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81075" y="1876425"/>
            <a:ext cx="44481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A5646-73B8-4E98-8DDC-7E632BBF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Một tác nhân duy nhất thao tác qua menu M1–M6; dữ liệu nghiệp vụ dùng chung trong MainForm.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CẤU TRÚC DỮ LIỆU &amp; KIẾN TRÚC CHƯƠNG TRÌNH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45713F-76EF-4F2C-BD8A-F43381D6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02336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5A3DE8-4F0B-4EC9-9EF9-D531560C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749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Luồng dữ liệu chính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04EF1F2-CBB1-423B-89B9-87B2B17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E2761">
              <a:alpha val="12000"/>
            </a:srgbClr>
          </a:solidFill>
          <a:ln xmlns:a="http://schemas.openxmlformats.org/drawingml/2006/main"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55ABFC-23A9-4B86-831C-AF0F53D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D46847-99F4-4851-A7C3-C744CB6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37944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FF752F-606D-4CF6-B0C8-132D2DA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28090">
              <a:alpha val="12000"/>
            </a:srgbClr>
          </a:solidFill>
          <a:ln xmlns:a="http://schemas.openxmlformats.org/drawingml/2006/main"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F219F0-00B0-4089-8FC3-BB6745B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ThuDocDuLieu() + kiểm tra danh sách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99D112-C2C6-464B-ACE5-6446304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22576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6AFB2A-9A81-4F09-9AA5-C44D06B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78024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8B5CF6">
              <a:alpha val="12000"/>
            </a:srgbClr>
          </a:solidFill>
          <a:ln xmlns:a="http://schemas.openxmlformats.org/drawingml/2006/main"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600411-E5A6-4048-B92E-9D0E571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List&lt;ThietBi&gt;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273FB8B-0BB5-4243-A0A4-10AA8F3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7208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980DD44-F5B9-4623-8064-CACB85E3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62656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28090">
              <a:alpha val="12000"/>
            </a:srgbClr>
          </a:solidFill>
          <a:ln xmlns:a="http://schemas.openxmlformats.org/drawingml/2006/main"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4C0F27D-67E6-4D65-8265-2B1A710E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656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M1 / M2 / M3 / M4 / M5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F0A5B8A-F9A3-4C13-8CFF-8680ABC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1840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016C9EA-D7CE-434A-93F7-343A360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47288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7706">
              <a:alpha val="12000"/>
            </a:srgbClr>
          </a:solidFill>
          <a:ln xmlns:a="http://schemas.openxmlformats.org/drawingml/2006/main"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C302323-376F-478C-80E1-A53AF52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7288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LuuDuLieu()  →  data.json.tmp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8771B02-83A8-4AAA-9AB7-EFB3B87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6472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60BABD6-4D50-488A-9269-8C10718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E2761">
              <a:alpha val="12000"/>
            </a:srgbClr>
          </a:solidFill>
          <a:ln xmlns:a="http://schemas.openxmlformats.org/drawingml/2006/main"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058F9E1-1595-406D-B88E-4D52734D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  (ghi nguyên tử)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5FCF808-2A2A-4294-A2DA-DC682D00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960120"/>
            <a:ext cx="416052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F44BACA-3F78-402C-8690-7D8DA9F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51560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Tổ chức mã nguồn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39A23D7-0399-48A9-924F-E828BE6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81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MainForm.cs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99BA15B-BE04-4ACE-9D15-DBAF5E7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81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Điều hướng, đọc/ghi JSON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40BD289-1CB8-4077-A801-45C4717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653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5290BAB-5B12-4E15-AE80-10DCEFA7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38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Models/ThietBi.cs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FCC4230-726F-4BF4-A136-DFCA135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38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9 thuộc tính đối tượng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C8D8878-D734-45E1-A23E-AD58436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225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1480774-3972-4F9C-B8D7-9980DD5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957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UcThemMoi.cs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B31F40B-6096-4554-8C57-403B43F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3957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Thêm, sửa, validation, hoàn tác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1A12642-FFB0-4795-AD7E-48CE462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97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DE963C8-8CF3-4427-BB9F-55211D8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529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UcDanhSach.cs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B6722C4-ABB3-4904-95BD-C69203FD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529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Danh sách, phân trang, CSV, backup JSON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23E6C23-4EF9-4762-A4F5-E22E391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369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257D21A-3F2E-409C-BA01-AB8017D1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101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UcSapXep.cs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85ED06D-B0A2-4F17-9EBE-8A5312A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101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5 thuật toán, 8 khóa sắp xếp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70FA3B7-67EF-4DAB-ACFA-E0BED6A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941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E1E0BBF-8909-4BFA-8C9F-1260412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67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UcTimKiem.cs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9770A00-CE85-4504-A445-40A9D62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67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Chuẩn hóa, tuần tự, nhị phân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DC202C6-52C6-4457-8801-691033DD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513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B17342B-5108-4187-AFD8-CA6414E3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224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UcThongKe.cs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117E563-7132-4361-969E-9B43047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24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Đếm, cộng tổng, gom nhóm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SƠ ĐỒ TỔNG QUAN KIẾN TRÚC HỆ THỐNG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D950B-F42E-4073-AF98-9687CC7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76926-4351-4088-8DCD-21B55E7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LỚP GIAO DIỆN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 + 5 UserControl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A6648-DB3D-4A9E-8149-5C288CD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DE2F7-9653-47C9-A027-9211C9A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TRẠNG THÁI DÙNG CHUNG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DanhSach · KhoaDaSapXep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KetQuaTimKiemM4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64699-39A9-4D0F-A98C-366A393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A4954-2CD0-4C6A-84C9-2FFF2EB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LƯU TRỮ JSON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 · file .tmp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Backup/*.json</a:t>
            </a:r>
          </a:p>
        </p:txBody>
      </p:sp>
      <p:cxnSp>
        <p:nvCxnSpPr>
          <p:cNvPr id="1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16097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19750" y="16097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98828-C140-4E67-9433-113234E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84CB1-6E76-4EC2-9A6C-B23F30B9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M1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CRUD + rollback</a:t>
            </a:r>
          </a:p>
        </p:txBody>
      </p:sp>
      <p:cxnSp>
        <p:nvCxnSpPr>
          <p:cNvPr id="14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262063" y="2028825"/>
            <a:ext cx="330993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8CC22-2180-4E84-9E90-E315B52B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5DA7D-D202-4BC1-A020-32E843F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M2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 sách + CSV</a:t>
            </a:r>
          </a:p>
        </p:txBody>
      </p:sp>
      <p:cxnSp>
        <p:nvCxnSpPr>
          <p:cNvPr id="17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928938" y="2028825"/>
            <a:ext cx="164306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C6A06-D266-45D5-AA02-7EB90FF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52661-81D0-42DF-A8FA-0DC7B22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M3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thuật toán sort</a:t>
            </a:r>
          </a:p>
        </p:txBody>
      </p:sp>
      <p:cxnSp>
        <p:nvCxnSpPr>
          <p:cNvPr id="20" name=""/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72000" y="2028825"/>
            <a:ext cx="2381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F81EC-5FD9-45BC-B60F-827FF627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52060-87EC-4AD9-9493-ECF49CF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M4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Search + suffix</a:t>
            </a:r>
          </a:p>
        </p:txBody>
      </p: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72000" y="2028825"/>
            <a:ext cx="1690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1736A-A919-49C7-AD34-DD3C3A79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C9CA5-D1AE-42DF-B25F-CB4092E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M5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HashSet + Dictionary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572000" y="2028825"/>
            <a:ext cx="335756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2C1A1-0D57-46AE-9ED3-62EC80E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MainForm vừa điều hướng giao diện, vừa quản lý trạng thái và chịu trách nhiệm đọc/ghi dữ liệu.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NGHIỆP VỤ M1 · THÊM MỚI / CẬP NHẬT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0C3FB-987E-47B8-A4EF-5355EBE6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78C8D-7B70-4ED6-B23A-DA42B5DE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859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Nhập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D7FBA-D663-4722-814C-7456837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57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5F9EB-86D9-4693-ACE5-E168AC0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859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KiemTraDuLieu()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1392-7E5C-4C4D-BED4-006B286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57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FBA48-43A1-41DF-82AA-9C2B5A6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859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Kiểm tra trùng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mã + số hiệu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8B86D-18A8-48AE-B468-C2A7902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57375"/>
            <a:ext cx="133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18FAF-1455-4905-BE36-FF92B52B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859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Thêm hoặc sửa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đối tượng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214AA-B192-4497-9F19-82D131F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3CA7C-56F2-474E-A917-F14069D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85950"/>
            <a:ext cx="1114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LuuDuLieu()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621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7187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816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61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09705-4C2E-4464-A57A-EDBF84E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714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CF1A7-96D1-4373-9F52-0D8D523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71825"/>
            <a:ext cx="2638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Lưu thất bại → rollback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• thêm mới: Remove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• cập nhật: phục hồi bản sao</a:t>
            </a:r>
          </a:p>
        </p:txBody>
      </p:sp>
      <p:cxnSp>
        <p:nvCxnSpPr>
          <p:cNvPr id="20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786563" y="2409825"/>
            <a:ext cx="128587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A7B95-4B93-4801-9C0B-EA5AF2CA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Validation nhập liệu: trường bắt buộc · mã TTBxxx · số lượng &gt; 0 · cấp 1–5 · ngày không vượt hiện tại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A1BCD-7B28-417D-B063-EDD7E09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Dữ liệu chỉ được đưa vào danh sách sau khi hợp lệ; mọi thay đổi đều có cơ chế hoàn tác.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NGHIỆP VỤ M2 · DANH SÁCH VÀ BẢO VỆ DỮ LIỆU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061BF-756F-48F0-9C3D-8B633E08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FB7C0-326C-463F-A0C2-E53918AE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81200"/>
            <a:ext cx="2114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 sách hiển thị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20 bản ghi / trang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797E-9C1E-4083-8B0D-6CE9C8F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C5C43-D78C-47FA-8C1C-B209B2D2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Sửa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mở M1 với tham chiếu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0A852-88E6-4FAF-B21A-26B809C3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9E71C-7723-4495-B5EA-7B86EEEE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Xóa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lưu vị trí cũ để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C1CE0-EBF7-41D5-8D63-CD493F0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953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4E2F9-3F94-471B-BE7E-5E8AADEC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23950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Xuất CSV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UTF-8 BOM + escape 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B18A4-C31D-4149-85A6-BE8231D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68C72-B8C0-43AE-B59A-D0AFE0A1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Backup / Restore JSON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validate trước khi ghi đè</a:t>
            </a:r>
          </a:p>
        </p:txBody>
      </p:sp>
      <p:cxnSp>
        <p:nvCxnSpPr>
          <p:cNvPr id="14" name=""/>
          <p:cNvCxnSpPr>
            <a:stCxn xmlns:a="http://schemas.openxmlformats.org/drawingml/2006/main" id="4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2667000" y="1404938"/>
            <a:ext cx="8096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4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2667000" y="2309813"/>
            <a:ext cx="809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667375" y="1404938"/>
            <a:ext cx="8096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2309813"/>
            <a:ext cx="809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EB260-FC57-4BD9-83B0-7E25A4B7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Nguồn hiển thị = KetQuaTimKiemM4 ?? DanhSach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C2C2E-85E7-43CA-9F13-64B4711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M2 là điểm tổng hợp kết quả tìm kiếm, thao tác hồ sơ và trao đổi dữ liệu với file ngoài.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4A57D9-1510-4DC9-832B-46504796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THUẬT TOÁN SẮP XẾP &amp; TÌM KIẾM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17146C-BDDB-4F9C-B96C-8F711CBD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82C17E-03F9-4AF5-9AC7-0C5631D9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FAC890-55FF-4D09-8F62-1330CD65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Sắp xếp (M3)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F42FC4-DE5D-445C-A894-CBA48D90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B8B3BA-3C39-4415-8D70-8311386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Selection Sort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14563A-2458-4413-BDBC-E33A706A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499616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961E24-1124-4FDF-9C6A-60E1784C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37360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Chọn phần tử nhỏ nhất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AC50CD0-146F-47DA-8D7D-178AF68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3BF8F22-DE07-4D86-ACFD-D419416D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2140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Insertion Sort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D5201E8-07A4-4D46-825C-0CE36BFD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21408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7C5DAF-7466-4A58-AAA8-8CA0E10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59152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Chèn vào đúng vị trí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0A793C-8F3C-46C2-AFBB-F183C84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568A2D-6E32-4CFA-87B6-AB198CC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43200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Bubble Sort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D5BFC6-2484-492C-A54E-8130F01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743200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4271F43-5B2F-450A-BF6B-1FF564E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80944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Đổi chỗ cặp sai, dừng sớm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440FDA7-8D94-40D1-B18D-23B785E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28416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28090">
              <a:alpha val="9000"/>
            </a:srgbClr>
          </a:solidFill>
          <a:ln xmlns:a="http://schemas.openxmlformats.org/drawingml/2006/main"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760123-A3EF-4645-B62D-F1C9E3F1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64992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Sort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5FB4F05-0EBC-4A73-9610-ABE585A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64992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O(n log n)*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BC09461-C638-410B-89EC-DC814CB5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02736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Phân hoạch đệ quy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9227737-9E52-4550-8514-E36EA8C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50208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28090">
              <a:alpha val="9000"/>
            </a:srgbClr>
          </a:solidFill>
          <a:ln xmlns:a="http://schemas.openxmlformats.org/drawingml/2006/main"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BAFC56A-A8D5-48E0-AB32-8D45E56F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8678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Merge Sort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720658E-9F31-4ECB-817A-7AD5A88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86784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1C85E40-B1E7-4532-A5A6-8E934E05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224528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Chia đôi và trộn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AD3263D-002F-4539-BFFD-27C63A72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8B7C092-80B0-49F8-89B1-BCBCDE60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Tìm kiếm (M4)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6177F45-AD72-4D71-9C0C-7C4445F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44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3720396-D709-4160-BE50-1158409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444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tuần tự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5142086-0669-4749-876B-623F5480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737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Duyệt toàn bộ danh sách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Hỗ trợ nhiều từ khóa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Không cần sắp xếp trước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8A5D441-8095-418F-9585-C67B944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87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215EA66-3788-4972-AA7E-E7C68B64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587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Tìm nhị phân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A91BDC8-D467-4ACD-BBAB-2211018E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880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Yêu cầu đã sắp xếp đúng khóa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vị trí đầu + duyệt sang phải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Dùng cho số, ngày, cấp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0568157-4FFB-4C75-A9BB-6D6F9DF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0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12700">
            <a:solidFill>
              <a:srgbClr val="8B5CF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865D7C-046A-486E-B4B3-E7107B5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730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Chỉ mục hậu tố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446720-9261-46AC-B3E4-30225E48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023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Tạo tất cả hậu tố chuỗi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một phần chuỗi không dấu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"sung ak47" → chứa "sung"</a:t>
            </a:r>
          </a:p>
        </p:txBody>
      </p:sp>
    </p:spTree>
    <p:extLst>
      <p:ext uri="{BB962C8B-B14F-4D97-AF65-F5344CB8AC3E}">
        <p14:creationId xmlns:p14="http://schemas.microsoft.com/office/powerpoint/2010/main" val="1284865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THUẬT TOÁN M3 · SẮP XẾP VÀ HOÀN TÁC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D5BAA-651F-4FA9-ACDD-E24BA8C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33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3328F-6B0E-4D8E-828E-3E1AF1F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7ACEA-42CE-4FCC-AEA0-9028A62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6687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51E0A-D83B-47D3-A30C-FD5BDDC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695450"/>
            <a:ext cx="1304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khóa + chiều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A955F-842D-4D5B-AB1B-827026F8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66875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B8CE-C9DE-48DA-83DD-BB97324D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95450"/>
            <a:ext cx="1495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TaoHamSoSanh()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Comparison&lt;ThietBi&gt;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27655-4400-4A5F-9F2C-DDB9228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66875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76A68-97F3-4395-9FC7-13CDE0B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695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SapXep&lt;T&gt;()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in-place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DEE19-F7AF-4890-853B-1FBE980A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128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66EF9-16BD-43C5-9A5B-CC82C70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95450"/>
            <a:ext cx="1209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LuuDuLieu()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097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292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00875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7A6B3-37D2-43B8-9657-E030A91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9DEBD-14DE-43B8-AB08-0A969E2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76575"/>
            <a:ext cx="249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Thành công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KhoaDaSapXep = khóa đã chọn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cho phép M4 tìm nhị phân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E9033-9E40-4172-942A-21EB7F6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4800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ACEF5-0537-4507-A389-A8D67138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76575"/>
            <a:ext cx="249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Thất bại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Clear + AddRange(thuTuCu)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phục hồi thứ tự trước sắp xếp</a:t>
            </a:r>
          </a:p>
        </p:txBody>
      </p:sp>
      <p:cxnSp>
        <p:nvCxnSpPr>
          <p:cNvPr id="22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2857500" y="2219325"/>
            <a:ext cx="5119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286500" y="2219325"/>
            <a:ext cx="1690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10E61-D07A-4501-AE22-EAEE0243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Delegate Comparison&lt;T&gt; tách thuật toán khỏi khóa dữ liệu, giúp 5 thuật toán dùng chung một cơ chế so sánh.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 SÁNH 5 THUẬT TOÁN SẮP XẾP TRONG MÃ NGUỒN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1E781-7FC6-457D-B7FF-FEEBC6D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Thuật toán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9606-7789-470C-A622-4819F20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95375"/>
            <a:ext cx="1666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 nhất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9484D-7951-4BED-AE76-2911F5D0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095375"/>
            <a:ext cx="1666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Trung bình / xấu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08800-26AB-416F-B5C2-61E84681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95375"/>
            <a:ext cx="1571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Bộ nhớ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674BD-7DC6-4AFE-8364-839E026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095375"/>
            <a:ext cx="1400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Đặc điểm cài đặt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97770-138E-4C68-A1D7-2251207D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Selection Sort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B5F6D-D0AB-42BF-B317-F1AF10D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335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3332B-A00B-47FB-A836-1EC7FF5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335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24982-46DB-4942-BF51-978CDE62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35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FD19D-5966-4799-A8C3-CECEE5A3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335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Ít hoán đổi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003A-C764-4C1B-8F83-240AC52F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Insertion 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995C3-4CCC-4326-BFF2-A5AE41B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240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55F7B-FC08-4BD4-B18C-8EFD3E1F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240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622D4-4EA9-4550-BF9A-D0E24C9E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677B6-8BCB-4AC9-B82F-93B52E7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2407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Tốt khi gần có thứ tự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FF3A5-BF20-419A-AAF2-28567AE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Bubble Sort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A61B-60A0-4560-B606-4B78D090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C4892-6A2A-40BA-B81D-C2CEAEC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146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8279C-22A0-4AA4-8F90-595D1A0A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E885E-A50B-473B-B012-7540DA4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Dừng sớm bằng cờ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9D505-C92B-4C48-912E-6E35CB2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Sort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6E3D8-02E8-4B00-8EAA-FB15C75E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051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079E6-13E7-489A-A926-9222042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051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 / O(n²)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29307-15A6-48E3-9548-9CB191AD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051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O(log n)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555F5-335F-4FE8-A57B-84AE881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0517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Pivot giữa, Hoare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913D6-6C16-4714-8EB7-74B8872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Merge Sort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C1D8F-9FD0-4E52-ACA3-4295D159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957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12A95-4EF0-4122-9B34-E387C3F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957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98F58-65DF-4DC8-9BC6-44CDD1A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B7F84A-DED5-4F03-94F3-85D4359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957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Ổn định, cần mảng tạm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06429-F334-4FEF-8DE8-B3F3E3B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Quick Sort và Merge Sort phù hợp dữ liệu lớn hơn; ba thuật toán O(n²) phục vụ yêu cầu học thuật và đối chiếu.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QUYẾT ĐỊNH M4 · TÌM KIẾM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437C8-6BA4-4C23-91B7-E0D7C45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80BD7-EC33-481D-AFBC-EA55CCC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28825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Nhập từ khóa + khóa tìm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306A7-BE78-44E8-9BBC-4E8EB0A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3C171-92B5-4F3B-A8E4-C3253392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28825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thuật toán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C61FB-E659-4D2F-AE5D-89D7E2B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0012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9C958-2F7C-4BC5-8C0B-6161898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02870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TUẦN TỰ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Không cần sắp xếp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Chuẩn hóa và duyệt toàn danh sách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3833D-1EA0-4545-B72C-FF58EFD6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BE91-9F19-45CB-B062-E3E87A58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90825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KhoaDaSapXep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có trùng khóa tìm?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6B036-D219-4FDE-AE98-A91F711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1428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33811-5306-45C4-8B9F-22466CCF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352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NHỊ PHÂN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Chuỗi → suffix index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Số/ngày → chính xác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2295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000500" y="1476375"/>
            <a:ext cx="904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500" y="2295525"/>
            <a:ext cx="904875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5CF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905625" y="2976563"/>
            <a:ext cx="428625" cy="1666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71C48-B624-49BD-AB9D-3841058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5D5E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05D5E"/>
                </a:solidFill>
                <a:latin typeface="Calibri"/>
                <a:ea typeface="Calibri"/>
                <a:cs typeface="Calibri"/>
              </a:rPr>
              <a:t>Nếu không trùng khóa → cảnh báo và dừng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A0ABB-2129-4922-A3E0-041FF72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Kết quả được lưu vào MainForm.KetQuaTimKiemM4 để M2 hiển thị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TÌM MỘT PHẦN CHUỖI BẰNG CHỈ MỤC HẬU TỐ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BD97C-CCAF-4DFC-B7DC-FF40BE88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Ví dụ giá trị đã chuẩn hóa:  “sung ak47”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A8D66-E2AE-418D-90CA-EF65E7B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5F513-2C66-441D-BC5F-53C6C758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sung ak47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9C8A2-6202-412C-980F-2444BDC1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BF6E-0481-46ED-8C74-014AD10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ung ak47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6F5C0-2575-416B-BBB8-453D167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77E4F-8F75-4604-9DA2-953F9BA7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ng ak47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8C617-1E67-44B5-B77C-B86124B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46F36-A25A-41D0-9CF2-11249B9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 ak47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8B193-2127-4E16-ACA8-8CCE4597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2634C-5418-4A22-B4FF-1B78764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ak47 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E242F-28D8-418C-8DB9-7C14016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25D4C-66ED-47E4-9528-77C34E8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43075"/>
            <a:ext cx="2019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Tạo mọi hậu tố</a:t>
            </a:r>
          </a:p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Gắn chỉ số bản ghi</a:t>
            </a:r>
          </a:p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Sắp xếp theo Ordinal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AAC87-556C-49BC-B190-A6A97CC5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333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E38E7-6B2B-4D81-B7E2-01781A2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9700"/>
            <a:ext cx="22574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Binary lower_bound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hậu tố đầu tiên ≥ “sung”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363CE-FAF6-43C1-ACEA-A9051493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333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0752A-175B-4673-9E7E-6AC7ACD6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574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Duyệt các hậu tố StartsWith(“sung”)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HashSet chỉ số thiết bị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5C1B2-ABDA-47EF-AA76-2B66A87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333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8C92C-1A61-411A-844C-E4E0CE7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257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Nhiều từ khóa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IntersectWith() các tập kết quả</a:t>
            </a:r>
          </a:p>
        </p:txBody>
      </p:sp>
      <p:cxnSp>
        <p:nvCxnSpPr>
          <p:cNvPr id="2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1738313"/>
            <a:ext cx="8572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58063" y="2095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358063" y="3238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5CF6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FDC0E-80FC-4C6C-8E78-9C32C60A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Cơ chế này biến bài toán chứa chuỗi thành tìm tiền tố trên tập hậu tố đã sắp xếp.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25CD70-C86C-4026-AEE2-7455190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THỐNG KÊ, XUẤT DỮ LIỆU &amp; BẢO VỆ DỮ LIỆU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234DBD7-9645-4A3C-B573-36516112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3CE881-F301-457A-970A-41347968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0C631C-A029-4323-B77A-7080C31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234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0DD03E-974E-44E5-B423-AE2DCFCE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Hồ sơ thiết bị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ADF926D-4E1F-4E2A-BB22-AD376C72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D9ECE8-1AA5-459A-B7A4-DC21B071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41.449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B4EBC2-DB79-4B84-8BAB-64BFBA4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Tổng số lượng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A14C3F-B70F-494C-95BB-ECF9D4A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BA312E7-1F87-4BD9-953A-EB4D810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7C9007C-8D5B-452F-84F7-6BE66E9C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Chủng loại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3C6BF5-F84A-4AA2-9CD8-0B784264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C6C0DB9-F0BD-4584-9D41-B24FCC64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A84AF7-7A50-4BA5-9CFD-298240F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Nguồn cấp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BCDEE7-91ED-4AAC-BFD1-AAB173F2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0EC31E-2AD6-41E3-A8F8-A83D883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D784AB-5E48-40A0-B3A8-A68092A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Thống kê (M5)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3C828D4-6F10-4944-8C08-1B38F16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Gom nhóm theo cấp / chủng loại / nguồn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Dictionary không phân biệt hoa thường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Đếm chủng loại bằng HashSet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997892-F940-4141-92A3-ADC55B41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499700A-F340-45F4-8ED4-643918CA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D47C80-780F-4F1B-9DBD-FC9D2555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Xuất CSV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AD732D-2E78-4369-B0CF-56999904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UTF-8 BOM → Excel hiển thị đúng tiếng Việt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Mọi ô trong dấu ngoặc kép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Nhân đôi dấu ngoặc kép bên trong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AF7C4A7-0F7B-4594-B40D-145A5F5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394F5AC-6E3F-4453-B642-A31464AC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12700">
            <a:solidFill>
              <a:srgbClr val="8B5CF6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5C50904-E8D5-47A6-8C43-4000CE9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/ Restore JSON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59AF43-A5CE-42D9-92A1-F763C426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Sao chép data.json thành file backup JSON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Kiểm tra toàn bộ danh sách trước khi khôi phục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Từ chối bản ghi null, trùng, sai số lượng/ngày</a:t>
            </a:r>
          </a:p>
        </p:txBody>
      </p:sp>
    </p:spTree>
    <p:extLst>
      <p:ext uri="{BB962C8B-B14F-4D97-AF65-F5344CB8AC3E}">
        <p14:creationId xmlns:p14="http://schemas.microsoft.com/office/powerpoint/2010/main" val="458382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B8007C-ED72-42C2-8753-C1886AC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VALIDATION DÙNG CHUNG KHI ĐỌC VÀ KHÔI PHỤC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C4F8D1-739C-4C42-98B9-1B8ACD6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57E3-9936-4A79-88AA-00869D0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2A99-94F3-4A45-AED0-7F0C00B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66825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Khởi động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ThuDocDuLieu()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BD2F5-26F7-4509-85A7-E69E22B0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3B767-0754-46BE-A827-703FF34A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71825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Khôi phục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file backup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6D1B1-A100-47FB-BFD4-277407EF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2CF06-22AB-43F7-B083-B8AB46B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MainForm.KiemTraDuLieuDanhSach()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IReadOnlyList&lt;ThietBi?&gt;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2E920-3B0F-4A1C-B9EE-4088539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2143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A5AF5-1AA6-40C4-B8E7-1A01FCE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09700"/>
            <a:ext cx="20669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Bản ghi null / trường rỗng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Mã TTBxxx và không trùng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Số hiệu không trùng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Số lượng &gt; 0, cấp 1–5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Ngày hợp lệ và không vượt hiện tại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48CA2-F24F-4C1C-AF72-5624ACE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2143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8B375-D7CF-44F2-B830-5E511E4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05200"/>
            <a:ext cx="2066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Dữ liệu lỗi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từ chối nạp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khóa chức năng lưu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153352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428875" y="248602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905500" y="2262188"/>
            <a:ext cx="619125" cy="22383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596188" y="3143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35F66-3291-40A5-B080-EBFD831A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Danh sách khởi động có thể rỗng; backup khôi phục phải chứa ít nhất một bản ghi.</a:t>
            </a:r>
          </a:p>
        </p:txBody>
      </p:sp>
    </p:spTree>
    <p:extLst>
      <p:ext uri="{BB962C8B-B14F-4D97-AF65-F5344CB8AC3E}">
        <p14:creationId xmlns:p14="http://schemas.microsoft.com/office/powerpoint/2010/main" val="1471078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ECB899-2996-4B2E-845C-6160208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ƯU ĐIỂM NỔI BẬT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009FA0-BDED-4498-9454-F4403BC5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787E932-DD18-4557-B857-FCCCAEEA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7C3BE81-F32D-4CA6-8751-BF58E6DB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AF1A72-C923-4001-9281-5D586A71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1F050C-8FD3-437F-A8D3-5097981B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05156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Cài đặt thủ công 5 thuật toán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B8F4A0-D4EF-4554-B53B-92042DE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Selection, Insertion, Bubble, Quick Sort, Merge Sort — dùng Comparison&lt;T&gt; generic, có thể sắp theo mọi khóa.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FFD35D-614B-4058-A32D-55D278E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5FB3CF2-812F-4767-8BE3-49F95CFF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A3202A-037A-4713-A0D4-4CA70114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1A15C2-02C6-4944-87E3-B7155120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5156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kiếm linh hoạt không dấu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ECE6F2B-8A7A-4492-9DBD-EAB0DCB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Một phần chuỗi, nhiều từ, không phân biệt dấu/hoa thường. Hỗ trợ cả chỉ mục hậu tố cho chuỗi tiếng Việt.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5177317-7172-4244-8A32-D288DDD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76A0834-641E-4C94-9CB5-81847CE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0FFB36-9663-4699-B524-DED1440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BFD8F7-866A-4E6B-AF39-40C4475A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7744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Bảo toàn dữ liệu vững chắc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B4F286-2EA2-4C3F-A1CF-12B33846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Ghi qua file tạm .tmp; hoàn tác trong bộ nhớ khi lưu thất bại; khóa ghi nếu JSON lỗi khi khởi động.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C1B005E-44B2-47AF-803B-B26254C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08CEC4-5C6B-4C93-B392-1B036BC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9E11E9-F161-449E-9B73-355C3C91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BB99A29-DF0B-4289-B791-EF76198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Validation đầy đủ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BE68095-339E-44E0-BEE9-E6F6C7B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Chống trùng mã TTB, số hiệu; kiểm tra ngày, số lượng, cấp; kiểm tra backup trước khi khôi phục.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C4AD299-FF9C-432E-8613-C126C7B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1D1B9EA-9082-4D47-9C12-87EA6B8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CCACCD0-4BF2-4220-A67D-D7B2CE84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EE1ECCE-599A-4A54-904E-02A5D7F7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Trao đổi dữ liệu với Excel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F9BD83-D9A4-4D35-9D43-BE68F25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Xuất CSV UTF-8 BOM, đúng tiếng Việt. Backup/Restore JSON có kiểm tra nghiệp vụ toàn diện.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2EE71C9-4D87-4D4C-B2B6-5750E08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5212499-3D22-47A8-8F74-1F9310F4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D63B4A0-455D-4FA5-BD04-91A4BB29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BA728A9-A0B1-48C3-BE8C-0CB0B7EC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70332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Giao diện rõ ràng, module hóa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75694E7-6545-458F-9F2F-C816746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M1–M5 tách biệt thành UserControl; MainForm điều hướng, giữ trạng thái và kiểm tra dữ liệu chung.</a:t>
            </a:r>
          </a:p>
        </p:txBody>
      </p:sp>
    </p:spTree>
    <p:extLst>
      <p:ext uri="{BB962C8B-B14F-4D97-AF65-F5344CB8AC3E}">
        <p14:creationId xmlns:p14="http://schemas.microsoft.com/office/powerpoint/2010/main" val="2341354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DD35C85-2046-48CA-96CE-2F85FFB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HẠN CHẾ &amp; HƯỚNG PHÁT TRIỂN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ABDB13-A67E-4332-A48A-90D3105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A8D3C40-1B65-45EA-B3D9-B042FB6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06908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423DDC-700A-41AD-8CC2-7BA969E0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749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Hạn chế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43DEFB-3BDF-4F01-97BD-C5FC9C7F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37947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Chỉ phục vụ một người dùng, chưa có phân quyền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Dữ liệu JSON chưa phù hợp môi trường nhiều người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Đường dẫn file còn phụ thuộc vị trí máy chạy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Thứ tự M3 chỉ giữ trong phiên (file lưu theo mã TTB)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Chỉ mục hậu tố tạo lại mỗi lần – tốn bộ nhớ khi lớn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Thuật toán O(n²) chậm khi số hồ sơ rất lớn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Thống kê chỉ dạng bảng, chưa có biểu đồ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Chưa có bộ unit test tự động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2877597-203A-4E90-AEB2-E5E79E03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9109B8-7D9A-4E01-91BA-3498DCC6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Hướng phát triển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786A2BA-4FE0-4FBD-BB22-D95667F3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C39A"/>
          </a:solidFill>
          <a:ln xmlns:a="http://schemas.openxmlformats.org/drawingml/2006/main" w="12700">
            <a:solidFill>
              <a:srgbClr val="02C39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9EDD6F-1267-4A44-979E-5E5BA2B3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Ngắn hạn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D16F93D-1C50-4616-B579-B357111E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479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Đường dẫn dữ liệu tương đối thay cho đường dẫn cố định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Ghi khôi phục qua file tạm để tăng tính nguyên tử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Sự kiện cập nhật trạng thái M4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BC1D8C-CD4C-467D-B302-BF473B5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F0BBC63-BBDD-4005-9A0E-E2208580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Trung hạn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339E737-1F12-410A-8F4D-FCE5040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1635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Tách tầng lưu trữ / nghiệp vụ / UI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Unit test: sắp xếp, tìm kiếm, validation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Biểu đồ thống kê trực quan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0DE1C9A-F94D-478C-BAB4-01518FB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D414B5-B4F3-4029-83E7-638DB87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Dài hạn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271841-28A7-4FB8-99C0-B2E2616E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91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SQLite / SQL Server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Tài khoản, phân quyền, lịch sử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Kiểm kê, điều chuyển, khấu hao</a:t>
            </a:r>
          </a:p>
        </p:txBody>
      </p:sp>
    </p:spTree>
    <p:extLst>
      <p:ext uri="{BB962C8B-B14F-4D97-AF65-F5344CB8AC3E}">
        <p14:creationId xmlns:p14="http://schemas.microsoft.com/office/powerpoint/2010/main" val="65149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F569E7-7E15-4C98-80D1-E90D6AB1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4720"/>
            <a:ext cx="9144000" cy="1668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47">
              <a:alpha val="50000"/>
            </a:srgbClr>
          </a:solidFill>
          <a:ln xmlns:a="http://schemas.openxmlformats.org/drawingml/2006/main"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46151D-9099-4D2A-803B-68C6402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6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5D8194-830E-4F65-8F80-44C8423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Sản phẩm hoàn thành, kiến thức được vận dụng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B745D18-5CBE-4061-B8DC-0DA261D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7BCDAA-CC36-4049-938F-23E24FB9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DF3EB3-3FC2-4BB0-8322-BF03ED6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Chức năng M1–M6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hoàn chỉnh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FB74B2-5CAB-4146-8D51-7444A1A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091205-2015-40E1-BB84-6D919AE5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89ADC2-998F-4618-AB33-DBE53BB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Thuật toán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sắp xếp thủ công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5019E91-79DB-4BCE-83A8-50E7088D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6EEE1FA-9717-4F26-AF77-53E0AE8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F8682AB-8643-4A64-B005-E94557DB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Thuật toán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tìm kiếm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2FCF7-D80F-4894-B372-6A107F91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2F0BAE-5821-48D8-A919-D923425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234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C2DCE04-3879-4A01-BFE4-5057F60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Hồ sơ dữ liệu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mẫu kiểm thử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ED50807-349C-4650-B4C1-DEA9787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8046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i="1">
                <a:solidFill>
                  <a:srgbClr val="8EA6C8"/>
                </a:solidFill>
                <a:latin typeface="Calibri"/>
                <a:ea typeface="Calibri"/>
                <a:cs typeface="Calibri"/>
              </a:rPr>
              <a:t>Dự án vận dụng: cấu trúc dữ liệu · generic &amp; delegate · xử lý chuỗi Unicode · thao tác tệp · tư duy kiểm soát lỗi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7DFF2F-FEAF-4604-8869-B952F498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8046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Cảm ơn thầy và các bạn đã theo dõi!</a:t>
            </a:r>
          </a:p>
        </p:txBody>
      </p:sp>
    </p:spTree>
    <p:extLst>
      <p:ext uri="{BB962C8B-B14F-4D97-AF65-F5344CB8AC3E}">
        <p14:creationId xmlns:p14="http://schemas.microsoft.com/office/powerpoint/2010/main" val="523471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2026-06-12T01:06:52.8680000Z</dcterms:created>
  <dcterms:modified xsi:type="dcterms:W3CDTF">2026-06-12T01:06:52.8680000Z</dcterms:modified>
</coreProperties>
</file>