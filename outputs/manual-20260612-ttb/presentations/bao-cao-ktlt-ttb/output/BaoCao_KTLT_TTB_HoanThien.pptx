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1e1b83e5ea46bf" /><Relationship Type="http://schemas.openxmlformats.org/officeDocument/2006/relationships/extended-properties" Target="/docProps/app.xml" Id="Rc15ffb5b1e2b42dc" /><Relationship Type="http://schemas.openxmlformats.org/officeDocument/2006/relationships/officeDocument" Target="/ppt/presentation.xml" Id="Rc2dd34919cf64c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034aa5225f4d84"/>
  </p:sldMasterIdLst>
  <p:notesMasterIdLst>
    <p:notesMasterId xmlns:r="http://schemas.openxmlformats.org/officeDocument/2006/relationships" r:id="R01f186d123104bdc"/>
  </p:notesMasterIdLst>
  <p:sldIdLst>
    <p:sldId xmlns:r="http://schemas.openxmlformats.org/officeDocument/2006/relationships" id="256" r:id="Rd11c8cf4435a4c93"/>
    <p:sldId xmlns:r="http://schemas.openxmlformats.org/officeDocument/2006/relationships" id="257" r:id="Rff96e205ef684fba"/>
    <p:sldId xmlns:r="http://schemas.openxmlformats.org/officeDocument/2006/relationships" id="258" r:id="Rd8ecb47ea74344e2"/>
    <p:sldId xmlns:r="http://schemas.openxmlformats.org/officeDocument/2006/relationships" id="259" r:id="R7f3f7fc32de144c4"/>
    <p:sldId xmlns:r="http://schemas.openxmlformats.org/officeDocument/2006/relationships" id="260" r:id="R3e15550d2169465c"/>
    <p:sldId xmlns:r="http://schemas.openxmlformats.org/officeDocument/2006/relationships" id="261" r:id="R631ced37afb844ef"/>
    <p:sldId xmlns:r="http://schemas.openxmlformats.org/officeDocument/2006/relationships" id="262" r:id="R491234d0599b48e1"/>
    <p:sldId xmlns:r="http://schemas.openxmlformats.org/officeDocument/2006/relationships" id="263" r:id="R09e652053a4f4c58"/>
    <p:sldId xmlns:r="http://schemas.openxmlformats.org/officeDocument/2006/relationships" id="264" r:id="R3ac43f62809a49db"/>
    <p:sldId xmlns:r="http://schemas.openxmlformats.org/officeDocument/2006/relationships" id="265" r:id="R9fd3499c35cc4f41"/>
    <p:sldId xmlns:r="http://schemas.openxmlformats.org/officeDocument/2006/relationships" id="266" r:id="R3d5fb9e73c274c0d"/>
    <p:sldId xmlns:r="http://schemas.openxmlformats.org/officeDocument/2006/relationships" id="267" r:id="R8285d6030e984583"/>
    <p:sldId xmlns:r="http://schemas.openxmlformats.org/officeDocument/2006/relationships" id="268" r:id="Rf7c767e4ab9a4595"/>
    <p:sldId xmlns:r="http://schemas.openxmlformats.org/officeDocument/2006/relationships" id="269" r:id="R1b78d94a54ea44b0"/>
    <p:sldId xmlns:r="http://schemas.openxmlformats.org/officeDocument/2006/relationships" id="270" r:id="R89125ca7c4e84954"/>
    <p:sldId xmlns:r="http://schemas.openxmlformats.org/officeDocument/2006/relationships" id="271" r:id="R561c1ee6a2e24e37"/>
    <p:sldId xmlns:r="http://schemas.openxmlformats.org/officeDocument/2006/relationships" id="272" r:id="R3b55b7673b82451a"/>
    <p:sldId xmlns:r="http://schemas.openxmlformats.org/officeDocument/2006/relationships" id="273" r:id="Rec96af378c5d4f0a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297796efb64683" /><Relationship Type="http://schemas.openxmlformats.org/officeDocument/2006/relationships/slideMaster" Target="/ppt/slideMasters/slideMaster1.xml" Id="R07034aa5225f4d84" /><Relationship Type="http://schemas.openxmlformats.org/officeDocument/2006/relationships/notesMaster" Target="/ppt/notesMasters/notesMaster1.xml" Id="R01f186d123104bdc" /><Relationship Type="http://schemas.openxmlformats.org/officeDocument/2006/relationships/presProps" Target="/ppt/presProps.xml" Id="R97886ea19a0d4578" /><Relationship Type="http://schemas.openxmlformats.org/officeDocument/2006/relationships/viewProps" Target="/ppt/viewProps.xml" Id="Raae6720e1a4d40a7" /><Relationship Type="http://schemas.openxmlformats.org/officeDocument/2006/relationships/tableStyles" Target="/ppt/tableStyles.xml" Id="Raabc707239b040ed" /><Relationship Type="http://schemas.openxmlformats.org/officeDocument/2006/relationships/slide" Target="/ppt/slides/slide1.xml" Id="Rd11c8cf4435a4c93" /><Relationship Type="http://schemas.openxmlformats.org/officeDocument/2006/relationships/slide" Target="/ppt/slides/slide2.xml" Id="Rff96e205ef684fba" /><Relationship Type="http://schemas.openxmlformats.org/officeDocument/2006/relationships/slide" Target="/ppt/slides/slide3.xml" Id="Rd8ecb47ea74344e2" /><Relationship Type="http://schemas.openxmlformats.org/officeDocument/2006/relationships/slide" Target="/ppt/slides/slide4.xml" Id="R7f3f7fc32de144c4" /><Relationship Type="http://schemas.openxmlformats.org/officeDocument/2006/relationships/slide" Target="/ppt/slides/slide5.xml" Id="R3e15550d2169465c" /><Relationship Type="http://schemas.openxmlformats.org/officeDocument/2006/relationships/slide" Target="/ppt/slides/slide6.xml" Id="R631ced37afb844ef" /><Relationship Type="http://schemas.openxmlformats.org/officeDocument/2006/relationships/slide" Target="/ppt/slides/slide7.xml" Id="R491234d0599b48e1" /><Relationship Type="http://schemas.openxmlformats.org/officeDocument/2006/relationships/slide" Target="/ppt/slides/slide8.xml" Id="R09e652053a4f4c58" /><Relationship Type="http://schemas.openxmlformats.org/officeDocument/2006/relationships/slide" Target="/ppt/slides/slide9.xml" Id="R3ac43f62809a49db" /><Relationship Type="http://schemas.openxmlformats.org/officeDocument/2006/relationships/slide" Target="/ppt/slides/slide10.xml" Id="R9fd3499c35cc4f41" /><Relationship Type="http://schemas.openxmlformats.org/officeDocument/2006/relationships/slide" Target="/ppt/slides/slide11.xml" Id="R3d5fb9e73c274c0d" /><Relationship Type="http://schemas.openxmlformats.org/officeDocument/2006/relationships/slide" Target="/ppt/slides/slide12.xml" Id="R8285d6030e984583" /><Relationship Type="http://schemas.openxmlformats.org/officeDocument/2006/relationships/slide" Target="/ppt/slides/slide13.xml" Id="Rf7c767e4ab9a4595" /><Relationship Type="http://schemas.openxmlformats.org/officeDocument/2006/relationships/slide" Target="/ppt/slides/slide14.xml" Id="R1b78d94a54ea44b0" /><Relationship Type="http://schemas.openxmlformats.org/officeDocument/2006/relationships/slide" Target="/ppt/slides/slide15.xml" Id="R89125ca7c4e84954" /><Relationship Type="http://schemas.openxmlformats.org/officeDocument/2006/relationships/slide" Target="/ppt/slides/slide16.xml" Id="R561c1ee6a2e24e37" /><Relationship Type="http://schemas.openxmlformats.org/officeDocument/2006/relationships/slide" Target="/ppt/slides/slide17.xml" Id="R3b55b7673b82451a" /><Relationship Type="http://schemas.openxmlformats.org/officeDocument/2006/relationships/slide" Target="/ppt/slides/slide18.xml" Id="Rec96af378c5d4f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36804c656b40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87c420b957471d" /><Relationship Type="http://schemas.openxmlformats.org/officeDocument/2006/relationships/notesMaster" Target="/ppt/notesMasters/notesMaster1.xml" Id="R04d2509526d142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6bb83d0f884777" /><Relationship Type="http://schemas.openxmlformats.org/officeDocument/2006/relationships/notesMaster" Target="/ppt/notesMasters/notesMaster1.xml" Id="R9a2e4aded6c643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cd2702b68c4ca7" /><Relationship Type="http://schemas.openxmlformats.org/officeDocument/2006/relationships/notesMaster" Target="/ppt/notesMasters/notesMaster1.xml" Id="Ref10406fbed046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f9152d8da0441d" /><Relationship Type="http://schemas.openxmlformats.org/officeDocument/2006/relationships/notesMaster" Target="/ppt/notesMasters/notesMaster1.xml" Id="R2a0b3803e59544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b0b145ae114d4a" /><Relationship Type="http://schemas.openxmlformats.org/officeDocument/2006/relationships/notesMaster" Target="/ppt/notesMasters/notesMaster1.xml" Id="R7363e2d7a61649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b3c13092d548de" /><Relationship Type="http://schemas.openxmlformats.org/officeDocument/2006/relationships/notesMaster" Target="/ppt/notesMasters/notesMaster1.xml" Id="R64be7c57acdf4f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9208b82d254201" /><Relationship Type="http://schemas.openxmlformats.org/officeDocument/2006/relationships/notesMaster" Target="/ppt/notesMasters/notesMaster1.xml" Id="Rc3493847f00e4d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b07660d3174a66" /><Relationship Type="http://schemas.openxmlformats.org/officeDocument/2006/relationships/notesMaster" Target="/ppt/notesMasters/notesMaster1.xml" Id="R66d48442474b4a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c91f08bd3f4526" /><Relationship Type="http://schemas.openxmlformats.org/officeDocument/2006/relationships/notesMaster" Target="/ppt/notesMasters/notesMaster1.xml" Id="Raaf848c80ae34b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3b70dc1afb4066" /><Relationship Type="http://schemas.openxmlformats.org/officeDocument/2006/relationships/notesMaster" Target="/ppt/notesMasters/notesMaster1.xml" Id="R4a5bf23b071247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bd796cba6742b6" /><Relationship Type="http://schemas.openxmlformats.org/officeDocument/2006/relationships/notesMaster" Target="/ppt/notesMasters/notesMaster1.xml" Id="R69f606423ff84a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757127495a4c8c" /><Relationship Type="http://schemas.openxmlformats.org/officeDocument/2006/relationships/notesMaster" Target="/ppt/notesMasters/notesMaster1.xml" Id="Red55bdc62f3242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7c76647fa64ef5" /><Relationship Type="http://schemas.openxmlformats.org/officeDocument/2006/relationships/notesMaster" Target="/ppt/notesMasters/notesMaster1.xml" Id="R2e69b1d883e34c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084c1bc27142a3" /><Relationship Type="http://schemas.openxmlformats.org/officeDocument/2006/relationships/notesMaster" Target="/ppt/notesMasters/notesMaster1.xml" Id="R286fdd0ea85c4e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8536ccffacb4f5d" /><Relationship Type="http://schemas.openxmlformats.org/officeDocument/2006/relationships/notesMaster" Target="/ppt/notesMasters/notesMaster1.xml" Id="R79262652cc7149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9c55afa76249ac" /><Relationship Type="http://schemas.openxmlformats.org/officeDocument/2006/relationships/notesMaster" Target="/ppt/notesMasters/notesMaster1.xml" Id="R83a51aeec4ea428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9735a45a5f942ec" /><Relationship Type="http://schemas.openxmlformats.org/officeDocument/2006/relationships/notesMaster" Target="/ppt/notesMasters/notesMaster1.xml" Id="Rd48309c61157413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6d6c9979bd24537" /><Relationship Type="http://schemas.openxmlformats.org/officeDocument/2006/relationships/notesMaster" Target="/ppt/notesMasters/notesMaster1.xml" Id="R5c80417c595a44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tổng quan dự án: quản lý trang thiết bị bằng C# WinForms, thực hiện trong 6 tuần.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Trình bày bài toán: 9 thuộc tính đối tượng ThietBi và 6 nhóm chức năng M1–M6 theo yêu cầu học phần.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Trình bày 6 tuần thực hiện theo lộ trình học phần: từ giao diện, dữ liệu, sắp xếp, tìm kiếm, thống kê đến hoàn thiện.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kiến trúc: MainForm điều phối, mỗi UserControl đảm nhiệm một nghiệp vụ. Ghi JSON qua file tạm để bảo toàn 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kiến trúc: MainForm điều phối, mỗi UserControl đảm nhiệm một nghiệp vụ. Ghi JSON qua file tạm để bảo toàn 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kiến trúc: MainForm điều phối, mỗi UserControl đảm nhiệm một nghiệp vụ. Ghi JSON qua file tạm để bảo toàn 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kiến trúc: MainForm điều phối, mỗi UserControl đảm nhiệm một nghiệp vụ. Ghi JSON qua file tạm để bảo toàn 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kiến trúc: MainForm điều phối, mỗi UserControl đảm nhiệm một nghiệp vụ. Ghi JSON qua file tạm để bảo toàn 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5 thuật toán sắp xếp cài đặt thủ công và 3 phương pháp tìm kiếm. Nhấn mạnh Comparison&lt;T&gt; generic cho phép dùng chung 1 hàm cho nhiều khóa.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kiến trúc: MainForm điều phối, mỗi UserControl đảm nhiệm một nghiệp vụ. Ghi JSON qua file tạm để bảo toàn 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kiến trúc: MainForm điều phối, mỗi UserControl đảm nhiệm một nghiệp vụ. Ghi JSON qua file tạm để bảo toàn 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kiến trúc: MainForm điều phối, mỗi UserControl đảm nhiệm một nghiệp vụ. Ghi JSON qua file tạm để bảo toàn 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kiến trúc: MainForm điều phối, mỗi UserControl đảm nhiệm một nghiệp vụ. Ghi JSON qua file tạm để bảo toàn 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Trình bày kết quả dữ liệu mẫu (235 hồ sơ), cách gom nhóm linh hoạt bằng Func&lt;T&gt;, xuất CSV cho Excel và backup ZIP có kiểm tra nghiệp vụ.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kiến trúc: MainForm điều phối, mỗi UserControl đảm nhiệm một nghiệp vụ. Ghi JSON qua file tạm để bảo toàn dữ liệu.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những điểm vượt yêu cầu: generic delegate, cơ chế bảo toàn dữ liệu, chuẩn hóa chuỗi tiếng Việt, backup có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Trình bày thẳng thắn các hạn chế hiện tại và lộ trình 3 giai đoạn phát triển tiếp theo.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luận: nhấn mạnh kết quả học tập và các kiến thức OOP/generic/file/error handling được vận dụng qua dự án.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261ebfb5994d4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16292da6014b5a" /><Relationship Type="http://schemas.openxmlformats.org/officeDocument/2006/relationships/slideLayout" Target="/ppt/slideLayouts/slideLayout1.xml" Id="R821f410f88ea4a1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1f410f88ea4a1b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1838aefce4971" /><Relationship Type="http://schemas.openxmlformats.org/officeDocument/2006/relationships/notesSlide" Target="/ppt/notesSlides/notesSlide1.xml" Id="R66aefe68a30240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7f79774284e5b" /><Relationship Type="http://schemas.openxmlformats.org/officeDocument/2006/relationships/notesSlide" Target="/ppt/notesSlides/notesSlide2.xml" Id="Rd6f6e8dc47ce4c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174920c42466c" /><Relationship Type="http://schemas.openxmlformats.org/officeDocument/2006/relationships/notesSlide" Target="/ppt/notesSlides/notesSlide3.xml" Id="Rb9d7ca2edbf245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12aed0f254a92" /><Relationship Type="http://schemas.openxmlformats.org/officeDocument/2006/relationships/notesSlide" Target="/ppt/notesSlides/notesSlide4.xml" Id="Rba2357029b5f4b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98b1621c84679" /><Relationship Type="http://schemas.openxmlformats.org/officeDocument/2006/relationships/notesSlide" Target="/ppt/notesSlides/notesSlide5.xml" Id="R4c07f98a52f647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82ccb62e6441d" /><Relationship Type="http://schemas.openxmlformats.org/officeDocument/2006/relationships/notesSlide" Target="/ppt/notesSlides/notesSlide6.xml" Id="R562e7b73d9c744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ddde7f4714650" /><Relationship Type="http://schemas.openxmlformats.org/officeDocument/2006/relationships/notesSlide" Target="/ppt/notesSlides/notesSlide7.xml" Id="R5f891fafa35c4f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a1a6809f44729" /><Relationship Type="http://schemas.openxmlformats.org/officeDocument/2006/relationships/notesSlide" Target="/ppt/notesSlides/notesSlide8.xml" Id="R53806b13982349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530feed264b00" /><Relationship Type="http://schemas.openxmlformats.org/officeDocument/2006/relationships/notesSlide" Target="/ppt/notesSlides/notesSlide9.xml" Id="Rc1e53911861a40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06fdd7068472e" /><Relationship Type="http://schemas.openxmlformats.org/officeDocument/2006/relationships/notesSlide" Target="/ppt/notesSlides/notesSlide10.xml" Id="R705d6f2ffaa44a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c5042f5a84a13" /><Relationship Type="http://schemas.openxmlformats.org/officeDocument/2006/relationships/notesSlide" Target="/ppt/notesSlides/notesSlide11.xml" Id="R9290f17b10b94b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3030bcd9b4fc6" /><Relationship Type="http://schemas.openxmlformats.org/officeDocument/2006/relationships/notesSlide" Target="/ppt/notesSlides/notesSlide12.xml" Id="R3ee58b2223ba42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2df27a3b24275" /><Relationship Type="http://schemas.openxmlformats.org/officeDocument/2006/relationships/notesSlide" Target="/ppt/notesSlides/notesSlide13.xml" Id="Rda587f6763f941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1d793ec1345c1" /><Relationship Type="http://schemas.openxmlformats.org/officeDocument/2006/relationships/notesSlide" Target="/ppt/notesSlides/notesSlide14.xml" Id="R432a11d1757c4f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4457b1fa94e27" /><Relationship Type="http://schemas.openxmlformats.org/officeDocument/2006/relationships/notesSlide" Target="/ppt/notesSlides/notesSlide15.xml" Id="R7df5161816c148d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edc524a0f4b96" /><Relationship Type="http://schemas.openxmlformats.org/officeDocument/2006/relationships/notesSlide" Target="/ppt/notesSlides/notesSlide16.xml" Id="Rbfddcf5f8018447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524e40db74ff0" /><Relationship Type="http://schemas.openxmlformats.org/officeDocument/2006/relationships/notesSlide" Target="/ppt/notesSlides/notesSlide17.xml" Id="Ra2cbaeef241544b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3d3657dbd428f" /><Relationship Type="http://schemas.openxmlformats.org/officeDocument/2006/relationships/notesSlide" Target="/ppt/notesSlides/notesSlide18.xml" Id="R2a3b5a37780944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1FEEAAE-E507-4A91-B056-BE84B7BE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91440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47">
              <a:alpha val="40000"/>
            </a:srgbClr>
          </a:solidFill>
          <a:ln xmlns:a="http://schemas.openxmlformats.org/drawingml/2006/main" w="12700">
            <a:solidFill>
              <a:srgbClr val="131A47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0A88EBA-CB12-45D4-8C95-4CF098B6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13716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>
              <a:alpha val="30000"/>
            </a:srgbClr>
          </a:solidFill>
          <a:ln xmlns:a="http://schemas.openxmlformats.org/drawingml/2006/main"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D59B7CA-4FB7-4739-9C3C-07440D4F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22960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BÁO CÁO DỰ ÁN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F40DF48-49DD-405A-8A90-BB30F48D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749808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Quản Lý Trang Thiết Bị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551ED4A-D4AF-474C-9C27-0C8561D2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06040"/>
            <a:ext cx="6858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Học</a:t>
            </a: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phần</a:t>
            </a: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Dự</a:t>
            </a: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Án</a:t>
            </a: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Kỹ Thuật Lập Trình  |  K60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C79651A-7141-4949-96E3-E0B9561C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32004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 w="12700">
            <a:solidFill>
              <a:srgbClr val="02C39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271DE2-EF47-46E1-889A-4900DA66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24612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9C74F"/>
                </a:solidFill>
                <a:latin typeface="Calibri"/>
                <a:ea typeface="Calibri"/>
                <a:cs typeface="Calibri"/>
              </a:rPr>
              <a:t>Ngôn ngữ: </a:t>
            </a: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C# / .NET 8   </a:t>
            </a:r>
            <a:r>
              <a:rPr sz="1300" b="1">
                <a:solidFill>
                  <a:srgbClr val="F9C74F"/>
                </a:solidFill>
                <a:latin typeface="Calibri"/>
                <a:ea typeface="Calibri"/>
                <a:cs typeface="Calibri"/>
              </a:rPr>
              <a:t>Giao diện: </a:t>
            </a: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Windows Forms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2085906-5E2D-4303-B937-90791E82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49040"/>
            <a:ext cx="7772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8EA6C8"/>
                </a:solidFill>
                <a:latin typeface="Calibri"/>
                <a:ea typeface="Calibri"/>
                <a:cs typeface="Calibri"/>
              </a:rPr>
              <a:t>6 tuần thực tập  ·  6 chức năng M1–M6  ·  5 thuật toán sắp xếp  ·  2 thuật toán tìm kiếm · 1 chỉ mục hậu tố</a:t>
            </a:r>
          </a:p>
        </p:txBody>
      </p:sp>
    </p:spTree>
    <p:extLst>
      <p:ext uri="{BB962C8B-B14F-4D97-AF65-F5344CB8AC3E}">
        <p14:creationId xmlns:p14="http://schemas.microsoft.com/office/powerpoint/2010/main" val="11605368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9E4577E-23C1-4B42-9212-01C672AD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YÊU CẦU DỰ ÁN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4C02FB-704F-4EF4-A0FD-795AA98E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3FE5388-A527-4F0D-92DC-75D873A8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14400"/>
            <a:ext cx="4206240" cy="384048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E72A4FA-4C30-4D72-96BA-BEFE640B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05840"/>
            <a:ext cx="3931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Đối tượng quản lý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A06BE11-057F-43F4-8059-6B54DE23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7320"/>
            <a:ext cx="393192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Char char="•"/>
            </a:pPr>
            <a:r>
              <a:rPr sz="12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Mã trang thiết bị (TTB)</a:t>
            </a:r>
          </a:p>
          <a:p xmlns:a="http://schemas.openxmlformats.org/drawingml/2006/main">
            <a:pPr marL="342900" indent="-342900">
              <a:spcAft>
                <a:spcPts val="300"/>
              </a:spcAft>
              <a:buChar char="•"/>
            </a:pPr>
            <a:r>
              <a:rPr sz="12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Số hiệu TTB</a:t>
            </a:r>
          </a:p>
          <a:p xmlns:a="http://schemas.openxmlformats.org/drawingml/2006/main">
            <a:pPr marL="342900" indent="-342900">
              <a:spcAft>
                <a:spcPts val="300"/>
              </a:spcAft>
              <a:buChar char="•"/>
            </a:pPr>
            <a:r>
              <a:rPr sz="12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Tên TTB</a:t>
            </a:r>
          </a:p>
          <a:p xmlns:a="http://schemas.openxmlformats.org/drawingml/2006/main">
            <a:pPr marL="342900" indent="-342900">
              <a:spcAft>
                <a:spcPts val="300"/>
              </a:spcAft>
              <a:buChar char="•"/>
            </a:pPr>
            <a:r>
              <a:rPr sz="12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Ngày sản xuất</a:t>
            </a:r>
          </a:p>
          <a:p xmlns:a="http://schemas.openxmlformats.org/drawingml/2006/main">
            <a:pPr marL="342900" indent="-342900">
              <a:spcAft>
                <a:spcPts val="300"/>
              </a:spcAft>
              <a:buChar char="•"/>
            </a:pPr>
            <a:r>
              <a:rPr sz="12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Ngày đưa vào sử dụng</a:t>
            </a:r>
          </a:p>
          <a:p xmlns:a="http://schemas.openxmlformats.org/drawingml/2006/main">
            <a:pPr marL="342900" indent="-342900">
              <a:spcAft>
                <a:spcPts val="300"/>
              </a:spcAft>
              <a:buChar char="•"/>
            </a:pPr>
            <a:r>
              <a:rPr sz="12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Nguồn cấp</a:t>
            </a:r>
          </a:p>
          <a:p xmlns:a="http://schemas.openxmlformats.org/drawingml/2006/main">
            <a:pPr marL="342900" indent="-342900">
              <a:spcAft>
                <a:spcPts val="300"/>
              </a:spcAft>
              <a:buChar char="•"/>
            </a:pPr>
            <a:r>
              <a:rPr sz="12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Số lượng</a:t>
            </a:r>
          </a:p>
          <a:p xmlns:a="http://schemas.openxmlformats.org/drawingml/2006/main">
            <a:pPr marL="342900" indent="-342900">
              <a:spcAft>
                <a:spcPts val="300"/>
              </a:spcAft>
              <a:buChar char="•"/>
            </a:pPr>
            <a:r>
              <a:rPr sz="12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Chủng loại</a:t>
            </a:r>
          </a:p>
          <a:p xmlns:a="http://schemas.openxmlformats.org/drawingml/2006/main">
            <a:pPr marL="342900" indent="-342900">
              <a:spcAft>
                <a:spcPts val="300"/>
              </a:spcAft>
              <a:buChar char="•"/>
            </a:pPr>
            <a:r>
              <a:rPr sz="12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Cấp quản lý (1–5)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1366CB1-B87A-4B7F-A4A3-0C79ECEE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914400"/>
            <a:ext cx="4023360" cy="384048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04F8ED6-15BA-42DE-9551-6F701E9F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005840"/>
            <a:ext cx="3749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Menu chức năng M1–M6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406EF09-3D0E-4BCB-BC70-31A0A0BB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63040"/>
            <a:ext cx="475488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CE316C2-D15B-4E92-8499-FECCD816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63040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M1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BC64BEA-A4C7-4507-B900-C9FED12E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481328"/>
            <a:ext cx="3200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Cập nhật hồ sơ (Thêm / Sửa)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A66E5E7-E70E-43DB-A8B7-CA2E81AF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975104"/>
            <a:ext cx="475488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FB7DDF7-1EAF-466A-ABEF-2933909F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975104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M2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3CA9A93-B9AF-4502-BF31-74B0D145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993392"/>
            <a:ext cx="3200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In danh sách có phân trang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92CD7C6-ABCC-4BED-B73F-B2D6F7BB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487168"/>
            <a:ext cx="475488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2AE55EA-5220-4247-A58F-61946A0D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48716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M3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F6B5447-320A-4DFD-A5AB-42E8155C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505456"/>
            <a:ext cx="3200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Sắp xếp (5 thuật toán)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CC34399-B786-462F-8213-65BF352C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999232"/>
            <a:ext cx="475488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80A12DB-845D-42F8-AF4C-565D69DC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999232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M4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BA4786E-3A67-401C-B627-90DF2AE8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17520"/>
            <a:ext cx="3200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Tìm kiếm (tuần tự, nhị phân)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BB9E891-7419-497A-B117-A85031DB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511296"/>
            <a:ext cx="475488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D4DC212-6148-42D3-8517-54CC17C3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511296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M5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F42E7AC-E2C1-423E-A60D-3194C8B1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529584"/>
            <a:ext cx="3200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Thống kê, báo cáo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24A9343-C5BF-43E6-A3E1-66111FBD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023360"/>
            <a:ext cx="475488" cy="32918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7326278-3941-4801-B466-9CBF3961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023360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M6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05187C6-1D47-46A2-B961-68614C70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4041648"/>
            <a:ext cx="3200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Thoát chương trình</a:t>
            </a:r>
          </a:p>
        </p:txBody>
      </p:sp>
    </p:spTree>
    <p:extLst>
      <p:ext uri="{BB962C8B-B14F-4D97-AF65-F5344CB8AC3E}">
        <p14:creationId xmlns:p14="http://schemas.microsoft.com/office/powerpoint/2010/main" val="16095658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25B971C-48E4-49BC-B130-2ED785F0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NỘI DUNG ĐÃ THỰC HIỆN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78FA650-5586-43F6-A6C3-588C19A6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9EAD58D-FA97-485E-AECE-C3468DD9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6012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C42900E-8B19-4904-9FCA-BDD2CE8D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069848"/>
            <a:ext cx="777240" cy="27432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66D9C06-A18B-4034-9E8A-546A85A1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06984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Tuần 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59C61A8-4C51-40F1-9459-C416572B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051560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Khung chương trình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DEBBF10-38E4-4909-8D31-8908E488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43560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MainForm + 6 UserControl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Menu M1–M6 &amp; điều hướng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3C16544-6BA8-42B5-ADE0-4B7EDA86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96012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5AD7240-3A62-4C46-9BC4-198D5928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069848"/>
            <a:ext cx="777240" cy="27432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B810D79-99DB-4CA1-B28D-F637F869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06984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Tuần 2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EBF2964-105C-4C1E-8B42-E6C1EE8E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051560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Cấu trúc dữ liệu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2D34CB9-DCE6-40D1-93BF-E0249314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43560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Lớp ThietBi (9 thuộc tính)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CRUD + JSON + phân trang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B800BCB-B8DB-4221-BF04-F3E1FFD9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28600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CB5EAC1-4DC4-46A4-AD50-8EFBD7E0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395728"/>
            <a:ext cx="777240" cy="27432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9BBB3FA-627B-49E7-8B2F-E5B9A625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39572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Tuần 3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3067368-4A51-43B1-898E-B93628B8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77440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Thuật toán sắp xếp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CA71A7-72AA-423F-8E39-E75C17DA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76148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Selection, Insertion, Bubble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Quick Sort, Merge Sort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BFAA93E-380E-40D2-9851-C9A27029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28600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17C7896-88CE-47A9-A61C-FB3B127E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395728"/>
            <a:ext cx="777240" cy="27432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F7976FD-A724-46EF-9042-A02E9839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39572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Tuần 4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21D2874-953C-4412-B331-573503EB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77440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Tìm kiếm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D508CB2-ED7C-4D1A-8E11-5BE2C315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276148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Tuần tự (không dấu)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Nhị phân + Chỉ mục hậu tố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F81F28F-1F20-46CC-B299-6E5E96C3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1188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4E08816-C55F-49F5-B002-F7F82D86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721608"/>
            <a:ext cx="777240" cy="27432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83F54C7-FE96-49E1-A984-7E1747E4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72160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Tuần 5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F93F533-BD6A-429C-A443-51278ACE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3320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Thống kê &amp; xuất dữ liệu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280D504-07CB-4017-8789-5003D8B7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8736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Gom nhóm theo cấp/loại/nguồn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Xuất CSV + Backup JSON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4519FF9-A7BE-4973-A329-038E8D07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61188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0F0BDB8-298D-4AC2-BA33-68EEEA05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3721608"/>
            <a:ext cx="777240" cy="27432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EF77D69-AFF0-4DAB-A110-A0BF6E2A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3721608"/>
            <a:ext cx="777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Tuần 6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0183762F-1FD5-43BE-BEDC-05BE084A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03320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Kiểm thử &amp; hoàn thiện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07A5F1B-B411-4257-91BF-17F6B0FB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408736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8 kịch bản kiểm thử</a:t>
            </a:r>
          </a:p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Bảo toàn dữ liệu, build Release</a:t>
            </a:r>
          </a:p>
        </p:txBody>
      </p:sp>
    </p:spTree>
    <p:extLst>
      <p:ext uri="{BB962C8B-B14F-4D97-AF65-F5344CB8AC3E}">
        <p14:creationId xmlns:p14="http://schemas.microsoft.com/office/powerpoint/2010/main" val="12767128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CE3AA9A-B9E9-499B-8E6F-9FDC3206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SƠ ĐỒ USE CASE TỔNG QUAN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F90A9C1-33F0-4CCC-A1A5-399F1EE8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5E567-3A9A-451E-9C65-65FE61D0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95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7A94E-ED2E-4DB9-9F9A-49E0FEE8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8A297-EF94-451F-B91D-02338129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27647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823EC-8FF0-4E3A-8D59-CC89E448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527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Người quản lý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45807-B45E-4795-811E-2C5D08AF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143000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EAF2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733E6-26A7-4158-89ED-A089BE63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171575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M1 · Thêm / cập nhật hồ sơ</a:t>
            </a:r>
          </a:p>
        </p:txBody>
      </p:sp>
      <p:cxnSp>
        <p:nvCxnSpPr>
          <p:cNvPr id="10" name=""/>
          <p:cNvCxnSpPr>
            <a:stCxn xmlns:a="http://schemas.openxmlformats.org/drawingml/2006/main" id="4" idx="6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981075" y="1400175"/>
            <a:ext cx="1114425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1809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5AF7A-D236-4401-9447-C3D194DE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52625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EAF2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CF965-77E6-41B6-8E5E-432651C6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981200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M2 · Xem, sửa, xóa, phân trang</a:t>
            </a:r>
          </a:p>
        </p:txBody>
      </p:sp>
      <p:cxnSp>
        <p:nvCxnSpPr>
          <p:cNvPr id="13" name=""/>
          <p:cNvCxnSpPr>
            <a:stCxn xmlns:a="http://schemas.openxmlformats.org/drawingml/2006/main" id="4" idx="6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81075" y="1876425"/>
            <a:ext cx="1114425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18096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BA2BC-11A3-47B5-99D8-3397513F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0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EAF2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5CAA5-63B2-4F15-8854-7C01185B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90825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M3 · Chọn thuật toán và sắp xếp</a:t>
            </a:r>
          </a:p>
        </p:txBody>
      </p:sp>
      <p:cxnSp>
        <p:nvCxnSpPr>
          <p:cNvPr id="16" name=""/>
          <p:cNvCxnSpPr>
            <a:stCxn xmlns:a="http://schemas.openxmlformats.org/drawingml/2006/main" id="4" idx="6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81075" y="1876425"/>
            <a:ext cx="1114425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18096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352080-2EE8-4A0E-84DF-F870A69D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143000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28482-5ECF-4800-A6BB-34B208D1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171575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M4 · Tìm tuần tự / nhị phân</a:t>
            </a:r>
          </a:p>
        </p:txBody>
      </p:sp>
      <p:cxnSp>
        <p:nvCxnSpPr>
          <p:cNvPr id="19" name=""/>
          <p:cNvCxnSpPr>
            <a:stCxn xmlns:a="http://schemas.openxmlformats.org/drawingml/2006/main" id="4" idx="6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981075" y="1400175"/>
            <a:ext cx="4448175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18096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257F3C-C5B8-4DE8-864E-7C5BF9E2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52625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35472F-2E41-40BA-8BFC-BBE64FEF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81200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M5 · Thống kê theo tiêu chí</a:t>
            </a:r>
          </a:p>
        </p:txBody>
      </p:sp>
      <p:cxnSp>
        <p:nvCxnSpPr>
          <p:cNvPr id="22" name=""/>
          <p:cNvCxnSpPr>
            <a:stCxn xmlns:a="http://schemas.openxmlformats.org/drawingml/2006/main" id="4" idx="6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81075" y="1876425"/>
            <a:ext cx="4448175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18096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C4B203-5E87-4049-9532-0930FE66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62250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3E7867-2511-43C3-8285-A3FE0E27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90825"/>
            <a:ext cx="2686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Sao lưu · khôi phục · xuất CSV</a:t>
            </a:r>
          </a:p>
        </p:txBody>
      </p:sp>
      <p:cxnSp>
        <p:nvCxnSpPr>
          <p:cNvPr id="25" name=""/>
          <p:cNvCxnSpPr>
            <a:stCxn xmlns:a="http://schemas.openxmlformats.org/drawingml/2006/main" id="4" idx="6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81075" y="1876425"/>
            <a:ext cx="4448175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18096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91EB37-D54E-4CD9-9CCD-6A164DB1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822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Một tác nhân duy nhất thao tác qua menu M1–M6; dữ liệu nghiệp vụ dùng chung trong MainForm.</a:t>
            </a:r>
          </a:p>
        </p:txBody>
      </p:sp>
    </p:spTree>
    <p:extLst>
      <p:ext uri="{BB962C8B-B14F-4D97-AF65-F5344CB8AC3E}">
        <p14:creationId xmlns:p14="http://schemas.microsoft.com/office/powerpoint/2010/main" val="20160429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CE3AA9A-B9E9-499B-8E6F-9FDC3206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CẤU TRÚC DỮ LIỆU &amp; KIẾN TRÚC CHƯƠNG TRÌNH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F90A9C1-33F0-4CCC-A1A5-399F1EE8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A6E32C5-EA45-4653-9A20-F8CEA88A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60120"/>
            <a:ext cx="4023360" cy="379476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78AF2E9-7545-4813-A1BD-82137868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3749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Luồng dữ liệu chính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49BAF9D-F9AF-4822-9E0D-61E201D0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08760"/>
            <a:ext cx="3520440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E2761">
              <a:alpha val="12000"/>
            </a:srgbClr>
          </a:solidFill>
          <a:ln xmlns:a="http://schemas.openxmlformats.org/drawingml/2006/main" w="12700">
            <a:solidFill>
              <a:srgbClr val="1E2761">
                <a:alpha val="40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C2A69B9-B8FF-4DC9-B2A8-44C9A3F6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3429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data.json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F4AFDAD-C18E-4F61-AC52-1D9B35CB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37944"/>
            <a:ext cx="18288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12700">
            <a:solidFill>
              <a:srgbClr val="718096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E5F43AC-864A-4BA4-83EE-D512CE97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93392"/>
            <a:ext cx="3520440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28090">
              <a:alpha val="12000"/>
            </a:srgbClr>
          </a:solidFill>
          <a:ln xmlns:a="http://schemas.openxmlformats.org/drawingml/2006/main"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F952339-2D35-4619-8E92-61793965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3392"/>
            <a:ext cx="3429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ThuDocDuLieu() + kiểm tra danh sách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835B94E-107E-4957-A037-36604A07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22576"/>
            <a:ext cx="18288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12700">
            <a:solidFill>
              <a:srgbClr val="718096"/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4E7DF64-2121-4C15-925B-BDB47912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78024"/>
            <a:ext cx="3520440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8B5CF6">
              <a:alpha val="12000"/>
            </a:srgbClr>
          </a:solidFill>
          <a:ln xmlns:a="http://schemas.openxmlformats.org/drawingml/2006/main"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28A24BB-AA54-4A2A-9988-8A45C4C3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8024"/>
            <a:ext cx="3429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8B5CF6"/>
                </a:solidFill>
                <a:latin typeface="Calibri"/>
                <a:ea typeface="Calibri"/>
                <a:cs typeface="Calibri"/>
              </a:rPr>
              <a:t>List&lt;ThietBi&gt;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5502D86-A8F8-4576-95A7-6BFFA4F3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07208"/>
            <a:ext cx="18288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12700">
            <a:solidFill>
              <a:srgbClr val="718096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D250896-7636-40C7-AC6B-7E589A44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62656"/>
            <a:ext cx="3520440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28090">
              <a:alpha val="12000"/>
            </a:srgbClr>
          </a:solidFill>
          <a:ln xmlns:a="http://schemas.openxmlformats.org/drawingml/2006/main"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9903712-B4B9-4E4C-A863-D3DA4D55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656"/>
            <a:ext cx="3429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M1 / M2 / M3 / M4 / M5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8D94E81-36D9-4B35-91AD-FD46309D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91840"/>
            <a:ext cx="18288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12700">
            <a:solidFill>
              <a:srgbClr val="718096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5A1B9EA-78B9-4011-A12E-0589A3D6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47288"/>
            <a:ext cx="3520440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D97706">
              <a:alpha val="12000"/>
            </a:srgbClr>
          </a:solidFill>
          <a:ln xmlns:a="http://schemas.openxmlformats.org/drawingml/2006/main"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9E884C2-237A-45E3-8848-7B933B8A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7288"/>
            <a:ext cx="3429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D97706"/>
                </a:solidFill>
                <a:latin typeface="Calibri"/>
                <a:ea typeface="Calibri"/>
                <a:cs typeface="Calibri"/>
              </a:rPr>
              <a:t>LuuDuLieu()  →  data.json.tmp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4452A04-95A1-44A6-AE6D-32B281FA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76472"/>
            <a:ext cx="18288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12700">
            <a:solidFill>
              <a:srgbClr val="718096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E037BBF-A355-4465-ACF5-7BE48F74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0"/>
            <a:ext cx="3520440" cy="329184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E2761">
              <a:alpha val="12000"/>
            </a:srgbClr>
          </a:solidFill>
          <a:ln xmlns:a="http://schemas.openxmlformats.org/drawingml/2006/main" w="12700">
            <a:solidFill>
              <a:srgbClr val="1E2761">
                <a:alpha val="4000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73B598B-E68B-44E7-8BD1-59E1E742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1920"/>
            <a:ext cx="3429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data.json  (ghi nguyên tử)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4D19387-3493-4234-BD79-49D02229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960120"/>
            <a:ext cx="4160520" cy="379476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85B0A13-CC12-464F-B93A-0D631FE3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051560"/>
            <a:ext cx="3840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Tổ chức mã nguồn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814D4C6-2F05-4B05-8670-CDB9DDC2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4813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MainForm.cs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D76F51E-075B-4C49-B958-A227899B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4813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Điều hướng, đọc/ghi JSON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595DA7D-2925-45D8-A1AD-2562E5D2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65376"/>
            <a:ext cx="3840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9A0F3A8-E7E7-46AC-A84E-97583849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9385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Models/ThietBi.cs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4CADBD8-D6E9-4514-AC21-35C2DEAF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385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9 thuộc tính đối tượng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58B352D9-2761-480C-9068-3702E7A8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322576"/>
            <a:ext cx="3840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A1CE0F7-B596-41B8-9033-CE97E7EF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3957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UcThemMoi.cs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17EBDD4-5ED5-4C86-AFAB-905FE9B0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3957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Thêm, sửa, validation, hoàn tác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07B67E42-F39E-449E-9E79-E7B7160B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9776"/>
            <a:ext cx="3840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714B3D4-3B42-43E2-A328-8B000F98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8529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UcDanhSach.cs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8913E8DC-FE4D-40BD-9046-E189B16A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8529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Danh sách, phân trang, CSV, backup JSON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251C0642-E50F-478B-88EC-CF08A5E0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236976"/>
            <a:ext cx="3840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78AC58FC-2160-4C82-8FEB-B497BFC8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3101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UcSapXep.cs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F4E539B-9E14-4EC5-AA6C-2EC68C38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3101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5 thuật toán, 8 khóa sắp xếp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C0A18095-55CA-4EE7-867A-42A0C53A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694176"/>
            <a:ext cx="3840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962D6B01-B307-49BA-A9C7-46F2F69A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673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UcTimKiem.cs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FD42F1F-C251-4AE8-B930-75AC05D1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7673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Chuẩn hóa, tuần tự, nhị phân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4E1475F3-59DF-4827-8EE6-8FC667CA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151376"/>
            <a:ext cx="3840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377AFA54-3887-45D0-BA7E-5B62BFD9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2245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UcThongKe.cs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038D160E-6151-4BCE-8101-8753BC27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224528"/>
            <a:ext cx="19202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Đếm, cộng tổng, gom nhóm</a:t>
            </a:r>
          </a:p>
        </p:txBody>
      </p:sp>
    </p:spTree>
    <p:extLst>
      <p:ext uri="{BB962C8B-B14F-4D97-AF65-F5344CB8AC3E}">
        <p14:creationId xmlns:p14="http://schemas.microsoft.com/office/powerpoint/2010/main" val="20160429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CE3AA9A-B9E9-499B-8E6F-9FDC3206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SƠ ĐỒ TỔNG QUAN KIẾN TRÚC HỆ THỐNG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F90A9C1-33F0-4CCC-A1A5-399F1EE8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32EB9-D7BB-4626-A17E-04ABDB14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AF2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B0B20-6A54-4B28-8C42-50A449EB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2019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LỚP GIAO DIỆN</a:t>
            </a:r>
          </a:p>
          <a:p xmlns:a="http://schemas.openxmlformats.org/drawingml/2006/main">
            <a:pPr algn="ctr">
              <a:defRPr sz="1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MainForm + 5 UserControl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893B6-B44E-406B-B4DF-4CAE755C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190625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AFED8-BB1E-46E3-B3DE-DEF18981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219200"/>
            <a:ext cx="2019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TRẠNG THÁI DÙNG CHUNG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DanhSach · KhoaDaSapXep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KetQuaTimKiemM4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96996-4B81-4499-B984-C0EC8A62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190625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2873E-8CE8-4B8A-A783-6302C98D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219200"/>
            <a:ext cx="2019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LƯU TRỮ JSON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data.json · file .tmp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Backup/*.json</a:t>
            </a:r>
          </a:p>
        </p:txBody>
      </p:sp>
      <p:cxnSp>
        <p:nvCxnSpPr>
          <p:cNvPr id="10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62250" y="16097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cxnSp>
        <p:nvCxnSpPr>
          <p:cNvPr id="11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619750" y="16097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7E104-B41B-4D86-AFB8-EFB91B60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190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C20BB-0F01-4C53-AD97-BF8EA02C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1114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M1</a:t>
            </a:r>
          </a:p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CRUD + rollback</a:t>
            </a:r>
          </a:p>
        </p:txBody>
      </p:sp>
      <p:cxnSp>
        <p:nvCxnSpPr>
          <p:cNvPr id="14" name=""/>
          <p:cNvCxnSpPr>
            <a:stCxn xmlns:a="http://schemas.openxmlformats.org/drawingml/2006/main" id="6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1262063" y="2028825"/>
            <a:ext cx="3309938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18096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F90CA0-AFAC-4273-BE71-FB622FF9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857500"/>
            <a:ext cx="1190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AF2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123FC-2316-4419-9A96-57841793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886075"/>
            <a:ext cx="1114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M2</a:t>
            </a:r>
          </a:p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Danh sách + CSV</a:t>
            </a:r>
          </a:p>
        </p:txBody>
      </p:sp>
      <p:cxnSp>
        <p:nvCxnSpPr>
          <p:cNvPr id="17" name=""/>
          <p:cNvCxnSpPr>
            <a:stCxn xmlns:a="http://schemas.openxmlformats.org/drawingml/2006/main" id="6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2928938" y="2028825"/>
            <a:ext cx="1643063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18096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33085-A1FC-472C-ACE6-7925C630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1190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3C1A54-9155-4647-9514-8F50829A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86075"/>
            <a:ext cx="1114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M3</a:t>
            </a:r>
          </a:p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5 thuật toán sort</a:t>
            </a:r>
          </a:p>
        </p:txBody>
      </p:sp>
      <p:cxnSp>
        <p:nvCxnSpPr>
          <p:cNvPr id="20" name=""/>
          <p:cNvCxnSpPr>
            <a:stCxn xmlns:a="http://schemas.openxmlformats.org/drawingml/2006/main" id="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4572000" y="2028825"/>
            <a:ext cx="23813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1809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9F29D2-6A47-4FD5-A1EA-85125E64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57500"/>
            <a:ext cx="1190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A90E49-8A5F-40CB-9BBB-97418D0C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886075"/>
            <a:ext cx="1114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M4</a:t>
            </a:r>
          </a:p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Search + suffix</a:t>
            </a:r>
          </a:p>
        </p:txBody>
      </p:sp>
      <p:cxnSp>
        <p:nvCxnSpPr>
          <p:cNvPr id="23" name=""/>
          <p:cNvCxnSpPr>
            <a:stCxn xmlns:a="http://schemas.openxmlformats.org/drawingml/2006/main" id="6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4572000" y="2028825"/>
            <a:ext cx="1690688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18096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03FAC4-DC09-4F41-BDA8-BF2B3E43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1190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3EDED3-2454-4350-A907-939669E0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86075"/>
            <a:ext cx="11144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M5</a:t>
            </a:r>
          </a:p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HashSet + Dictionary</a:t>
            </a:r>
          </a:p>
        </p:txBody>
      </p:sp>
      <p:cxnSp>
        <p:nvCxnSpPr>
          <p:cNvPr id="26" name=""/>
          <p:cNvCxnSpPr>
            <a:stCxn xmlns:a="http://schemas.openxmlformats.org/drawingml/2006/main" id="6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4572000" y="2028825"/>
            <a:ext cx="3357563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718096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B37D63-BE56-422A-BDE1-678E24EC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822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MainForm vừa điều hướng giao diện, vừa quản lý trạng thái và chịu trách nhiệm đọc/ghi dữ liệu.</a:t>
            </a:r>
          </a:p>
        </p:txBody>
      </p:sp>
    </p:spTree>
    <p:extLst>
      <p:ext uri="{BB962C8B-B14F-4D97-AF65-F5344CB8AC3E}">
        <p14:creationId xmlns:p14="http://schemas.microsoft.com/office/powerpoint/2010/main" val="20160429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CE3AA9A-B9E9-499B-8E6F-9FDC3206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LUỒNG NGHIỆP VỤ M1 · THÊM MỚI / CẬP NHẬT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F90A9C1-33F0-4CCC-A1A5-399F1EE8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5925E-3875-43CD-BAC8-891D48B6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57375"/>
            <a:ext cx="123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EAF2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CC7D5-36A4-4F91-861D-A263EC99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859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Nhập dữ liệu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3105C-79D2-4B0C-BA1D-4EA7517A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57375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65CDC-6D14-4EC0-B185-ECC1345E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885950"/>
            <a:ext cx="1352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KiemTraDuLieu()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66FA3-E64B-4D60-9A29-2C11E884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857375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D07C6-F5A5-486F-9840-50EB6C8A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885950"/>
            <a:ext cx="1352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Kiểm tra trùng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mã + số hiệu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B27CC-A94A-4A4B-AD01-6C4362CE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857375"/>
            <a:ext cx="1333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86830-A840-432E-B344-67386D6A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88595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Thêm hoặc sửa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đối tượng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B1C3B-C100-4047-A216-3A8824C2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57375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6C824-4A33-4328-8CA3-DAEC9B11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885950"/>
            <a:ext cx="11144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LuuDuLieu()</a:t>
            </a:r>
          </a:p>
        </p:txBody>
      </p:sp>
      <p:cxnSp>
        <p:nvCxnSpPr>
          <p:cNvPr id="14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62125" y="2133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cxnSp>
        <p:nvCxnSpPr>
          <p:cNvPr id="1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571875" y="2133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cxnSp>
        <p:nvCxnSpPr>
          <p:cNvPr id="1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381625" y="2133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cxnSp>
        <p:nvCxnSpPr>
          <p:cNvPr id="17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096125" y="21336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2F4A48-C575-4062-B1FB-26769DFC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714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1430">
            <a:solidFill>
              <a:srgbClr val="F05D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C24E03-A39B-4B2A-81C6-588E0BDB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71825"/>
            <a:ext cx="26384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8323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B83232"/>
                </a:solidFill>
                <a:latin typeface="Calibri"/>
                <a:ea typeface="Calibri"/>
                <a:cs typeface="Calibri"/>
              </a:rPr>
              <a:t>Lưu thất bại → rollback</a:t>
            </a:r>
          </a:p>
          <a:p xmlns:a="http://schemas.openxmlformats.org/drawingml/2006/main">
            <a:pPr algn="ctr">
              <a:defRPr sz="1050" b="1">
                <a:solidFill>
                  <a:srgbClr val="B8323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B83232"/>
                </a:solidFill>
                <a:latin typeface="Calibri"/>
                <a:ea typeface="Calibri"/>
                <a:cs typeface="Calibri"/>
              </a:rPr>
              <a:t>• thêm mới: Remove</a:t>
            </a:r>
          </a:p>
          <a:p xmlns:a="http://schemas.openxmlformats.org/drawingml/2006/main">
            <a:pPr algn="ctr">
              <a:defRPr sz="1050" b="1">
                <a:solidFill>
                  <a:srgbClr val="B8323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B83232"/>
                </a:solidFill>
                <a:latin typeface="Calibri"/>
                <a:ea typeface="Calibri"/>
                <a:cs typeface="Calibri"/>
              </a:rPr>
              <a:t>• cập nhật: phục hồi bản sao</a:t>
            </a:r>
          </a:p>
        </p:txBody>
      </p:sp>
      <p:cxnSp>
        <p:nvCxnSpPr>
          <p:cNvPr id="20" name=""/>
          <p:cNvCxnSpPr>
            <a:stCxn xmlns:a="http://schemas.openxmlformats.org/drawingml/2006/main" id="12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6786563" y="2409825"/>
            <a:ext cx="1285875" cy="7334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F05D5E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35C72-F23C-45E5-A1EB-E42DE337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4775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28090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Validation nhập liệu: trường bắt buộc · mã TTBxxx · số lượng &gt; 0 · cấp 1–5 · ngày không vượt hiện tại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8E51B6-82A7-429E-993B-0BC28659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822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Dữ liệu chỉ được đưa vào danh sách sau khi hợp lệ; mọi thay đổi đều có cơ chế hoàn tác.</a:t>
            </a:r>
          </a:p>
        </p:txBody>
      </p:sp>
    </p:spTree>
    <p:extLst>
      <p:ext uri="{BB962C8B-B14F-4D97-AF65-F5344CB8AC3E}">
        <p14:creationId xmlns:p14="http://schemas.microsoft.com/office/powerpoint/2010/main" val="20160429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CE3AA9A-B9E9-499B-8E6F-9FDC3206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LUỒNG NGHIỆP VỤ M2 · DANH SÁCH VÀ BẢO VỆ DỮ LIỆU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F90A9C1-33F0-4CCC-A1A5-399F1EE8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BB3E8-63EF-4070-BA5A-5FB41F6E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2190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8EAF2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C3EF0-ECF6-4AD9-BA99-850E9CFC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981200"/>
            <a:ext cx="21145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Danh sách hiển thị</a:t>
            </a:r>
          </a:p>
          <a:p xmlns:a="http://schemas.openxmlformats.org/drawingml/2006/main">
            <a:pPr algn="ctr">
              <a:defRPr sz="1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20 bản ghi / trang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3D7CD-B335-4F25-8A2E-1DA9ADD8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A5A26-306C-49F5-ADFC-6BD0D3F6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9240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Sửa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→ mở M1 với tham chiếu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04431-DAB6-4E29-ABC1-38B13A04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1430">
            <a:solidFill>
              <a:srgbClr val="F05D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D5B76-0AEE-432A-89CC-8DEA301A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71825"/>
            <a:ext cx="19240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Xóa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→ lưu vị trí cũ để rollback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41FD48-6505-4D4F-8171-89AC56B6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95375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8A076-441F-4C45-923B-5737E0CE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23950"/>
            <a:ext cx="19240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Xuất CSV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UTF-8 BOM + escape 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82A91-CF95-4355-83BC-136320D9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B62FD7-DF9C-4D90-A02C-F85CEEAB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71825"/>
            <a:ext cx="19240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Backup / Restore JSON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validate trước khi ghi đè</a:t>
            </a:r>
          </a:p>
        </p:txBody>
      </p:sp>
      <p:cxnSp>
        <p:nvCxnSpPr>
          <p:cNvPr id="14" name=""/>
          <p:cNvCxnSpPr>
            <a:stCxn xmlns:a="http://schemas.openxmlformats.org/drawingml/2006/main" id="4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2667000" y="1404938"/>
            <a:ext cx="809625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18096"/>
            </a:solidFill>
            <a:prstDash val="solid"/>
          </a:ln>
        </p:spPr>
      </p:cxnSp>
      <p:cxnSp>
        <p:nvCxnSpPr>
          <p:cNvPr id="15" name=""/>
          <p:cNvCxnSpPr>
            <a:stCxn xmlns:a="http://schemas.openxmlformats.org/drawingml/2006/main" id="4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2667000" y="2309813"/>
            <a:ext cx="809625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18096"/>
            </a:solidFill>
            <a:prstDash val="solid"/>
          </a:ln>
        </p:spPr>
      </p:cxnSp>
      <p:cxnSp>
        <p:nvCxnSpPr>
          <p:cNvPr id="16" name=""/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5667375" y="1404938"/>
            <a:ext cx="809625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18096"/>
            </a:solidFill>
            <a:prstDash val="solid"/>
          </a:ln>
        </p:spPr>
      </p:cxn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67375" y="2309813"/>
            <a:ext cx="809625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718096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169CE1-2C05-410B-8C66-4D3203CB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4300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2809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Nguồn hiển thị = KetQuaTimKiemM4 ?? DanhSach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837E4-7156-41A6-9311-42764708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822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M2 là điểm tổng hợp kết quả tìm kiếm, thao tác hồ sơ và trao đổi dữ liệu với file ngoài.</a:t>
            </a:r>
          </a:p>
        </p:txBody>
      </p:sp>
    </p:spTree>
    <p:extLst>
      <p:ext uri="{BB962C8B-B14F-4D97-AF65-F5344CB8AC3E}">
        <p14:creationId xmlns:p14="http://schemas.microsoft.com/office/powerpoint/2010/main" val="20160429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8BF3F9A-652F-4EFB-A20B-7CFC1042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THUẬT TOÁN SẮP XẾP &amp; TÌM KIẾM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4CC226E-1EF3-403E-872A-2B53DD18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5201948-959C-42C8-BF0F-4FDBE89C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60120"/>
            <a:ext cx="4114800" cy="379476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79C718F-E40C-4944-B4E9-6EA8E587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42416"/>
            <a:ext cx="3840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Sắp xếp (M3)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2C83409-72A6-42F5-90E9-C2B65393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3840480" cy="530352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1E2761">
              <a:alpha val="9000"/>
            </a:srgbClr>
          </a:solidFill>
          <a:ln xmlns:a="http://schemas.openxmlformats.org/drawingml/2006/main" w="12700">
            <a:solidFill>
              <a:srgbClr val="1E2761">
                <a:alpha val="25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069D7FB-2F99-4589-A248-11A3F879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99616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Selection Sort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3F3427E-84BA-471B-A466-1E3AC0AB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1499616"/>
            <a:ext cx="10058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96167"/>
                </a:solidFill>
                <a:latin typeface="Calibri"/>
                <a:ea typeface="Calibri"/>
                <a:cs typeface="Calibri"/>
              </a:rPr>
              <a:t>O(n²)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7F696D5-7536-4940-A0AE-90350104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737360"/>
            <a:ext cx="3566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Chọn phần tử nhỏ nhất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A47B06-CD87-4DFB-8C51-629A4753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84832"/>
            <a:ext cx="3840480" cy="530352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1E2761">
              <a:alpha val="9000"/>
            </a:srgbClr>
          </a:solidFill>
          <a:ln xmlns:a="http://schemas.openxmlformats.org/drawingml/2006/main" w="12700">
            <a:solidFill>
              <a:srgbClr val="1E2761">
                <a:alpha val="25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45B67AC-8B4F-4C9A-9DF7-0F7704F0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121408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Insertion Sort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0EE2EDC-723A-40AA-B21E-74C2DE22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21408"/>
            <a:ext cx="10058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96167"/>
                </a:solidFill>
                <a:latin typeface="Calibri"/>
                <a:ea typeface="Calibri"/>
                <a:cs typeface="Calibri"/>
              </a:rPr>
              <a:t>O(n²)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22AC8D6-2C0D-4353-9249-3CEC129D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359152"/>
            <a:ext cx="3566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Chèn vào đúng vị trí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4DB38B6-BC59-4990-88B0-28023AFC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06624"/>
            <a:ext cx="3840480" cy="530352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1E2761">
              <a:alpha val="9000"/>
            </a:srgbClr>
          </a:solidFill>
          <a:ln xmlns:a="http://schemas.openxmlformats.org/drawingml/2006/main" w="12700">
            <a:solidFill>
              <a:srgbClr val="1E2761">
                <a:alpha val="2500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8216D70-54EC-42FC-974E-EB18BCF4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743200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Bubble Sort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B8E9193-F0AE-4C7F-B096-37A8CF2F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743200"/>
            <a:ext cx="10058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96167"/>
                </a:solidFill>
                <a:latin typeface="Calibri"/>
                <a:ea typeface="Calibri"/>
                <a:cs typeface="Calibri"/>
              </a:rPr>
              <a:t>O(n²)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DBB74A7-7EDB-45C4-ACC3-5BEA28D5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980944"/>
            <a:ext cx="3566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Đổi chỗ cặp sai, dừng sớm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42435F9-AE56-4A08-9ABB-5BE1B7F1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28416"/>
            <a:ext cx="3840480" cy="530352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028090">
              <a:alpha val="9000"/>
            </a:srgbClr>
          </a:solidFill>
          <a:ln xmlns:a="http://schemas.openxmlformats.org/drawingml/2006/main"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F53930-8E3F-4007-9F3A-F26EC73B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364992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Quick Sort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D861686-D523-443A-B531-E23F8BB6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364992"/>
            <a:ext cx="10058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O(n log n)*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F013668-24B3-4BFD-9172-A9FEB4D1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602736"/>
            <a:ext cx="3566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Phân hoạch đệ quy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A2ED951-2E7F-41AF-AF8F-A90E8720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50208"/>
            <a:ext cx="3840480" cy="530352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028090">
              <a:alpha val="9000"/>
            </a:srgbClr>
          </a:solidFill>
          <a:ln xmlns:a="http://schemas.openxmlformats.org/drawingml/2006/main"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FEC840C-232C-4A64-9212-2F4ABBEA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986784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Merge Sort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9B46D28-BC43-4862-A37D-A09EB0F4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986784"/>
            <a:ext cx="10058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O(n log n)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6171450-6A5C-4ED0-99FD-6CDBD429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224528"/>
            <a:ext cx="35661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Chia đôi và trộn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E48A3C4-948B-4F9D-B29A-FFB877C5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960120"/>
            <a:ext cx="4114800" cy="379476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A4014C9-6877-450E-AB45-4F2FE2AF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042416"/>
            <a:ext cx="3840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Tìm kiếm (M4)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7901DE6F-F215-4861-B874-2225AB16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44752"/>
            <a:ext cx="137160" cy="100584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70F5856D-3E4F-40DC-898A-440FE9BA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1444752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Tìm tuần tự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667AA1E-7600-498B-84D0-F7520B80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1737360"/>
            <a:ext cx="36576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200"/>
              </a:spcAft>
              <a:buChar char="•"/>
            </a:pPr>
            <a:r>
              <a:rPr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Duyệt toàn bộ danh sách</a:t>
            </a:r>
          </a:p>
          <a:p xmlns:a="http://schemas.openxmlformats.org/drawingml/2006/main">
            <a:pPr marL="342900" indent="-342900">
              <a:spcAft>
                <a:spcPts val="200"/>
              </a:spcAft>
              <a:buChar char="•"/>
            </a:pPr>
            <a:r>
              <a:rPr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Hỗ trợ nhiều từ khóa</a:t>
            </a:r>
          </a:p>
          <a:p xmlns:a="http://schemas.openxmlformats.org/drawingml/2006/main">
            <a:pPr marL="342900" indent="-342900">
              <a:spcAft>
                <a:spcPts val="200"/>
              </a:spcAft>
              <a:buChar char="•"/>
            </a:pPr>
            <a:r>
              <a:rPr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Không cần sắp xếp trước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17CAA79B-BB95-44A2-9335-AD8408C5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87752"/>
            <a:ext cx="137160" cy="100584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CA4FEC8-9759-4B21-A69E-EE2E5B72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587752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Tìm nhị phân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9530527-4B63-4765-A1DA-586FA67A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2880360"/>
            <a:ext cx="36576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200"/>
              </a:spcAft>
              <a:buChar char="•"/>
            </a:pPr>
            <a:r>
              <a:rPr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Yêu cầu đã sắp xếp đúng khóa</a:t>
            </a:r>
          </a:p>
          <a:p xmlns:a="http://schemas.openxmlformats.org/drawingml/2006/main">
            <a:pPr marL="342900" indent="-342900">
              <a:spcAft>
                <a:spcPts val="200"/>
              </a:spcAft>
              <a:buChar char="•"/>
            </a:pPr>
            <a:r>
              <a:rPr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Tìm vị trí đầu + duyệt sang phải</a:t>
            </a:r>
          </a:p>
          <a:p xmlns:a="http://schemas.openxmlformats.org/drawingml/2006/main">
            <a:pPr marL="342900" indent="-342900">
              <a:spcAft>
                <a:spcPts val="200"/>
              </a:spcAft>
              <a:buChar char="•"/>
            </a:pPr>
            <a:r>
              <a:rPr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Dùng cho số, ngày, cấp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DE6654B-65B0-45AE-B925-9D7EA991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30752"/>
            <a:ext cx="137160" cy="100584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12700">
            <a:solidFill>
              <a:srgbClr val="8B5CF6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6855A3B-B88A-426D-8681-59F88416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3730752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8B5CF6"/>
                </a:solidFill>
                <a:latin typeface="Calibri"/>
                <a:ea typeface="Calibri"/>
                <a:cs typeface="Calibri"/>
              </a:rPr>
              <a:t>Chỉ mục hậu tố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BB65D945-9921-40B4-991C-04A02CFC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912" y="4023360"/>
            <a:ext cx="36576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200"/>
              </a:spcAft>
              <a:buChar char="•"/>
            </a:pPr>
            <a:r>
              <a:rPr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Tạo tất cả hậu tố chuỗi</a:t>
            </a:r>
          </a:p>
          <a:p xmlns:a="http://schemas.openxmlformats.org/drawingml/2006/main">
            <a:pPr marL="342900" indent="-342900">
              <a:spcAft>
                <a:spcPts val="200"/>
              </a:spcAft>
              <a:buChar char="•"/>
            </a:pPr>
            <a:r>
              <a:rPr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Tìm một phần chuỗi không dấu</a:t>
            </a:r>
          </a:p>
          <a:p xmlns:a="http://schemas.openxmlformats.org/drawingml/2006/main">
            <a:pPr marL="342900" indent="-342900">
              <a:spcAft>
                <a:spcPts val="200"/>
              </a:spcAft>
              <a:buChar char="•"/>
            </a:pPr>
            <a:r>
              <a:rPr sz="10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"sung ak47" → chứa "sung"</a:t>
            </a:r>
          </a:p>
        </p:txBody>
      </p:sp>
    </p:spTree>
    <p:extLst>
      <p:ext uri="{BB962C8B-B14F-4D97-AF65-F5344CB8AC3E}">
        <p14:creationId xmlns:p14="http://schemas.microsoft.com/office/powerpoint/2010/main" val="18762216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CE3AA9A-B9E9-499B-8E6F-9FDC3206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LUỒNG THUẬT TOÁN M3 · SẮP XẾP VÀ HOÀN TÁC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F90A9C1-33F0-4CCC-A1A5-399F1EE8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17F8F-B096-4AEC-AA9E-8AF84157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66875"/>
            <a:ext cx="1333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EAF2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FF420-646F-4BA8-8085-752007CF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Chọn thuật toán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E77D3-EE05-4B5B-9919-F94DE11C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66875"/>
            <a:ext cx="1381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A7733-79CF-49A3-B8F1-A18A03DF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695450"/>
            <a:ext cx="13049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Chọn khóa + chiều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9E6C7-1086-41C2-86D8-3FD43087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66875"/>
            <a:ext cx="1571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F7A2C-007B-4361-B6CA-EA0D1A1A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695450"/>
            <a:ext cx="14954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TaoHamSoSanh()</a:t>
            </a:r>
          </a:p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Comparison&lt;ThietBi&gt;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25A6B-00EB-4EA3-8F8C-CDE935DF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666875"/>
            <a:ext cx="123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CFEDC-AA28-4585-AE7A-5620341E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1695450"/>
            <a:ext cx="1162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SapXep&lt;T&gt;()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in-place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44FFC-A591-4B1C-84D3-76A6825A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66875"/>
            <a:ext cx="1285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9D058-2E65-4523-A7F8-F8292167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95450"/>
            <a:ext cx="1209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LuuDuLieu()</a:t>
            </a:r>
          </a:p>
        </p:txBody>
      </p:sp>
      <p:cxnSp>
        <p:nvCxnSpPr>
          <p:cNvPr id="14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809750" y="19431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cxnSp>
        <p:nvCxnSpPr>
          <p:cNvPr id="1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524250" y="19431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cxnSp>
        <p:nvCxnSpPr>
          <p:cNvPr id="1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429250" y="19431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cxnSp>
        <p:nvCxnSpPr>
          <p:cNvPr id="17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000875" y="19431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14DBB3-5969-45BF-B788-132CAEC2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48000"/>
            <a:ext cx="2571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9FFC6B-AE77-4716-87AD-7D231654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076575"/>
            <a:ext cx="2495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Thành công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KhoaDaSapXep = khóa đã chọn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→ cho phép M4 tìm nhị phân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4899C3-74A4-4854-918C-3F340504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48000"/>
            <a:ext cx="2571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1430">
            <a:solidFill>
              <a:srgbClr val="F05D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727AB2-0F17-45FC-AB90-E41FF07E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076575"/>
            <a:ext cx="2495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8323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B83232"/>
                </a:solidFill>
                <a:latin typeface="Calibri"/>
                <a:ea typeface="Calibri"/>
                <a:cs typeface="Calibri"/>
              </a:rPr>
              <a:t>Thất bại</a:t>
            </a:r>
          </a:p>
          <a:p xmlns:a="http://schemas.openxmlformats.org/drawingml/2006/main">
            <a:pPr algn="ctr">
              <a:defRPr sz="1050" b="1">
                <a:solidFill>
                  <a:srgbClr val="B8323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B83232"/>
                </a:solidFill>
                <a:latin typeface="Calibri"/>
                <a:ea typeface="Calibri"/>
                <a:cs typeface="Calibri"/>
              </a:rPr>
              <a:t>Clear + AddRange(thuTuCu)</a:t>
            </a:r>
          </a:p>
          <a:p xmlns:a="http://schemas.openxmlformats.org/drawingml/2006/main">
            <a:pPr algn="ctr">
              <a:defRPr sz="1050" b="1">
                <a:solidFill>
                  <a:srgbClr val="B8323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B83232"/>
                </a:solidFill>
                <a:latin typeface="Calibri"/>
                <a:ea typeface="Calibri"/>
                <a:cs typeface="Calibri"/>
              </a:rPr>
              <a:t>→ phục hồi thứ tự trước sắp xếp</a:t>
            </a:r>
          </a:p>
        </p:txBody>
      </p:sp>
      <p:cxnSp>
        <p:nvCxnSpPr>
          <p:cNvPr id="22" name=""/>
          <p:cNvCxnSpPr>
            <a:stCxn xmlns:a="http://schemas.openxmlformats.org/drawingml/2006/main" id="12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2857500" y="2219325"/>
            <a:ext cx="5119688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28090"/>
            </a:solidFill>
            <a:prstDash val="solid"/>
          </a:ln>
        </p:spPr>
      </p:cxnSp>
      <p:cxnSp>
        <p:nvCxnSpPr>
          <p:cNvPr id="23" name=""/>
          <p:cNvCxnSpPr>
            <a:stCxn xmlns:a="http://schemas.openxmlformats.org/drawingml/2006/main" id="12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6286500" y="2219325"/>
            <a:ext cx="1690688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F05D5E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3F05E5-DC66-485A-BE18-533B4C3F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822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Delegate Comparison&lt;T&gt; tách thuật toán khỏi khóa dữ liệu, giúp 5 thuật toán dùng chung một cơ chế so sánh.</a:t>
            </a:r>
          </a:p>
        </p:txBody>
      </p:sp>
    </p:spTree>
    <p:extLst>
      <p:ext uri="{BB962C8B-B14F-4D97-AF65-F5344CB8AC3E}">
        <p14:creationId xmlns:p14="http://schemas.microsoft.com/office/powerpoint/2010/main" val="20160429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CE3AA9A-B9E9-499B-8E6F-9FDC3206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SO SÁNH 5 THUẬT TOÁN SẮP XẾP TRONG MÃ NGUỒN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F90A9C1-33F0-4CCC-A1A5-399F1EE8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DA3CD-0209-4AC3-9B8E-23001522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Thuật toán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C98FE-9FC3-4312-98E1-47122938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095375"/>
            <a:ext cx="1666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Tốt nhất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60509-4745-4205-BDE4-FE3707E3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095375"/>
            <a:ext cx="1666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Trung bình / xấu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96111-6093-43EE-B4AA-E32070BC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095375"/>
            <a:ext cx="1571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Bộ nhớ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72AF6-2A41-4BB5-BBCB-574D7E17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095375"/>
            <a:ext cx="14001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Đặc điểm cài đặt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0FF18-4015-444A-96BA-38425FEE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33525"/>
            <a:ext cx="192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Selection Sort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290D5-5994-4BF7-B196-BFC511A2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33525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O(n²)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68C6E-2397-43B8-A7F3-3561901B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533525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O(n²)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C2F02-DF7B-4E27-8551-C286183F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33525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O(1)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0BAF4-F403-49B8-964F-F1F03DCB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533525"/>
            <a:ext cx="14001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Ít hoán đổi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53936-E1EA-46AC-91AD-9A50EF18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192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Insertion Sort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471F94-E96E-4EA3-9818-07E12FC1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24075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O(n)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5C0488-5FBF-471C-A4D0-70E2116B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24075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O(n²)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654580-D490-49B5-821D-6357CD5F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24075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O(1)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73AD30-5831-463C-9ED6-BAAB854E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24075"/>
            <a:ext cx="14001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Tốt khi gần có thứ tự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21646-7697-45F8-903A-D1FA380D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192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Bubble Sort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2E998B-AF62-49E4-96E2-7D8FE05E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O(n)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4983F0-FF59-480F-8C75-098FB9C9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14625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O(n²)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80A2FB-0329-4667-B81F-1399AC34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14625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O(1)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46B3F5-CE38-4C3B-917A-DC968945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14625"/>
            <a:ext cx="14001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Dừng sớm bằng cờ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DD0A0B-3961-4BEE-90F3-9867AC65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05175"/>
            <a:ext cx="192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Quick Sort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654C60-4C7A-4E12-8A82-519C2051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05175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O(n log n)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15891A-8F8A-44B5-859D-FEFB49DA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305175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O(n log n) / O(n²)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6F3884-FC7E-488E-8E5C-F9D16014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05175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O(log n)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7FE69D-08D1-44E5-9B32-82EE0C51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05175"/>
            <a:ext cx="14001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Pivot giữa, Hoare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F410CA-78B3-4155-8CC4-7BDC00C8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95725"/>
            <a:ext cx="192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Merge Sort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33478E-DA11-48D1-B1C6-F5B03E79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95725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O(n log n)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D8A73B-BEA3-421B-98DB-22A3B960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95725"/>
            <a:ext cx="166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O(n log n)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FFD62E-C47F-4CEB-9F06-E271C3A7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95725"/>
            <a:ext cx="1571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O(n)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75369D-01DC-49C7-84EE-0866E485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95725"/>
            <a:ext cx="14001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0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D3748"/>
                </a:solidFill>
                <a:latin typeface="Calibri"/>
                <a:ea typeface="Calibri"/>
                <a:cs typeface="Calibri"/>
              </a:defRPr>
            </a:pPr>
            <a:r>
              <a:rPr sz="938" b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Ổn định, cần mảng tạm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3286DF-1287-4F7F-861A-0F57EF49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822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Quick Sort và Merge Sort phù hợp dữ liệu lớn hơn; ba thuật toán O(n²) phục vụ yêu cầu học thuật và đối chiếu.</a:t>
            </a:r>
          </a:p>
        </p:txBody>
      </p:sp>
    </p:spTree>
    <p:extLst>
      <p:ext uri="{BB962C8B-B14F-4D97-AF65-F5344CB8AC3E}">
        <p14:creationId xmlns:p14="http://schemas.microsoft.com/office/powerpoint/2010/main" val="20160429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CE3AA9A-B9E9-499B-8E6F-9FDC3206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LUỒNG QUYẾT ĐỊNH M4 · TÌM KIẾM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F90A9C1-33F0-4CCC-A1A5-399F1EE8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903DB-B98D-4810-91BB-A45E6F41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161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EAF2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2E56D-F051-42E0-A0CA-9B94A270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028825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Nhập từ khóa + khóa tìm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E586F-F759-43C6-B4E0-7D954F2E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002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12EA4-ECFA-4266-83E2-E5B4A679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28825"/>
            <a:ext cx="1352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Chọn thuật toán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853FC-DE03-4CE0-81A4-903F6DB8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000125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B0104-EE58-48E6-BF1D-8E93D6F2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028700"/>
            <a:ext cx="1924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TÌM TUẦN TỰ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Chuẩn hóa không dấu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Duyệt toàn danh sách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797B1-3265-4EAB-95E4-BF12AF66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762250"/>
            <a:ext cx="2000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B6768-8235-43BD-9111-3CF5B6B1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790825"/>
            <a:ext cx="1924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KhoaDaSapXep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có trùng khóa tìm?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18C8DC-1ABD-4184-826F-C6617518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28875"/>
            <a:ext cx="1428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E570E-4A92-4190-9932-9B32ADC0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57450"/>
            <a:ext cx="13525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TÌM NHỊ PHÂN</a:t>
            </a:r>
          </a:p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Chuỗi → suffix index</a:t>
            </a:r>
          </a:p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Số/ngày → chính xác</a:t>
            </a:r>
          </a:p>
        </p:txBody>
      </p:sp>
      <p:cxnSp>
        <p:nvCxnSpPr>
          <p:cNvPr id="14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43125" y="22955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cxnSp>
        <p:nvCxnSpPr>
          <p:cNvPr id="1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4000500" y="1476375"/>
            <a:ext cx="904875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28090"/>
            </a:solidFill>
            <a:prstDash val="solid"/>
          </a:ln>
        </p:spPr>
      </p:cxnSp>
      <p:cxnSp>
        <p:nvCxnSpPr>
          <p:cNvPr id="16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000500" y="2295525"/>
            <a:ext cx="904875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B5CF6"/>
            </a:solidFill>
            <a:prstDash val="solid"/>
          </a:ln>
        </p:spPr>
      </p:cxnSp>
      <p:cxnSp>
        <p:nvCxnSpPr>
          <p:cNvPr id="17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6905625" y="2976563"/>
            <a:ext cx="428625" cy="166688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D97706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F1A02E-A36A-4F7C-A419-AEE41D9C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382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28090"/>
                </a:solidFill>
                <a:latin typeface="Calibri"/>
                <a:ea typeface="Calibri"/>
                <a:cs typeface="Calibri"/>
              </a:defRPr>
            </a:pPr>
            <a:r>
              <a:rPr sz="863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Không cần sắp xếp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2661EC-BD84-4968-B348-48E54FE1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5D5E"/>
                </a:solidFill>
                <a:latin typeface="Calibri"/>
                <a:ea typeface="Calibri"/>
                <a:cs typeface="Calibri"/>
              </a:defRPr>
            </a:pPr>
            <a:r>
              <a:rPr sz="900" b="1">
                <a:solidFill>
                  <a:srgbClr val="F05D5E"/>
                </a:solidFill>
                <a:latin typeface="Calibri"/>
                <a:ea typeface="Calibri"/>
                <a:cs typeface="Calibri"/>
              </a:rPr>
              <a:t>Nếu không trùng khóa → cảnh báo và dừng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498701-F260-4A2E-A851-562B3B63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822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Kết quả được lưu vào MainForm.KetQuaTimKiemM4 để M2 hiển thị và phân trang.</a:t>
            </a:r>
          </a:p>
        </p:txBody>
      </p:sp>
    </p:spTree>
    <p:extLst>
      <p:ext uri="{BB962C8B-B14F-4D97-AF65-F5344CB8AC3E}">
        <p14:creationId xmlns:p14="http://schemas.microsoft.com/office/powerpoint/2010/main" val="20160429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CE3AA9A-B9E9-499B-8E6F-9FDC3206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TÌM MỘT PHẦN CHUỖI BẰNG CHỈ MỤC HẬU TỐ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F90A9C1-33F0-4CCC-A1A5-399F1EE8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6A55F-40BB-4CF7-8676-6588FE6E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Ví dụ giá trị đã chuẩn hóa:  “sung ak47”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42864-CF42-4933-BF86-4764CE73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5716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24FC0-D509-451A-B32D-06E29697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1495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sung ak47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06F60-780E-4A04-9943-54A8D427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5716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6231C-6441-4756-A258-023EB185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1495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ung ak47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957E8-CC8A-4AAE-8693-551909E9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5716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BCD025-F2B5-483A-BF50-75769AED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495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ng ak47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0EA4D9-6745-4FF3-8116-73190F14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5716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5D67D-812C-49A1-A4A0-A4ED582C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495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 ak47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2AB61-EE55-4C67-910D-C1407373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5716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D909D-4D68-4DC0-A697-5245CBAB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14954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ak47 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506C5-C1F3-431F-A7F8-D3D4C823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14500"/>
            <a:ext cx="2095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8EAF2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DDBA7-6C9F-4EE5-A8EE-C30BC0C8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43075"/>
            <a:ext cx="2019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1. Tạo mọi hậu tố</a:t>
            </a:r>
          </a:p>
          <a:p xmlns:a="http://schemas.openxmlformats.org/drawingml/2006/main">
            <a:pPr algn="ctr">
              <a:defRPr sz="112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2. Gắn chỉ số bản ghi</a:t>
            </a:r>
          </a:p>
          <a:p xmlns:a="http://schemas.openxmlformats.org/drawingml/2006/main">
            <a:pPr algn="ctr">
              <a:defRPr sz="112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3. Sắp xếp theo Ordinal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A3318-AC1A-4791-A66B-FB4B471D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23336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CE4342-FA4E-4FA4-A7DE-7870355E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09700"/>
            <a:ext cx="22574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Binary lower_bound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Tìm hậu tố đầu tiên ≥ “sung”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6DE804-4344-4C4C-A931-E06EA29F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24125"/>
            <a:ext cx="23336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2C28D-4687-4E77-B147-85269F4A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22574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Duyệt các hậu tố StartsWith(“sung”)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→ HashSet chỉ số thiết bị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126A6B-742C-4283-B440-CA6EF8AD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67125"/>
            <a:ext cx="23336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9D9B08-4E88-4DB9-9624-A158D4D7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95700"/>
            <a:ext cx="22574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Nhiều từ khóa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IntersectWith() các tập kết quả</a:t>
            </a:r>
          </a:p>
        </p:txBody>
      </p:sp>
      <p:cxnSp>
        <p:nvCxnSpPr>
          <p:cNvPr id="23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5334000" y="1738313"/>
            <a:ext cx="857250" cy="595313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28090"/>
            </a:solidFill>
            <a:prstDash val="solid"/>
          </a:ln>
        </p:spPr>
      </p:cxnSp>
      <p:cxnSp>
        <p:nvCxnSpPr>
          <p:cNvPr id="24" name=""/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7358063" y="20955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D97706"/>
            </a:solidFill>
            <a:prstDash val="solid"/>
          </a:ln>
        </p:spPr>
      </p:cxnSp>
      <p:cxnSp>
        <p:nvCxnSpPr>
          <p:cNvPr id="25" name=""/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7358063" y="32385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8B5CF6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933389-0604-45A7-84E0-4E3A9EE3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822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Cơ chế này biến bài toán chứa chuỗi thành tìm tiền tố trên tập hậu tố đã sắp xếp.</a:t>
            </a:r>
          </a:p>
        </p:txBody>
      </p:sp>
    </p:spTree>
    <p:extLst>
      <p:ext uri="{BB962C8B-B14F-4D97-AF65-F5344CB8AC3E}">
        <p14:creationId xmlns:p14="http://schemas.microsoft.com/office/powerpoint/2010/main" val="20160429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B888383-B5B4-4B21-B33B-1E173939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THỐNG KÊ, XUẤT DỮ LIỆU &amp; BẢO VỆ DỮ LIỆU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5D93DAE-DBD3-4681-88E8-F15FFC7D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5ED0502-D052-44EA-9809-2315B957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60120"/>
            <a:ext cx="1920240" cy="100584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8900586-1599-4F67-A19F-A8D604C8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33272"/>
            <a:ext cx="1920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234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CD29A5F-DB1B-4FF2-8709-BE6C62E0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572768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Hồ sơ thiết bị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10A3D51-254E-4097-855A-69BEEB86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960120"/>
            <a:ext cx="1920240" cy="100584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8AD6DAA-8CD4-407A-9E67-0272735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033272"/>
            <a:ext cx="1920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41.449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44798A-95B2-4892-A943-29688462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1572768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Tổng số lượng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488FBCE-6ED3-4B6D-AA0A-49BA7485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60120"/>
            <a:ext cx="1920240" cy="100584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1FBD0BB-4534-426D-8553-DB54D1AB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033272"/>
            <a:ext cx="1920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13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9368722-6AA0-49E3-BF32-A9AB53CC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72768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Chủng loại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4DEC8B9-7A63-409A-95AA-70C98191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960120"/>
            <a:ext cx="1920240" cy="100584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3EC5926-C711-4E41-A17E-25151AD1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033272"/>
            <a:ext cx="19202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94ABA9F-7331-4878-B664-1A3F41EA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572768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Nguồn cấp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F9D1011-07A5-44B5-9B30-F995447E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148840"/>
            <a:ext cx="2651760" cy="26060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961921C-6294-4699-9BD0-ED8AEC97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258568"/>
            <a:ext cx="73152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BA64201-8771-44D3-B3B3-5A1F6C2E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258568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Thống kê (M5)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A9BEFED-C00B-4B34-9E3A-511CA588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2596896"/>
            <a:ext cx="2395728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Char char="•"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Gom nhóm theo cấp / chủng loại / nguồn</a:t>
            </a:r>
          </a:p>
          <a:p xmlns:a="http://schemas.openxmlformats.org/drawingml/2006/main">
            <a:pPr marL="342900" indent="-342900">
              <a:spcAft>
                <a:spcPts val="500"/>
              </a:spcAft>
              <a:buChar char="•"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Dictionary không phân biệt hoa thường</a:t>
            </a:r>
          </a:p>
          <a:p xmlns:a="http://schemas.openxmlformats.org/drawingml/2006/main">
            <a:pPr marL="342900" indent="-342900">
              <a:spcAft>
                <a:spcPts val="500"/>
              </a:spcAft>
              <a:buChar char="•"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Đếm chủng loại bằng HashSet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A274606-EBEF-4B5C-B1AD-26F7098B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48840"/>
            <a:ext cx="2651760" cy="26060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6293E3C-03A4-4BA8-A0D1-300941B8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2258568"/>
            <a:ext cx="73152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B9D0C20-B07D-4AF4-A256-DFC303F0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2258568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Xuất CSV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21B957C-9E4F-4289-9A2A-650733A2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2596896"/>
            <a:ext cx="2395728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Char char="•"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UTF-8 BOM → Excel hiển thị đúng tiếng Việt</a:t>
            </a:r>
          </a:p>
          <a:p xmlns:a="http://schemas.openxmlformats.org/drawingml/2006/main">
            <a:pPr marL="342900" indent="-342900">
              <a:spcAft>
                <a:spcPts val="500"/>
              </a:spcAft>
              <a:buChar char="•"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Mọi ô trong dấu ngoặc kép</a:t>
            </a:r>
          </a:p>
          <a:p xmlns:a="http://schemas.openxmlformats.org/drawingml/2006/main">
            <a:pPr marL="342900" indent="-342900">
              <a:spcAft>
                <a:spcPts val="500"/>
              </a:spcAft>
              <a:buChar char="•"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Nhân đôi dấu ngoặc kép bên trong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7AE08A8-E9F6-4677-B981-487A41FA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148840"/>
            <a:ext cx="2651760" cy="260604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6E74A9F1-612A-4F5E-A41F-859ED463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258568"/>
            <a:ext cx="73152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12700">
            <a:solidFill>
              <a:srgbClr val="8B5CF6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32AD26C-255C-4C0F-B1C1-8BF72348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258568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Backup / Restore JSON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A506300-5464-4545-BA1B-DD7C3F61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2596896"/>
            <a:ext cx="2395728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500"/>
              </a:spcAft>
              <a:buChar char="•"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Sao chép data.json thành file backup JSON</a:t>
            </a:r>
          </a:p>
          <a:p xmlns:a="http://schemas.openxmlformats.org/drawingml/2006/main">
            <a:pPr marL="342900" indent="-342900">
              <a:spcAft>
                <a:spcPts val="500"/>
              </a:spcAft>
              <a:buChar char="•"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Kiểm tra toàn bộ danh sách trước khi khôi phục</a:t>
            </a:r>
          </a:p>
          <a:p xmlns:a="http://schemas.openxmlformats.org/drawingml/2006/main">
            <a:pPr marL="342900" indent="-342900">
              <a:spcAft>
                <a:spcPts val="500"/>
              </a:spcAft>
              <a:buChar char="•"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Từ chối bản ghi null, trùng, sai số lượng/ngày</a:t>
            </a:r>
          </a:p>
        </p:txBody>
      </p:sp>
    </p:spTree>
    <p:extLst>
      <p:ext uri="{BB962C8B-B14F-4D97-AF65-F5344CB8AC3E}">
        <p14:creationId xmlns:p14="http://schemas.microsoft.com/office/powerpoint/2010/main" val="12656547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CE3AA9A-B9E9-499B-8E6F-9FDC3206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VALIDATION DÙNG CHUNG KHI ĐỌC VÀ KHÔI PHỤC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F90A9C1-33F0-4CCC-A1A5-399F1EE8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2DE5F-73DD-4CAC-B2A5-03E9D690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3825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EAF2"/>
          </a:solidFill>
          <a:ln xmlns:a="http://schemas.openxmlformats.org/drawingml/2006/main" w="11430">
            <a:solidFill>
              <a:srgbClr val="1E276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668B2-4AC7-43F4-9A71-B87519D9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266825"/>
            <a:ext cx="1733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Khởi động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ThuDocDuLieu()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F802A-9373-45FD-8A53-410F8325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0F945-16C9-4A52-9108-8F86B90F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71825"/>
            <a:ext cx="1733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Khôi phục</a:t>
            </a:r>
          </a:p>
          <a:p xmlns:a="http://schemas.openxmlformats.org/drawingml/2006/main">
            <a:pPr algn="ctr">
              <a:defRPr sz="105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file backup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B5EA8-D8E1-452C-BB54-A951DEBD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47875"/>
            <a:ext cx="2667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D2E55-8DD6-4378-B800-7011DB06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76450"/>
            <a:ext cx="2590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MainForm.KiemTraDuLieuDanhSach()</a:t>
            </a:r>
          </a:p>
          <a:p xmlns:a="http://schemas.openxmlformats.org/drawingml/2006/main">
            <a:pPr algn="ctr">
              <a:defRPr sz="1200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IReadOnlyList&lt;ThietBi?&gt;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B20D3-7C4D-4CFD-A398-722BC517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81125"/>
            <a:ext cx="2143125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E3F3F4"/>
          </a:solidFill>
          <a:ln xmlns:a="http://schemas.openxmlformats.org/drawingml/2006/main" w="11430">
            <a:solidFill>
              <a:srgbClr val="02809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8D954-FA4C-4B6A-BC26-84B5DA56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409700"/>
            <a:ext cx="20669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Bản ghi null / trường rỗng</a:t>
            </a:r>
          </a:p>
          <a:p xmlns:a="http://schemas.openxmlformats.org/drawingml/2006/main">
            <a:pPr algn="l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Mã TTBxxx và không trùng</a:t>
            </a:r>
          </a:p>
          <a:p xmlns:a="http://schemas.openxmlformats.org/drawingml/2006/main">
            <a:pPr algn="l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Số hiệu không trùng</a:t>
            </a:r>
          </a:p>
          <a:p xmlns:a="http://schemas.openxmlformats.org/drawingml/2006/main">
            <a:pPr algn="l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Số lượng &gt; 0, cấp 1–5</a:t>
            </a:r>
          </a:p>
          <a:p xmlns:a="http://schemas.openxmlformats.org/drawingml/2006/main">
            <a:pPr algn="l">
              <a:defRPr sz="975" b="1">
                <a:solidFill>
                  <a:srgbClr val="1E2761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• Ngày hợp lệ và không vượt hiện tại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4913A-CC22-4738-AD19-CB2B8F2E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76625"/>
            <a:ext cx="2143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1F1"/>
          </a:solidFill>
          <a:ln xmlns:a="http://schemas.openxmlformats.org/drawingml/2006/main" w="11430">
            <a:solidFill>
              <a:srgbClr val="F05D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BF9FB-8139-4D60-8E1E-5259F58A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505200"/>
            <a:ext cx="20669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8323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B83232"/>
                </a:solidFill>
                <a:latin typeface="Calibri"/>
                <a:ea typeface="Calibri"/>
                <a:cs typeface="Calibri"/>
              </a:rPr>
              <a:t>Dữ liệu lỗi</a:t>
            </a:r>
          </a:p>
          <a:p xmlns:a="http://schemas.openxmlformats.org/drawingml/2006/main">
            <a:pPr algn="ctr">
              <a:defRPr sz="1050" b="1">
                <a:solidFill>
                  <a:srgbClr val="B8323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B83232"/>
                </a:solidFill>
                <a:latin typeface="Calibri"/>
                <a:ea typeface="Calibri"/>
                <a:cs typeface="Calibri"/>
              </a:rPr>
              <a:t>→ từ chối nạp</a:t>
            </a:r>
          </a:p>
          <a:p xmlns:a="http://schemas.openxmlformats.org/drawingml/2006/main">
            <a:pPr algn="ctr">
              <a:defRPr sz="1050" b="1">
                <a:solidFill>
                  <a:srgbClr val="B83232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B83232"/>
                </a:solidFill>
                <a:latin typeface="Calibri"/>
                <a:ea typeface="Calibri"/>
                <a:cs typeface="Calibri"/>
              </a:rPr>
              <a:t>→ khóa chức năng lưu</a:t>
            </a:r>
          </a:p>
        </p:txBody>
      </p:sp>
      <p:cxnSp>
        <p:nvCxnSpPr>
          <p:cNvPr id="14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28875" y="1533525"/>
            <a:ext cx="809625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cxnSp>
        <p:nvCxnSpPr>
          <p:cNvPr id="1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428875" y="2486025"/>
            <a:ext cx="809625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718096"/>
            </a:solidFill>
            <a:prstDash val="solid"/>
          </a:ln>
        </p:spPr>
      </p:cxnSp>
      <p:cxnSp>
        <p:nvCxnSpPr>
          <p:cNvPr id="1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5905500" y="2262188"/>
            <a:ext cx="619125" cy="223838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28090"/>
            </a:solidFill>
            <a:prstDash val="solid"/>
          </a:ln>
        </p:spPr>
      </p:cxnSp>
      <p:cxnSp>
        <p:nvCxnSpPr>
          <p:cNvPr id="17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596188" y="314325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F05D5E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B13B79-5F60-4C2C-9A47-6387FE57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822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Danh sách khởi động có thể rỗng; backup khôi phục phải chứa ít nhất một bản ghi.</a:t>
            </a:r>
          </a:p>
        </p:txBody>
      </p:sp>
    </p:spTree>
    <p:extLst>
      <p:ext uri="{BB962C8B-B14F-4D97-AF65-F5344CB8AC3E}">
        <p14:creationId xmlns:p14="http://schemas.microsoft.com/office/powerpoint/2010/main" val="20160429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908230-3C1F-4D38-9ACF-237F5E3D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ƯU ĐIỂM NỔI BẬT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5B0FD30-BC4E-4093-AFA8-19FFF77F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A530DB7-D668-4968-AB8F-4CD03351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6012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B1CE67-740D-4464-84AE-9A0BDF89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069848"/>
            <a:ext cx="384048" cy="347472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1EBB5F5-8A18-467E-881B-32867DE9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069848"/>
            <a:ext cx="38404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✔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7B09125-AF11-4C8E-BCAC-D69CB806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051560"/>
            <a:ext cx="34747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Cài đặt thủ công 5 thuật toán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CE1E433-1A27-4461-B040-24C45DC2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43560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Selection, Insertion, Bubble, Quick Sort, Merge Sort — dùng Comparison&lt;T&gt; generic, có thể sắp theo mọi khóa.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E72DC4A-CB01-48A0-A0D5-B285B7EB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96012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3F83DCE-25FC-4508-B394-D3DD2917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069848"/>
            <a:ext cx="384048" cy="347472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84BF8D4-0A13-4877-809D-9C002013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1069848"/>
            <a:ext cx="38404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✔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9AA1256-0333-4EEB-BFBC-1C148044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051560"/>
            <a:ext cx="34747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Tìm kiếm linh hoạt không dấu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B94CCF5-85B0-435A-973A-09284BA8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43560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Một phần chuỗi, nhiều từ, không phân biệt dấu/hoa thường. Hỗ trợ cả chỉ mục hậu tố cho chuỗi tiếng Việt.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F08BF36-BF2C-4984-8EC3-7191D63C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28600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15E1650-4E21-47D1-8DC0-34AB7946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395728"/>
            <a:ext cx="384048" cy="347472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787BF7B-6243-4E47-AC56-1133660A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395728"/>
            <a:ext cx="38404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✔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4E416EC-7897-4578-BB4B-6C71A72E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77440"/>
            <a:ext cx="34747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Bảo toàn dữ liệu vững chắc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08C6079-4BC0-4B7B-B7D2-AB794CE4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76148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Ghi qua file tạm .tmp; hoàn tác trong bộ nhớ khi lưu thất bại; khóa ghi nếu JSON lỗi khi khởi động.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84A7634-7C44-41C0-BC8D-E7EB21E8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28600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138AC33-5F04-42EC-881F-7A1227EA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395728"/>
            <a:ext cx="384048" cy="347472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B510D85-5696-42B7-9649-49EF2F2E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2395728"/>
            <a:ext cx="38404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✔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85F367C-2A0B-469D-A0F4-843A5159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377440"/>
            <a:ext cx="34747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Validation đầy đủ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DCF4FCC-92F1-4DF9-8EAD-003FA1A5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276148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Chống trùng mã TTB, số hiệu; kiểm tra ngày, số lượng, cấp; kiểm tra backup trước khi khôi phục.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8341F4E-160D-41E8-BFA3-E337A988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1188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9D24234A-5B43-435C-BE82-25C8184E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721608"/>
            <a:ext cx="384048" cy="347472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FEF5B1B-E9B3-40CB-9C49-C600C44D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721608"/>
            <a:ext cx="38404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✔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3ADE630-4E73-4E8C-9F5D-53E01C8E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703320"/>
            <a:ext cx="34747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Trao đổi dữ liệu với Excel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C81196E-B7C4-4B43-8311-AE858DF1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8736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Xuất CSV UTF-8 BOM, đúng tiếng Việt. Backup/Restore JSON có kiểm tra nghiệp vụ toàn diện.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3035434-A1DA-4638-877E-FA61CD03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611880"/>
            <a:ext cx="4160520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F66AB692-5277-42CE-965F-7E79EF53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3721608"/>
            <a:ext cx="384048" cy="347472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E9694E5B-32B5-41BF-8D04-94028088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8888" y="3721608"/>
            <a:ext cx="38404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✔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CE21015-A400-45C7-B956-048EB550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703320"/>
            <a:ext cx="34747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Giao diện rõ ràng, module hóa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BC29D84-913A-46BE-8CC3-D1C2AEF8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4087368"/>
            <a:ext cx="384048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M1–M5 tách biệt thành UserControl; MainForm điều hướng, giữ trạng thái và kiểm tra dữ liệu chung.</a:t>
            </a:r>
          </a:p>
        </p:txBody>
      </p:sp>
    </p:spTree>
    <p:extLst>
      <p:ext uri="{BB962C8B-B14F-4D97-AF65-F5344CB8AC3E}">
        <p14:creationId xmlns:p14="http://schemas.microsoft.com/office/powerpoint/2010/main" val="1922054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48BA0B-6ED2-44A7-BF36-AD025AF8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HẠN CHẾ &amp; HƯỚNG PHÁT TRIỂN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BB760E-D2A5-476D-B3DB-CB59A659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77240"/>
            <a:ext cx="8229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F906029-69E3-4A60-875D-9884E7D1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960120"/>
            <a:ext cx="4069080" cy="379476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9445F11-148A-471F-B55C-E3266998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42416"/>
            <a:ext cx="3749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96167"/>
                </a:solidFill>
                <a:latin typeface="Calibri"/>
                <a:ea typeface="Calibri"/>
                <a:cs typeface="Calibri"/>
              </a:rPr>
              <a:t>Hạn chế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28A1EB5-737F-4D99-84CC-A02D583D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44752"/>
            <a:ext cx="3794760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400"/>
              </a:spcAft>
              <a:buChar char="•"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Chỉ phục vụ một người dùng, chưa có phân quyền</a:t>
            </a:r>
          </a:p>
          <a:p xmlns:a="http://schemas.openxmlformats.org/drawingml/2006/main">
            <a:pPr marL="342900" indent="-342900">
              <a:spcAft>
                <a:spcPts val="400"/>
              </a:spcAft>
              <a:buChar char="•"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Dữ liệu JSON chưa phù hợp môi trường nhiều người</a:t>
            </a:r>
          </a:p>
          <a:p xmlns:a="http://schemas.openxmlformats.org/drawingml/2006/main">
            <a:pPr marL="342900" indent="-342900">
              <a:spcAft>
                <a:spcPts val="400"/>
              </a:spcAft>
              <a:buChar char="•"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Đường dẫn file còn phụ thuộc vị trí máy chạy</a:t>
            </a:r>
          </a:p>
          <a:p xmlns:a="http://schemas.openxmlformats.org/drawingml/2006/main">
            <a:pPr marL="342900" indent="-342900">
              <a:spcAft>
                <a:spcPts val="400"/>
              </a:spcAft>
              <a:buChar char="•"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Thứ tự M3 chỉ giữ trong phiên (file lưu theo mã TTB)</a:t>
            </a:r>
          </a:p>
          <a:p xmlns:a="http://schemas.openxmlformats.org/drawingml/2006/main">
            <a:pPr marL="342900" indent="-342900">
              <a:spcAft>
                <a:spcPts val="400"/>
              </a:spcAft>
              <a:buChar char="•"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Chỉ mục hậu tố tạo lại mỗi lần – tốn bộ nhớ khi lớn</a:t>
            </a:r>
          </a:p>
          <a:p xmlns:a="http://schemas.openxmlformats.org/drawingml/2006/main">
            <a:pPr marL="342900" indent="-342900">
              <a:spcAft>
                <a:spcPts val="400"/>
              </a:spcAft>
              <a:buChar char="•"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Thuật toán O(n²) chậm khi số hồ sơ rất lớn</a:t>
            </a:r>
          </a:p>
          <a:p xmlns:a="http://schemas.openxmlformats.org/drawingml/2006/main">
            <a:pPr marL="342900" indent="-342900">
              <a:spcAft>
                <a:spcPts val="400"/>
              </a:spcAft>
              <a:buChar char="•"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Thống kê chỉ dạng bảng, chưa có biểu đồ</a:t>
            </a:r>
          </a:p>
          <a:p xmlns:a="http://schemas.openxmlformats.org/drawingml/2006/main">
            <a:pPr marL="342900" indent="-342900">
              <a:spcAft>
                <a:spcPts val="400"/>
              </a:spcAft>
              <a:buChar char="•"/>
            </a:pPr>
            <a:r>
              <a:rPr sz="110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Chưa có bộ unit test tự động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9EEE821-53FC-41AB-AC52-77D117A6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960120"/>
            <a:ext cx="4114800" cy="379476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  <a:effectLst xmlns:a="http://schemas.openxmlformats.org/drawingml/2006/main"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2D459EE-7AE5-476C-BE81-CE9FD811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042416"/>
            <a:ext cx="3840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Hướng phát triển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D352AA1-2C97-4216-899B-C9047A6A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63040"/>
            <a:ext cx="96012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2C39A"/>
          </a:solidFill>
          <a:ln xmlns:a="http://schemas.openxmlformats.org/drawingml/2006/main" w="12700">
            <a:solidFill>
              <a:srgbClr val="02C39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CCCCD0E-AAB9-434E-9319-06C9C9F7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6304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Ngắn hạn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2290017-1668-4F44-9E47-525CEE8C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64792"/>
            <a:ext cx="38404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Đường dẫn dữ liệu tương đối thay cho đường dẫn cố định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Ghi khôi phục qua file tạm để tăng tính nguyên tử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Sự kiện cập nhật trạng thái M4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3306678-183A-447F-9FCB-AB81E51F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14600"/>
            <a:ext cx="96012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28090"/>
          </a:solidFill>
          <a:ln xmlns:a="http://schemas.openxmlformats.org/drawingml/2006/main" w="12700">
            <a:solidFill>
              <a:srgbClr val="028090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8F5B038-7F57-49E6-8220-0E14135E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146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Trung hạn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19F19C3-566A-49D9-B42F-CA2CD7BB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16352"/>
            <a:ext cx="38404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Tách tầng lưu trữ / nghiệp vụ / UI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Unit test: sắp xếp, tìm kiếm, validation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Biểu đồ thống kê trực quan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14FF051-C905-47C5-82CC-E3216E02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66160"/>
            <a:ext cx="960120" cy="27432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6E8093A-684D-4013-BF55-1B4AD3B3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6616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Dài hạn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D11B39D-EAB9-4238-9E70-CD28B3EB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67912"/>
            <a:ext cx="38404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SQLite / SQL Server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Tài khoản, phân quyền, lịch sử</a:t>
            </a:r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C2B3A"/>
                </a:solidFill>
                <a:latin typeface="Calibri"/>
                <a:ea typeface="Calibri"/>
                <a:cs typeface="Calibri"/>
              </a:rPr>
              <a:t>Kiểm kê, điều chuyển, khấu hao</a:t>
            </a:r>
          </a:p>
        </p:txBody>
      </p:sp>
    </p:spTree>
    <p:extLst>
      <p:ext uri="{BB962C8B-B14F-4D97-AF65-F5344CB8AC3E}">
        <p14:creationId xmlns:p14="http://schemas.microsoft.com/office/powerpoint/2010/main" val="11823918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133367E-2564-499F-B18D-B9E9652A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74720"/>
            <a:ext cx="9144000" cy="1668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47">
              <a:alpha val="50000"/>
            </a:srgbClr>
          </a:solidFill>
          <a:ln xmlns:a="http://schemas.openxmlformats.org/drawingml/2006/main" w="12700">
            <a:solidFill>
              <a:srgbClr val="131A47">
                <a:alpha val="0"/>
              </a:srgbClr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C95042-FD08-4B6F-B587-A81AFAD2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4360"/>
            <a:ext cx="7772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spc="600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KẾT LUẬN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A436AD8-8059-4D51-B155-B020F559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43000"/>
            <a:ext cx="7772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Sản phẩm hoàn thành, kiến thức được vận dụng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B187172-B851-43D4-977F-C6F41A23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1828800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28090">
              <a:alpha val="22000"/>
            </a:srgbClr>
          </a:solidFill>
          <a:ln xmlns:a="http://schemas.openxmlformats.org/drawingml/2006/main"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9E25513-D550-4088-94C5-553BF63E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84832"/>
            <a:ext cx="1828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2C39A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9CF0862-F650-46DD-A1CA-2CDE6D58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79192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Chức năng M1–M6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hoàn chỉnh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868E1AD-2A42-43EC-843A-6B08ED6E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2011680"/>
            <a:ext cx="1828800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28090">
              <a:alpha val="22000"/>
            </a:srgbClr>
          </a:solidFill>
          <a:ln xmlns:a="http://schemas.openxmlformats.org/drawingml/2006/main"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872A3CD-7416-4059-A12C-D9AAAABF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2084832"/>
            <a:ext cx="1828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2C39A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DC53DE4-5703-4B51-9880-3377A5B1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52" y="2679192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Thuật toán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sắp xếp thủ công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A540248-CEC2-4E0B-B081-7820158E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011680"/>
            <a:ext cx="1828800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28090">
              <a:alpha val="22000"/>
            </a:srgbClr>
          </a:solidFill>
          <a:ln xmlns:a="http://schemas.openxmlformats.org/drawingml/2006/main"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79399F4-7976-40B5-A4B8-F5C29789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084832"/>
            <a:ext cx="1828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2C39A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850C10C-9D84-47B3-B5C6-396518AA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679192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Phương pháp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tìm kiếm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8D05BB3-62BA-4B6B-999A-E21134F9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011680"/>
            <a:ext cx="1828800" cy="132588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28090">
              <a:alpha val="22000"/>
            </a:srgbClr>
          </a:solidFill>
          <a:ln xmlns:a="http://schemas.openxmlformats.org/drawingml/2006/main" w="12700">
            <a:solidFill>
              <a:srgbClr val="028090">
                <a:alpha val="4500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322DD09-E4D5-4F42-B984-118D448E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084832"/>
            <a:ext cx="18288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02C39A"/>
                </a:solidFill>
                <a:latin typeface="Cambria"/>
                <a:ea typeface="Cambria"/>
                <a:cs typeface="Cambria"/>
              </a:rPr>
              <a:t>234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3E9483E-FD74-4F75-BACF-DB57BB4A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679192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Hồ sơ dữ liệu</a:t>
            </a:r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mẫu kiểm thử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6EC17BE-9B82-43A5-98E0-207C08D0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0"/>
            <a:ext cx="8046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i="1">
                <a:solidFill>
                  <a:srgbClr val="8EA6C8"/>
                </a:solidFill>
                <a:latin typeface="Calibri"/>
                <a:ea typeface="Calibri"/>
                <a:cs typeface="Calibri"/>
              </a:rPr>
              <a:t>Dự án vận dụng: cấu trúc dữ liệu · generic &amp; delegate · xử lý chuỗi Unicode · thao tác tệp · tư duy kiểm soát lỗi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0E3128D-C2E7-4241-8B3C-28CD3D4A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206240"/>
            <a:ext cx="8046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9C74F"/>
                </a:solidFill>
                <a:latin typeface="Calibri"/>
                <a:ea typeface="Calibri"/>
                <a:cs typeface="Calibri"/>
              </a:rPr>
              <a:t>Cảm ơn thầy và các bạn đã theo dõi!</a:t>
            </a:r>
          </a:p>
        </p:txBody>
      </p:sp>
    </p:spTree>
    <p:extLst>
      <p:ext uri="{BB962C8B-B14F-4D97-AF65-F5344CB8AC3E}">
        <p14:creationId xmlns:p14="http://schemas.microsoft.com/office/powerpoint/2010/main" val="94489469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2026-06-12T01:04:12.5550000Z</dcterms:created>
  <dcterms:modified xsi:type="dcterms:W3CDTF">2026-06-12T01:04:12.5550000Z</dcterms:modified>
</coreProperties>
</file>