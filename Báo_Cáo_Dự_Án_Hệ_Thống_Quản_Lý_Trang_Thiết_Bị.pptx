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Calibri" panose="020F0502020204030204" pitchFamily="34" charset="0"/>
      <p:regular r:id="rId13"/>
      <p:bold r:id="rId14"/>
      <p:italic r:id="rId15"/>
      <p:boldItalic r:id="rId16"/>
    </p:embeddedFont>
    <p:embeddedFont>
      <p:font typeface="EB Garamond" panose="00000500000000000000" pitchFamily="2" charset="0"/>
      <p:regular r:id="rId17"/>
      <p:bold r:id="rId18"/>
      <p:italic r:id="rId19"/>
      <p:boldItalic r:id="rId20"/>
    </p:embeddedFont>
    <p:embeddedFont>
      <p:font typeface="EB Garamond Medium" panose="00000600000000000000" pitchFamily="2" charset="0"/>
      <p:regular r:id="rId21"/>
      <p:bold r:id="rId22"/>
      <p:italic r:id="rId23"/>
      <p:boldItalic r:id="rId24"/>
    </p:embeddedFont>
    <p:embeddedFont>
      <p:font typeface="EB Garamond SemiBold" panose="00000700000000000000" pitchFamily="2" charset="0"/>
      <p:regular r:id="rId25"/>
      <p:bold r:id="rId26"/>
      <p:italic r:id="rId27"/>
      <p:boldItalic r:id="rId28"/>
    </p:embeddedFont>
    <p:embeddedFont>
      <p:font typeface="Playfair Display" panose="00000500000000000000" pitchFamily="2" charset="0"/>
      <p:regular r:id="rId29"/>
      <p:bold r:id="rId30"/>
      <p:boldItalic r:id="rId31"/>
    </p:embeddedFont>
    <p:embeddedFont>
      <p:font typeface="Space Grotesk" panose="020B0604020202020204" charset="0"/>
      <p:bold r:id="rId32"/>
    </p:embeddedFont>
    <p:embeddedFont>
      <p:font typeface="Space Grotesk Medium" panose="020B0604020202020204" charset="0"/>
      <p:regular r:id="rId33"/>
      <p:bold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jv6nvwA33VArAwQohVIcUXGwEu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74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9" Type="http://schemas.openxmlformats.org/officeDocument/2006/relationships/tableStyles" Target="tableStyles.xml"/><Relationship Id="rId21" Type="http://schemas.openxmlformats.org/officeDocument/2006/relationships/font" Target="fonts/font9.fntdata"/><Relationship Id="rId34" Type="http://schemas.openxmlformats.org/officeDocument/2006/relationships/font" Target="fonts/font22.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 name="Google Shape;25;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 name="Google Shape;26;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 name="Google Shape;4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9" name="Google Shape;20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
        <p:cNvGrpSpPr/>
        <p:nvPr/>
      </p:nvGrpSpPr>
      <p:grpSpPr>
        <a:xfrm>
          <a:off x="0" y="0"/>
          <a:ext cx="0" cy="0"/>
          <a:chOff x="0" y="0"/>
          <a:chExt cx="0" cy="0"/>
        </a:xfrm>
      </p:grpSpPr>
      <p:grpSp>
        <p:nvGrpSpPr>
          <p:cNvPr id="16" name="Google Shape;16;p1"/>
          <p:cNvGrpSpPr/>
          <p:nvPr/>
        </p:nvGrpSpPr>
        <p:grpSpPr>
          <a:xfrm>
            <a:off x="381000" y="381000"/>
            <a:ext cx="8382000" cy="4381500"/>
            <a:chOff x="381000" y="381000"/>
            <a:chExt cx="8382000" cy="4381500"/>
          </a:xfrm>
        </p:grpSpPr>
        <p:sp>
          <p:nvSpPr>
            <p:cNvPr id="17" name="Google Shape;17;p1"/>
            <p:cNvSpPr/>
            <p:nvPr/>
          </p:nvSpPr>
          <p:spPr>
            <a:xfrm>
              <a:off x="381000" y="381000"/>
              <a:ext cx="8382000" cy="4381500"/>
            </a:xfrm>
            <a:prstGeom prst="rect">
              <a:avLst/>
            </a:prstGeom>
            <a:solidFill>
              <a:srgbClr val="000000">
                <a:alpha val="0"/>
              </a:srgbClr>
            </a:solidFill>
            <a:ln w="14300" cap="flat" cmpd="sng">
              <a:solidFill>
                <a:srgbClr val="2C3E2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8" name="Google Shape;18;p1"/>
            <p:cNvSpPr/>
            <p:nvPr/>
          </p:nvSpPr>
          <p:spPr>
            <a:xfrm>
              <a:off x="476250" y="476250"/>
              <a:ext cx="8191500" cy="4191000"/>
            </a:xfrm>
            <a:prstGeom prst="rect">
              <a:avLst/>
            </a:prstGeom>
            <a:solidFill>
              <a:srgbClr val="000000">
                <a:alpha val="0"/>
              </a:srgbClr>
            </a:solidFill>
            <a:ln w="4775" cap="flat" cmpd="sng">
              <a:solidFill>
                <a:srgbClr val="2C3E2D"/>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sp>
        <p:nvSpPr>
          <p:cNvPr id="19" name="Google Shape;19;p1"/>
          <p:cNvSpPr txBox="1"/>
          <p:nvPr/>
        </p:nvSpPr>
        <p:spPr>
          <a:xfrm>
            <a:off x="762000" y="1238250"/>
            <a:ext cx="7620000" cy="1714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5600" b="1">
                <a:solidFill>
                  <a:srgbClr val="2C3E2D"/>
                </a:solidFill>
                <a:latin typeface="Playfair Display"/>
                <a:ea typeface="Playfair Display"/>
                <a:cs typeface="Playfair Display"/>
                <a:sym typeface="Playfair Display"/>
              </a:rPr>
              <a:t>HỆ THỐNG QUẢN LÝ</a:t>
            </a:r>
            <a:endParaRPr sz="5600" b="1">
              <a:solidFill>
                <a:srgbClr val="2C3E2D"/>
              </a:solidFill>
              <a:latin typeface="Playfair Display"/>
              <a:ea typeface="Playfair Display"/>
              <a:cs typeface="Playfair Display"/>
              <a:sym typeface="Playfair Display"/>
            </a:endParaRPr>
          </a:p>
          <a:p>
            <a:pPr marL="0" lvl="0" indent="0" algn="ctr" rtl="0">
              <a:spcBef>
                <a:spcPts val="0"/>
              </a:spcBef>
              <a:spcAft>
                <a:spcPts val="0"/>
              </a:spcAft>
              <a:buNone/>
            </a:pPr>
            <a:r>
              <a:rPr lang="en-US" sz="5600" b="1">
                <a:solidFill>
                  <a:srgbClr val="2C3E2D"/>
                </a:solidFill>
                <a:latin typeface="Playfair Display"/>
                <a:ea typeface="Playfair Display"/>
                <a:cs typeface="Playfair Display"/>
                <a:sym typeface="Playfair Display"/>
              </a:rPr>
              <a:t>TRANG THIẾT BỊ</a:t>
            </a:r>
            <a:endParaRPr sz="5600" b="1">
              <a:solidFill>
                <a:srgbClr val="2C3E2D"/>
              </a:solidFill>
              <a:latin typeface="Playfair Display"/>
              <a:ea typeface="Playfair Display"/>
              <a:cs typeface="Playfair Display"/>
              <a:sym typeface="Playfair Display"/>
            </a:endParaRPr>
          </a:p>
        </p:txBody>
      </p:sp>
      <p:cxnSp>
        <p:nvCxnSpPr>
          <p:cNvPr id="20" name="Google Shape;20;p1"/>
          <p:cNvCxnSpPr/>
          <p:nvPr/>
        </p:nvCxnSpPr>
        <p:spPr>
          <a:xfrm>
            <a:off x="3619500" y="3048000"/>
            <a:ext cx="1905000" cy="0"/>
          </a:xfrm>
          <a:prstGeom prst="straightConnector1">
            <a:avLst/>
          </a:prstGeom>
          <a:solidFill>
            <a:srgbClr val="FFFFFF"/>
          </a:solidFill>
          <a:ln w="19050" cap="rnd" cmpd="sng">
            <a:solidFill>
              <a:srgbClr val="7B9AAF"/>
            </a:solidFill>
            <a:prstDash val="solid"/>
            <a:round/>
            <a:headEnd type="none" w="sm" len="sm"/>
            <a:tailEnd type="none" w="sm" len="sm"/>
          </a:ln>
        </p:spPr>
      </p:cxnSp>
      <p:sp>
        <p:nvSpPr>
          <p:cNvPr id="21" name="Google Shape;21;p1"/>
          <p:cNvSpPr txBox="1"/>
          <p:nvPr/>
        </p:nvSpPr>
        <p:spPr>
          <a:xfrm>
            <a:off x="762000" y="3238500"/>
            <a:ext cx="7620000" cy="5715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0" i="1">
                <a:solidFill>
                  <a:srgbClr val="7B9AAF"/>
                </a:solidFill>
                <a:latin typeface="EB Garamond"/>
                <a:ea typeface="EB Garamond"/>
                <a:cs typeface="EB Garamond"/>
                <a:sym typeface="EB Garamond"/>
              </a:rPr>
              <a:t>Báo Cáo Dự Án Học Phần </a:t>
            </a:r>
            <a:r>
              <a:rPr lang="en-US" sz="2000" i="1">
                <a:solidFill>
                  <a:srgbClr val="7B9AAF"/>
                </a:solidFill>
                <a:latin typeface="EB Garamond"/>
                <a:ea typeface="EB Garamond"/>
                <a:cs typeface="EB Garamond"/>
                <a:sym typeface="EB Garamond"/>
              </a:rPr>
              <a:t>Dự Án</a:t>
            </a:r>
            <a:r>
              <a:rPr lang="en-US" sz="2000" b="0" i="1">
                <a:solidFill>
                  <a:srgbClr val="7B9AAF"/>
                </a:solidFill>
                <a:latin typeface="EB Garamond"/>
                <a:ea typeface="EB Garamond"/>
                <a:cs typeface="EB Garamond"/>
                <a:sym typeface="EB Garamond"/>
              </a:rPr>
              <a:t> Kỹ Thuật Lập Trình</a:t>
            </a:r>
            <a:endParaRPr sz="2000" b="0" i="1">
              <a:solidFill>
                <a:srgbClr val="7B9AAF"/>
              </a:solidFill>
              <a:latin typeface="EB Garamond"/>
              <a:ea typeface="EB Garamond"/>
              <a:cs typeface="EB Garamond"/>
              <a:sym typeface="EB Garamond"/>
            </a:endParaRPr>
          </a:p>
        </p:txBody>
      </p:sp>
      <p:sp>
        <p:nvSpPr>
          <p:cNvPr id="22" name="Google Shape;22;p1"/>
          <p:cNvSpPr txBox="1"/>
          <p:nvPr/>
        </p:nvSpPr>
        <p:spPr>
          <a:xfrm>
            <a:off x="762000" y="3905250"/>
            <a:ext cx="7620000" cy="381000"/>
          </a:xfrm>
          <a:prstGeom prst="rect">
            <a:avLst/>
          </a:prstGeom>
          <a:solidFill>
            <a:srgbClr val="000000">
              <a:alpha val="0"/>
            </a:srgbClr>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1300" b="0">
                <a:solidFill>
                  <a:srgbClr val="2C3E2D"/>
                </a:solidFill>
                <a:latin typeface="EB Garamond"/>
                <a:ea typeface="EB Garamond"/>
                <a:cs typeface="EB Garamond"/>
                <a:sym typeface="EB Garamond"/>
              </a:rPr>
              <a:t>Ngày báo cáo: 10/06/2026</a:t>
            </a:r>
            <a:endParaRPr sz="1300" b="0">
              <a:solidFill>
                <a:srgbClr val="2C3E2D"/>
              </a:solidFill>
              <a:latin typeface="EB Garamond"/>
              <a:ea typeface="EB Garamond"/>
              <a:cs typeface="EB Garamond"/>
              <a:sym typeface="EB Garamon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
        <p:cNvGrpSpPr/>
        <p:nvPr/>
      </p:nvGrpSpPr>
      <p:grpSpPr>
        <a:xfrm>
          <a:off x="0" y="0"/>
          <a:ext cx="0" cy="0"/>
          <a:chOff x="0" y="0"/>
          <a:chExt cx="0" cy="0"/>
        </a:xfrm>
      </p:grpSpPr>
      <p:grpSp>
        <p:nvGrpSpPr>
          <p:cNvPr id="28" name="Google Shape;28;p2"/>
          <p:cNvGrpSpPr/>
          <p:nvPr/>
        </p:nvGrpSpPr>
        <p:grpSpPr>
          <a:xfrm>
            <a:off x="571500" y="304800"/>
            <a:ext cx="8001000" cy="457200"/>
            <a:chOff x="571500" y="304800"/>
            <a:chExt cx="8001000" cy="457200"/>
          </a:xfrm>
        </p:grpSpPr>
        <p:sp>
          <p:nvSpPr>
            <p:cNvPr id="29" name="Google Shape;29;p2"/>
            <p:cNvSpPr/>
            <p:nvPr/>
          </p:nvSpPr>
          <p:spPr>
            <a:xfrm>
              <a:off x="571500" y="381000"/>
              <a:ext cx="314400" cy="314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0" name="Google Shape;30;p2"/>
            <p:cNvSpPr txBox="1"/>
            <p:nvPr/>
          </p:nvSpPr>
          <p:spPr>
            <a:xfrm>
              <a:off x="571500" y="381000"/>
              <a:ext cx="314400" cy="314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C23B22"/>
                  </a:solidFill>
                  <a:latin typeface="EB Garamond"/>
                  <a:ea typeface="EB Garamond"/>
                  <a:cs typeface="EB Garamond"/>
                  <a:sym typeface="EB Garamond"/>
                </a:rPr>
                <a:t>W</a:t>
              </a:r>
              <a:endParaRPr sz="900" b="1">
                <a:solidFill>
                  <a:srgbClr val="C23B22"/>
                </a:solidFill>
                <a:latin typeface="EB Garamond"/>
                <a:ea typeface="EB Garamond"/>
                <a:cs typeface="EB Garamond"/>
                <a:sym typeface="EB Garamond"/>
              </a:endParaRPr>
            </a:p>
          </p:txBody>
        </p:sp>
        <p:sp>
          <p:nvSpPr>
            <p:cNvPr id="31" name="Google Shape;31;p2"/>
            <p:cNvSpPr txBox="1"/>
            <p:nvPr/>
          </p:nvSpPr>
          <p:spPr>
            <a:xfrm>
              <a:off x="1028700" y="304800"/>
              <a:ext cx="75438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2C3E2D"/>
                  </a:solidFill>
                  <a:latin typeface="Playfair Display"/>
                  <a:ea typeface="Playfair Display"/>
                  <a:cs typeface="Playfair Display"/>
                  <a:sym typeface="Playfair Display"/>
                </a:rPr>
                <a:t>TỔNG QUAN DỰ ÁN YÊU CẦU</a:t>
              </a:r>
              <a:endParaRPr sz="2400" b="1">
                <a:solidFill>
                  <a:srgbClr val="2C3E2D"/>
                </a:solidFill>
                <a:latin typeface="Playfair Display"/>
                <a:ea typeface="Playfair Display"/>
                <a:cs typeface="Playfair Display"/>
                <a:sym typeface="Playfair Display"/>
              </a:endParaRPr>
            </a:p>
          </p:txBody>
        </p:sp>
      </p:grpSp>
      <p:grpSp>
        <p:nvGrpSpPr>
          <p:cNvPr id="32" name="Google Shape;32;p2"/>
          <p:cNvGrpSpPr/>
          <p:nvPr/>
        </p:nvGrpSpPr>
        <p:grpSpPr>
          <a:xfrm>
            <a:off x="571500" y="1047750"/>
            <a:ext cx="3857700" cy="3238500"/>
            <a:chOff x="571500" y="1047750"/>
            <a:chExt cx="3857700" cy="3238500"/>
          </a:xfrm>
        </p:grpSpPr>
        <p:sp>
          <p:nvSpPr>
            <p:cNvPr id="33" name="Google Shape;33;p2"/>
            <p:cNvSpPr/>
            <p:nvPr/>
          </p:nvSpPr>
          <p:spPr>
            <a:xfrm>
              <a:off x="571500" y="1047750"/>
              <a:ext cx="3857700" cy="3238500"/>
            </a:xfrm>
            <a:prstGeom prst="roundRect">
              <a:avLst>
                <a:gd name="adj" fmla="val 3529"/>
              </a:avLst>
            </a:prstGeom>
            <a:solidFill>
              <a:srgbClr val="FFFFFF">
                <a:alpha val="50000"/>
              </a:srgbClr>
            </a:solidFill>
            <a:ln w="9525" cap="flat" cmpd="sng">
              <a:solidFill>
                <a:srgbClr val="C4BFB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 name="Google Shape;34;p2"/>
            <p:cNvSpPr txBox="1"/>
            <p:nvPr/>
          </p:nvSpPr>
          <p:spPr>
            <a:xfrm>
              <a:off x="762000" y="1190625"/>
              <a:ext cx="34767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C2541"/>
                  </a:solidFill>
                  <a:latin typeface="Playfair Display"/>
                  <a:ea typeface="Playfair Display"/>
                  <a:cs typeface="Playfair Display"/>
                  <a:sym typeface="Playfair Display"/>
                </a:rPr>
                <a:t>Mục Tiêu, Đối Tượng</a:t>
              </a:r>
              <a:endParaRPr sz="1600" b="1">
                <a:solidFill>
                  <a:srgbClr val="1C2541"/>
                </a:solidFill>
                <a:latin typeface="Playfair Display"/>
                <a:ea typeface="Playfair Display"/>
                <a:cs typeface="Playfair Display"/>
                <a:sym typeface="Playfair Display"/>
              </a:endParaRPr>
            </a:p>
          </p:txBody>
        </p:sp>
        <p:sp>
          <p:nvSpPr>
            <p:cNvPr id="35" name="Google Shape;35;p2"/>
            <p:cNvSpPr txBox="1"/>
            <p:nvPr/>
          </p:nvSpPr>
          <p:spPr>
            <a:xfrm>
              <a:off x="762000" y="1666875"/>
              <a:ext cx="3476700" cy="2381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C3E2D"/>
                  </a:solidFill>
                  <a:latin typeface="EB Garamond"/>
                  <a:ea typeface="EB Garamond"/>
                  <a:cs typeface="EB Garamond"/>
                  <a:sym typeface="EB Garamond"/>
                </a:rPr>
                <a:t>• Xây dựng ứng dụng </a:t>
              </a:r>
              <a:r>
                <a:rPr lang="en-US" sz="1200" b="0">
                  <a:solidFill>
                    <a:srgbClr val="7B9AAF"/>
                  </a:solidFill>
                  <a:latin typeface="EB Garamond Medium"/>
                  <a:ea typeface="EB Garamond Medium"/>
                  <a:cs typeface="EB Garamond Medium"/>
                  <a:sym typeface="EB Garamond Medium"/>
                </a:rPr>
                <a:t>Windows Forms</a:t>
              </a:r>
              <a:r>
                <a:rPr lang="en-US" sz="1200" b="0">
                  <a:solidFill>
                    <a:srgbClr val="2C3E2D"/>
                  </a:solidFill>
                  <a:latin typeface="EB Garamond"/>
                  <a:ea typeface="EB Garamond"/>
                  <a:cs typeface="EB Garamond"/>
                  <a:sym typeface="EB Garamond"/>
                </a:rPr>
                <a:t> quản lý hồ sơ trang thiết bị.</a:t>
              </a:r>
              <a:endParaRPr sz="1200" b="0">
                <a:solidFill>
                  <a:srgbClr val="2C3E2D"/>
                </a:solidFill>
                <a:latin typeface="EB Garamond"/>
                <a:ea typeface="EB Garamond"/>
                <a:cs typeface="EB Garamond"/>
                <a:sym typeface="EB Garamond"/>
              </a:endParaRPr>
            </a:p>
            <a:p>
              <a:pPr marL="0" lvl="0" indent="0" algn="l" rtl="0">
                <a:spcBef>
                  <a:spcPts val="1500"/>
                </a:spcBef>
                <a:spcAft>
                  <a:spcPts val="0"/>
                </a:spcAft>
                <a:buNone/>
              </a:pPr>
              <a:r>
                <a:rPr lang="en-US" sz="1200" b="0">
                  <a:solidFill>
                    <a:srgbClr val="2C3E2D"/>
                  </a:solidFill>
                  <a:latin typeface="EB Garamond"/>
                  <a:ea typeface="EB Garamond"/>
                  <a:cs typeface="EB Garamond"/>
                  <a:sym typeface="EB Garamond"/>
                </a:rPr>
                <a:t>• Áp dụng kiến thức môn </a:t>
              </a:r>
              <a:r>
                <a:rPr lang="en-US" sz="1200" b="0">
                  <a:solidFill>
                    <a:srgbClr val="7B9AAF"/>
                  </a:solidFill>
                  <a:latin typeface="EB Garamond Medium"/>
                  <a:ea typeface="EB Garamond Medium"/>
                  <a:cs typeface="EB Garamond Medium"/>
                  <a:sym typeface="EB Garamond Medium"/>
                </a:rPr>
                <a:t>Kỹ thuật lập trình</a:t>
              </a:r>
              <a:r>
                <a:rPr lang="en-US" sz="1200" b="0">
                  <a:solidFill>
                    <a:srgbClr val="2C3E2D"/>
                  </a:solidFill>
                  <a:latin typeface="EB Garamond"/>
                  <a:ea typeface="EB Garamond"/>
                  <a:cs typeface="EB Garamond"/>
                  <a:sym typeface="EB Garamond"/>
                </a:rPr>
                <a:t> vào bài toán thực tế.</a:t>
              </a:r>
              <a:endParaRPr sz="1200" b="0">
                <a:solidFill>
                  <a:srgbClr val="2C3E2D"/>
                </a:solidFill>
                <a:latin typeface="EB Garamond"/>
                <a:ea typeface="EB Garamond"/>
                <a:cs typeface="EB Garamond"/>
                <a:sym typeface="EB Garamond"/>
              </a:endParaRPr>
            </a:p>
            <a:p>
              <a:pPr marL="0" lvl="0" indent="0" algn="l" rtl="0">
                <a:spcBef>
                  <a:spcPts val="1500"/>
                </a:spcBef>
                <a:spcAft>
                  <a:spcPts val="0"/>
                </a:spcAft>
                <a:buNone/>
              </a:pPr>
              <a:r>
                <a:rPr lang="en-US" sz="1100" b="0">
                  <a:solidFill>
                    <a:srgbClr val="2C3E2D"/>
                  </a:solidFill>
                  <a:latin typeface="EB Garamond"/>
                  <a:ea typeface="EB Garamond"/>
                  <a:cs typeface="EB Garamond"/>
                  <a:sym typeface="EB Garamond"/>
                </a:rPr>
                <a:t>• Quản lý </a:t>
              </a:r>
              <a:r>
                <a:rPr lang="en-US" sz="1100" b="0">
                  <a:solidFill>
                    <a:srgbClr val="7B9AAF"/>
                  </a:solidFill>
                  <a:latin typeface="EB Garamond Medium"/>
                  <a:ea typeface="EB Garamond Medium"/>
                  <a:cs typeface="EB Garamond Medium"/>
                  <a:sym typeface="EB Garamond Medium"/>
                </a:rPr>
                <a:t>9 thuộc tính</a:t>
              </a:r>
              <a:r>
                <a:rPr lang="en-US" sz="1100" b="0">
                  <a:solidFill>
                    <a:srgbClr val="2C3E2D"/>
                  </a:solidFill>
                  <a:latin typeface="EB Garamond"/>
                  <a:ea typeface="EB Garamond"/>
                  <a:cs typeface="EB Garamond"/>
                  <a:sym typeface="EB Garamond"/>
                </a:rPr>
                <a:t>: Mã, Số hiệu, Tên, Ngày sx, Ngày sd, Nguồn, Số lượng, Chủng loại, Cấp quản lý.</a:t>
              </a:r>
              <a:endParaRPr sz="1200" b="0">
                <a:solidFill>
                  <a:srgbClr val="2C3E2D"/>
                </a:solidFill>
                <a:latin typeface="EB Garamond"/>
                <a:ea typeface="EB Garamond"/>
                <a:cs typeface="EB Garamond"/>
                <a:sym typeface="EB Garamond"/>
              </a:endParaRPr>
            </a:p>
          </p:txBody>
        </p:sp>
      </p:grpSp>
      <p:grpSp>
        <p:nvGrpSpPr>
          <p:cNvPr id="36" name="Google Shape;36;p2"/>
          <p:cNvGrpSpPr/>
          <p:nvPr/>
        </p:nvGrpSpPr>
        <p:grpSpPr>
          <a:xfrm>
            <a:off x="4714875" y="1047750"/>
            <a:ext cx="3857700" cy="3238500"/>
            <a:chOff x="4714875" y="1047750"/>
            <a:chExt cx="3857700" cy="3238500"/>
          </a:xfrm>
        </p:grpSpPr>
        <p:sp>
          <p:nvSpPr>
            <p:cNvPr id="37" name="Google Shape;37;p2"/>
            <p:cNvSpPr/>
            <p:nvPr/>
          </p:nvSpPr>
          <p:spPr>
            <a:xfrm>
              <a:off x="4714875" y="1047750"/>
              <a:ext cx="3857700" cy="3238500"/>
            </a:xfrm>
            <a:prstGeom prst="roundRect">
              <a:avLst>
                <a:gd name="adj" fmla="val 3529"/>
              </a:avLst>
            </a:prstGeom>
            <a:solidFill>
              <a:srgbClr val="FFFFFF">
                <a:alpha val="50000"/>
              </a:srgbClr>
            </a:solidFill>
            <a:ln w="9525" cap="flat" cmpd="sng">
              <a:solidFill>
                <a:srgbClr val="C4BFB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 name="Google Shape;38;p2"/>
            <p:cNvSpPr txBox="1"/>
            <p:nvPr/>
          </p:nvSpPr>
          <p:spPr>
            <a:xfrm>
              <a:off x="4905375" y="1190625"/>
              <a:ext cx="34767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C2541"/>
                  </a:solidFill>
                  <a:latin typeface="Playfair Display"/>
                  <a:ea typeface="Playfair Display"/>
                  <a:cs typeface="Playfair Display"/>
                  <a:sym typeface="Playfair Display"/>
                </a:rPr>
                <a:t>Yêu Cầu Kỹ Thuật</a:t>
              </a:r>
              <a:endParaRPr sz="1600" b="1">
                <a:solidFill>
                  <a:srgbClr val="1C2541"/>
                </a:solidFill>
                <a:latin typeface="Playfair Display"/>
                <a:ea typeface="Playfair Display"/>
                <a:cs typeface="Playfair Display"/>
                <a:sym typeface="Playfair Display"/>
              </a:endParaRPr>
            </a:p>
          </p:txBody>
        </p:sp>
        <p:sp>
          <p:nvSpPr>
            <p:cNvPr id="39" name="Google Shape;39;p2"/>
            <p:cNvSpPr txBox="1"/>
            <p:nvPr/>
          </p:nvSpPr>
          <p:spPr>
            <a:xfrm>
              <a:off x="4905375" y="1666875"/>
              <a:ext cx="3476700" cy="2381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200" b="0">
                  <a:solidFill>
                    <a:srgbClr val="2C3E2D"/>
                  </a:solidFill>
                  <a:latin typeface="EB Garamond"/>
                  <a:ea typeface="EB Garamond"/>
                  <a:cs typeface="EB Garamond"/>
                  <a:sym typeface="EB Garamond"/>
                </a:rPr>
                <a:t>• Cài đặt </a:t>
              </a:r>
              <a:r>
                <a:rPr lang="en-US" sz="1200" b="0">
                  <a:solidFill>
                    <a:srgbClr val="7B9AAF"/>
                  </a:solidFill>
                  <a:latin typeface="EB Garamond Medium"/>
                  <a:ea typeface="EB Garamond Medium"/>
                  <a:cs typeface="EB Garamond Medium"/>
                  <a:sym typeface="EB Garamond Medium"/>
                </a:rPr>
                <a:t>thủ công</a:t>
              </a:r>
              <a:r>
                <a:rPr lang="en-US" sz="1200" b="0">
                  <a:solidFill>
                    <a:srgbClr val="2C3E2D"/>
                  </a:solidFill>
                  <a:latin typeface="EB Garamond"/>
                  <a:ea typeface="EB Garamond"/>
                  <a:cs typeface="EB Garamond"/>
                  <a:sym typeface="EB Garamond"/>
                </a:rPr>
                <a:t> 5 thuật toán sắp xếp và phương pháp tìm kiếm nâng cao.</a:t>
              </a:r>
              <a:endParaRPr sz="1200" b="0">
                <a:solidFill>
                  <a:srgbClr val="2C3E2D"/>
                </a:solidFill>
                <a:latin typeface="EB Garamond"/>
                <a:ea typeface="EB Garamond"/>
                <a:cs typeface="EB Garamond"/>
                <a:sym typeface="EB Garamond"/>
              </a:endParaRPr>
            </a:p>
            <a:p>
              <a:pPr marL="0" lvl="0" indent="0" algn="l" rtl="0">
                <a:spcBef>
                  <a:spcPts val="1200"/>
                </a:spcBef>
                <a:spcAft>
                  <a:spcPts val="0"/>
                </a:spcAft>
                <a:buNone/>
              </a:pPr>
              <a:r>
                <a:rPr lang="en-US" sz="1200" b="0">
                  <a:solidFill>
                    <a:srgbClr val="2C3E2D"/>
                  </a:solidFill>
                  <a:latin typeface="EB Garamond"/>
                  <a:ea typeface="EB Garamond"/>
                  <a:cs typeface="EB Garamond"/>
                  <a:sym typeface="EB Garamond"/>
                </a:rPr>
                <a:t>• Dữ liệu lưu theo định dạng </a:t>
              </a:r>
              <a:r>
                <a:rPr lang="en-US" sz="1200" b="0">
                  <a:solidFill>
                    <a:srgbClr val="7B9AAF"/>
                  </a:solidFill>
                  <a:latin typeface="EB Garamond Medium"/>
                  <a:ea typeface="EB Garamond Medium"/>
                  <a:cs typeface="EB Garamond Medium"/>
                  <a:sym typeface="EB Garamond Medium"/>
                </a:rPr>
                <a:t>JSON</a:t>
              </a:r>
              <a:r>
                <a:rPr lang="en-US" sz="1200" b="0">
                  <a:solidFill>
                    <a:srgbClr val="2C3E2D"/>
                  </a:solidFill>
                  <a:latin typeface="EB Garamond"/>
                  <a:ea typeface="EB Garamond"/>
                  <a:cs typeface="EB Garamond"/>
                  <a:sym typeface="EB Garamond"/>
                </a:rPr>
                <a:t> để bền vững và trao đổi.</a:t>
              </a:r>
              <a:endParaRPr sz="1200" b="0">
                <a:solidFill>
                  <a:srgbClr val="2C3E2D"/>
                </a:solidFill>
                <a:latin typeface="EB Garamond"/>
                <a:ea typeface="EB Garamond"/>
                <a:cs typeface="EB Garamond"/>
                <a:sym typeface="EB Garamond"/>
              </a:endParaRPr>
            </a:p>
            <a:p>
              <a:pPr marL="0" lvl="0" indent="0" algn="l" rtl="0">
                <a:spcBef>
                  <a:spcPts val="1200"/>
                </a:spcBef>
                <a:spcAft>
                  <a:spcPts val="0"/>
                </a:spcAft>
                <a:buNone/>
              </a:pPr>
              <a:r>
                <a:rPr lang="en-US" sz="1200" b="0">
                  <a:solidFill>
                    <a:srgbClr val="2C3E2D"/>
                  </a:solidFill>
                  <a:latin typeface="EB Garamond"/>
                  <a:ea typeface="EB Garamond"/>
                  <a:cs typeface="EB Garamond"/>
                  <a:sym typeface="EB Garamond"/>
                </a:rPr>
                <a:t>• Đảm bảo </a:t>
              </a:r>
              <a:r>
                <a:rPr lang="en-US" sz="1200" b="0">
                  <a:solidFill>
                    <a:srgbClr val="7B9AAF"/>
                  </a:solidFill>
                  <a:latin typeface="EB Garamond Medium"/>
                  <a:ea typeface="EB Garamond Medium"/>
                  <a:cs typeface="EB Garamond Medium"/>
                  <a:sym typeface="EB Garamond Medium"/>
                </a:rPr>
                <a:t>bảo toàn dữ liệu</a:t>
              </a:r>
              <a:r>
                <a:rPr lang="en-US" sz="1200" b="0">
                  <a:solidFill>
                    <a:srgbClr val="2C3E2D"/>
                  </a:solidFill>
                  <a:latin typeface="EB Garamond"/>
                  <a:ea typeface="EB Garamond"/>
                  <a:cs typeface="EB Garamond"/>
                  <a:sym typeface="EB Garamond"/>
                </a:rPr>
                <a:t> qua file tạm và hoàn tác (Undo).</a:t>
              </a:r>
              <a:endParaRPr sz="1200" b="0">
                <a:solidFill>
                  <a:srgbClr val="2C3E2D"/>
                </a:solidFill>
                <a:latin typeface="EB Garamond"/>
                <a:ea typeface="EB Garamond"/>
                <a:cs typeface="EB Garamond"/>
                <a:sym typeface="EB Garamond"/>
              </a:endParaRPr>
            </a:p>
            <a:p>
              <a:pPr marL="0" lvl="0" indent="0" algn="l" rtl="0">
                <a:spcBef>
                  <a:spcPts val="2000"/>
                </a:spcBef>
                <a:spcAft>
                  <a:spcPts val="0"/>
                </a:spcAft>
                <a:buNone/>
              </a:pPr>
              <a:endParaRPr sz="1100" b="0" i="1">
                <a:solidFill>
                  <a:srgbClr val="555555"/>
                </a:solidFill>
                <a:latin typeface="EB Garamond"/>
                <a:ea typeface="EB Garamond"/>
                <a:cs typeface="EB Garamond"/>
                <a:sym typeface="EB Garamon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pic>
        <p:nvPicPr>
          <p:cNvPr id="45" name="Google Shape;45;p3"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46" name="Google Shape;46;p3"/>
          <p:cNvSpPr/>
          <p:nvPr/>
        </p:nvSpPr>
        <p:spPr>
          <a:xfrm>
            <a:off x="571500" y="729779"/>
            <a:ext cx="314325" cy="31432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C23B22"/>
              </a:buClr>
              <a:buSzPts val="900"/>
              <a:buFont typeface="EB Garamond Medium"/>
              <a:buNone/>
            </a:pPr>
            <a:r>
              <a:rPr lang="en-US" sz="900" b="1" i="0" u="none" strike="noStrike" cap="none">
                <a:solidFill>
                  <a:srgbClr val="C23B22"/>
                </a:solidFill>
                <a:latin typeface="EB Garamond Medium"/>
                <a:ea typeface="EB Garamond Medium"/>
                <a:cs typeface="EB Garamond Medium"/>
                <a:sym typeface="EB Garamond Medium"/>
              </a:rPr>
              <a:t>W</a:t>
            </a:r>
            <a:endParaRPr sz="900" b="0" i="0" u="none" strike="noStrike" cap="none">
              <a:solidFill>
                <a:schemeClr val="dk1"/>
              </a:solidFill>
              <a:latin typeface="Calibri"/>
              <a:ea typeface="Calibri"/>
              <a:cs typeface="Calibri"/>
              <a:sym typeface="Calibri"/>
            </a:endParaRPr>
          </a:p>
        </p:txBody>
      </p:sp>
      <p:sp>
        <p:nvSpPr>
          <p:cNvPr id="47" name="Google Shape;47;p3"/>
          <p:cNvSpPr/>
          <p:nvPr/>
        </p:nvSpPr>
        <p:spPr>
          <a:xfrm>
            <a:off x="1028700" y="658341"/>
            <a:ext cx="5650706"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2450"/>
              <a:buFont typeface="Playfair Display"/>
              <a:buNone/>
            </a:pPr>
            <a:r>
              <a:rPr lang="en-US" sz="2450" b="1" i="0" u="none" strike="noStrike" cap="none">
                <a:solidFill>
                  <a:srgbClr val="2C3E2D"/>
                </a:solidFill>
                <a:latin typeface="Playfair Display"/>
                <a:ea typeface="Playfair Display"/>
                <a:cs typeface="Playfair Display"/>
                <a:sym typeface="Playfair Display"/>
              </a:rPr>
              <a:t>KHUNG CHƯƠNG TRÌNH (M1-M6)</a:t>
            </a:r>
            <a:endParaRPr sz="2450" b="0" i="0" u="none" strike="noStrike" cap="none">
              <a:solidFill>
                <a:schemeClr val="dk1"/>
              </a:solidFill>
              <a:latin typeface="Calibri"/>
              <a:ea typeface="Calibri"/>
              <a:cs typeface="Calibri"/>
              <a:sym typeface="Calibri"/>
            </a:endParaRPr>
          </a:p>
        </p:txBody>
      </p:sp>
      <p:sp>
        <p:nvSpPr>
          <p:cNvPr id="48" name="Google Shape;48;p3"/>
          <p:cNvSpPr/>
          <p:nvPr/>
        </p:nvSpPr>
        <p:spPr>
          <a:xfrm>
            <a:off x="571500" y="1745307"/>
            <a:ext cx="8001000" cy="275034"/>
          </a:xfrm>
          <a:prstGeom prst="rect">
            <a:avLst/>
          </a:prstGeom>
          <a:noFill/>
          <a:ln>
            <a:noFill/>
          </a:ln>
        </p:spPr>
        <p:txBody>
          <a:bodyPr spcFirstLastPara="1" wrap="square" lIns="0" tIns="51050" rIns="0" bIns="0" anchor="t" anchorCtr="0">
            <a:spAutoFit/>
          </a:bodyPr>
          <a:lstStyle/>
          <a:p>
            <a:pPr marL="0" marR="0" lvl="0" indent="0" algn="l" rtl="0">
              <a:spcBef>
                <a:spcPts val="0"/>
              </a:spcBef>
              <a:spcAft>
                <a:spcPts val="0"/>
              </a:spcAft>
              <a:buClr>
                <a:srgbClr val="7B9AAF"/>
              </a:buClr>
              <a:buSzPts val="1250"/>
              <a:buFont typeface="EB Garamond"/>
              <a:buNone/>
            </a:pPr>
            <a:r>
              <a:rPr lang="en-US" sz="1250" b="0" i="1" u="none" strike="noStrike" cap="none">
                <a:solidFill>
                  <a:srgbClr val="7B9AAF"/>
                </a:solidFill>
                <a:latin typeface="EB Garamond"/>
                <a:ea typeface="EB Garamond"/>
                <a:cs typeface="EB Garamond"/>
                <a:sym typeface="EB Garamond"/>
              </a:rPr>
              <a:t>Kiến trúc: MainForm điều phối - UserControls độc lập đảm nhận nghiệp vụ.</a:t>
            </a:r>
            <a:endParaRPr sz="1250" b="0" i="0" u="none" strike="noStrike" cap="none">
              <a:solidFill>
                <a:schemeClr val="dk1"/>
              </a:solidFill>
              <a:latin typeface="Calibri"/>
              <a:ea typeface="Calibri"/>
              <a:cs typeface="Calibri"/>
              <a:sym typeface="Calibri"/>
            </a:endParaRPr>
          </a:p>
        </p:txBody>
      </p:sp>
      <p:sp>
        <p:nvSpPr>
          <p:cNvPr id="49" name="Google Shape;49;p3"/>
          <p:cNvSpPr/>
          <p:nvPr/>
        </p:nvSpPr>
        <p:spPr>
          <a:xfrm>
            <a:off x="571500" y="2163217"/>
            <a:ext cx="2571750" cy="1213712"/>
          </a:xfrm>
          <a:prstGeom prst="rect">
            <a:avLst/>
          </a:prstGeom>
          <a:solidFill>
            <a:srgbClr val="FFFFFF">
              <a:alpha val="30196"/>
            </a:srgbClr>
          </a:solidFill>
          <a:ln w="9525" cap="flat" cmpd="sng">
            <a:solidFill>
              <a:srgbClr val="C4BF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a:off x="685800" y="2277517"/>
            <a:ext cx="23431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000"/>
              <a:buFont typeface="Space Grotesk Medium"/>
              <a:buNone/>
            </a:pPr>
            <a:r>
              <a:rPr lang="en-US" sz="1000" b="1" i="0" u="none" strike="noStrike" cap="none">
                <a:solidFill>
                  <a:srgbClr val="C23B22"/>
                </a:solidFill>
                <a:latin typeface="Space Grotesk Medium"/>
                <a:ea typeface="Space Grotesk Medium"/>
                <a:cs typeface="Space Grotesk Medium"/>
                <a:sym typeface="Space Grotesk Medium"/>
              </a:rPr>
              <a:t>M1</a:t>
            </a:r>
            <a:endParaRPr sz="1000" b="0" i="0" u="none" strike="noStrike" cap="none">
              <a:solidFill>
                <a:schemeClr val="dk1"/>
              </a:solidFill>
              <a:latin typeface="Calibri"/>
              <a:ea typeface="Calibri"/>
              <a:cs typeface="Calibri"/>
              <a:sym typeface="Calibri"/>
            </a:endParaRPr>
          </a:p>
        </p:txBody>
      </p:sp>
      <p:sp>
        <p:nvSpPr>
          <p:cNvPr id="51" name="Google Shape;51;p3"/>
          <p:cNvSpPr/>
          <p:nvPr/>
        </p:nvSpPr>
        <p:spPr>
          <a:xfrm>
            <a:off x="685800" y="2516832"/>
            <a:ext cx="2343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Cập Nhật Hồ Sơ</a:t>
            </a:r>
            <a:endParaRPr sz="1250" b="0" i="0" u="none" strike="noStrike" cap="none">
              <a:solidFill>
                <a:schemeClr val="dk1"/>
              </a:solidFill>
              <a:latin typeface="Calibri"/>
              <a:ea typeface="Calibri"/>
              <a:cs typeface="Calibri"/>
              <a:sym typeface="Calibri"/>
            </a:endParaRPr>
          </a:p>
        </p:txBody>
      </p:sp>
      <p:sp>
        <p:nvSpPr>
          <p:cNvPr id="52" name="Google Shape;52;p3"/>
          <p:cNvSpPr/>
          <p:nvPr/>
        </p:nvSpPr>
        <p:spPr>
          <a:xfrm>
            <a:off x="685800" y="2874020"/>
            <a:ext cx="2343150" cy="360034"/>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D3142"/>
              </a:buClr>
              <a:buSzPts val="950"/>
              <a:buFont typeface="EB Garamond"/>
              <a:buNone/>
            </a:pPr>
            <a:r>
              <a:rPr lang="en-US" sz="950" b="0" i="0" u="none" strike="noStrike" cap="none">
                <a:solidFill>
                  <a:srgbClr val="2D3142"/>
                </a:solidFill>
                <a:latin typeface="EB Garamond"/>
                <a:ea typeface="EB Garamond"/>
                <a:cs typeface="EB Garamond"/>
                <a:sym typeface="EB Garamond"/>
              </a:rPr>
              <a:t>Thêm mới hoặc chỉnh sửa thông tin trang thiết bị với cơ chế kiểm lỗi chặt chẽ.</a:t>
            </a:r>
            <a:endParaRPr sz="950" b="0" i="0" u="none" strike="noStrike" cap="none">
              <a:solidFill>
                <a:schemeClr val="dk1"/>
              </a:solidFill>
              <a:latin typeface="Calibri"/>
              <a:ea typeface="Calibri"/>
              <a:cs typeface="Calibri"/>
              <a:sym typeface="Calibri"/>
            </a:endParaRPr>
          </a:p>
        </p:txBody>
      </p:sp>
      <p:sp>
        <p:nvSpPr>
          <p:cNvPr id="53" name="Google Shape;53;p3"/>
          <p:cNvSpPr/>
          <p:nvPr/>
        </p:nvSpPr>
        <p:spPr>
          <a:xfrm>
            <a:off x="3286125" y="2163217"/>
            <a:ext cx="2571750" cy="1213712"/>
          </a:xfrm>
          <a:prstGeom prst="rect">
            <a:avLst/>
          </a:prstGeom>
          <a:solidFill>
            <a:srgbClr val="FFFFFF">
              <a:alpha val="30196"/>
            </a:srgbClr>
          </a:solidFill>
          <a:ln w="9525" cap="flat" cmpd="sng">
            <a:solidFill>
              <a:srgbClr val="C4BF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3400425" y="2277517"/>
            <a:ext cx="23431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000"/>
              <a:buFont typeface="Space Grotesk Medium"/>
              <a:buNone/>
            </a:pPr>
            <a:r>
              <a:rPr lang="en-US" sz="1000" b="1" i="0" u="none" strike="noStrike" cap="none">
                <a:solidFill>
                  <a:srgbClr val="C23B22"/>
                </a:solidFill>
                <a:latin typeface="Space Grotesk Medium"/>
                <a:ea typeface="Space Grotesk Medium"/>
                <a:cs typeface="Space Grotesk Medium"/>
                <a:sym typeface="Space Grotesk Medium"/>
              </a:rPr>
              <a:t>M2</a:t>
            </a:r>
            <a:endParaRPr sz="1000" b="0" i="0" u="none" strike="noStrike" cap="none">
              <a:solidFill>
                <a:schemeClr val="dk1"/>
              </a:solidFill>
              <a:latin typeface="Calibri"/>
              <a:ea typeface="Calibri"/>
              <a:cs typeface="Calibri"/>
              <a:sym typeface="Calibri"/>
            </a:endParaRPr>
          </a:p>
        </p:txBody>
      </p:sp>
      <p:sp>
        <p:nvSpPr>
          <p:cNvPr id="55" name="Google Shape;55;p3"/>
          <p:cNvSpPr/>
          <p:nvPr/>
        </p:nvSpPr>
        <p:spPr>
          <a:xfrm>
            <a:off x="3400425" y="2516832"/>
            <a:ext cx="2343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Danh Sách</a:t>
            </a:r>
            <a:endParaRPr sz="1250" b="0" i="0" u="none" strike="noStrike" cap="none">
              <a:solidFill>
                <a:schemeClr val="dk1"/>
              </a:solidFill>
              <a:latin typeface="Calibri"/>
              <a:ea typeface="Calibri"/>
              <a:cs typeface="Calibri"/>
              <a:sym typeface="Calibri"/>
            </a:endParaRPr>
          </a:p>
        </p:txBody>
      </p:sp>
      <p:sp>
        <p:nvSpPr>
          <p:cNvPr id="56" name="Google Shape;56;p3"/>
          <p:cNvSpPr/>
          <p:nvPr/>
        </p:nvSpPr>
        <p:spPr>
          <a:xfrm>
            <a:off x="3400425" y="2874020"/>
            <a:ext cx="2343150" cy="360034"/>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D3142"/>
              </a:buClr>
              <a:buSzPts val="950"/>
              <a:buFont typeface="EB Garamond"/>
              <a:buNone/>
            </a:pPr>
            <a:r>
              <a:rPr lang="en-US" sz="950" b="0" i="0" u="none" strike="noStrike" cap="none">
                <a:solidFill>
                  <a:srgbClr val="2D3142"/>
                </a:solidFill>
                <a:latin typeface="EB Garamond"/>
                <a:ea typeface="EB Garamond"/>
                <a:cs typeface="EB Garamond"/>
                <a:sym typeface="EB Garamond"/>
              </a:rPr>
              <a:t>Hiển thị dữ liệu dạng bảng, hỗ trợ phân trang (20 bản ghi/trang) và thao tác xóa.</a:t>
            </a:r>
            <a:endParaRPr sz="950" b="0" i="0" u="none" strike="noStrike" cap="none">
              <a:solidFill>
                <a:schemeClr val="dk1"/>
              </a:solidFill>
              <a:latin typeface="Calibri"/>
              <a:ea typeface="Calibri"/>
              <a:cs typeface="Calibri"/>
              <a:sym typeface="Calibri"/>
            </a:endParaRPr>
          </a:p>
        </p:txBody>
      </p:sp>
      <p:sp>
        <p:nvSpPr>
          <p:cNvPr id="57" name="Google Shape;57;p3"/>
          <p:cNvSpPr/>
          <p:nvPr/>
        </p:nvSpPr>
        <p:spPr>
          <a:xfrm>
            <a:off x="6000750" y="2163217"/>
            <a:ext cx="2571750" cy="1213712"/>
          </a:xfrm>
          <a:prstGeom prst="rect">
            <a:avLst/>
          </a:prstGeom>
          <a:solidFill>
            <a:srgbClr val="FFFFFF">
              <a:alpha val="30196"/>
            </a:srgbClr>
          </a:solidFill>
          <a:ln w="9525" cap="flat" cmpd="sng">
            <a:solidFill>
              <a:srgbClr val="C4BF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6115050" y="2277517"/>
            <a:ext cx="23431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000"/>
              <a:buFont typeface="Space Grotesk Medium"/>
              <a:buNone/>
            </a:pPr>
            <a:r>
              <a:rPr lang="en-US" sz="1000" b="1" i="0" u="none" strike="noStrike" cap="none">
                <a:solidFill>
                  <a:srgbClr val="C23B22"/>
                </a:solidFill>
                <a:latin typeface="Space Grotesk Medium"/>
                <a:ea typeface="Space Grotesk Medium"/>
                <a:cs typeface="Space Grotesk Medium"/>
                <a:sym typeface="Space Grotesk Medium"/>
              </a:rPr>
              <a:t>M3</a:t>
            </a:r>
            <a:endParaRPr sz="1000" b="0" i="0" u="none" strike="noStrike" cap="none">
              <a:solidFill>
                <a:schemeClr val="dk1"/>
              </a:solidFill>
              <a:latin typeface="Calibri"/>
              <a:ea typeface="Calibri"/>
              <a:cs typeface="Calibri"/>
              <a:sym typeface="Calibri"/>
            </a:endParaRPr>
          </a:p>
        </p:txBody>
      </p:sp>
      <p:sp>
        <p:nvSpPr>
          <p:cNvPr id="59" name="Google Shape;59;p3"/>
          <p:cNvSpPr/>
          <p:nvPr/>
        </p:nvSpPr>
        <p:spPr>
          <a:xfrm>
            <a:off x="6115050" y="2516832"/>
            <a:ext cx="2343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Sắp Xếp</a:t>
            </a:r>
            <a:endParaRPr sz="1250" b="0" i="0" u="none" strike="noStrike" cap="none">
              <a:solidFill>
                <a:schemeClr val="dk1"/>
              </a:solidFill>
              <a:latin typeface="Calibri"/>
              <a:ea typeface="Calibri"/>
              <a:cs typeface="Calibri"/>
              <a:sym typeface="Calibri"/>
            </a:endParaRPr>
          </a:p>
        </p:txBody>
      </p:sp>
      <p:sp>
        <p:nvSpPr>
          <p:cNvPr id="60" name="Google Shape;60;p3"/>
          <p:cNvSpPr/>
          <p:nvPr/>
        </p:nvSpPr>
        <p:spPr>
          <a:xfrm>
            <a:off x="6115050" y="2874020"/>
            <a:ext cx="2343150" cy="360034"/>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D3142"/>
              </a:buClr>
              <a:buSzPts val="950"/>
              <a:buFont typeface="EB Garamond"/>
              <a:buNone/>
            </a:pPr>
            <a:r>
              <a:rPr lang="en-US" sz="950" b="0" i="0" u="none" strike="noStrike" cap="none">
                <a:solidFill>
                  <a:srgbClr val="2D3142"/>
                </a:solidFill>
                <a:latin typeface="EB Garamond"/>
                <a:ea typeface="EB Garamond"/>
                <a:cs typeface="EB Garamond"/>
                <a:sym typeface="EB Garamond"/>
              </a:rPr>
              <a:t>Lựa chọn 1 trong 5 thuật toán và 8 khóa dữ liệu để tổ chức lại danh sách.</a:t>
            </a:r>
            <a:endParaRPr sz="950" b="0" i="0" u="none" strike="noStrike" cap="none">
              <a:solidFill>
                <a:schemeClr val="dk1"/>
              </a:solidFill>
              <a:latin typeface="Calibri"/>
              <a:ea typeface="Calibri"/>
              <a:cs typeface="Calibri"/>
              <a:sym typeface="Calibri"/>
            </a:endParaRPr>
          </a:p>
        </p:txBody>
      </p:sp>
      <p:sp>
        <p:nvSpPr>
          <p:cNvPr id="61" name="Google Shape;61;p3"/>
          <p:cNvSpPr/>
          <p:nvPr/>
        </p:nvSpPr>
        <p:spPr>
          <a:xfrm>
            <a:off x="571500" y="3505516"/>
            <a:ext cx="2571750" cy="1213712"/>
          </a:xfrm>
          <a:prstGeom prst="rect">
            <a:avLst/>
          </a:prstGeom>
          <a:solidFill>
            <a:srgbClr val="FFFFFF">
              <a:alpha val="30196"/>
            </a:srgbClr>
          </a:solidFill>
          <a:ln w="9525" cap="flat" cmpd="sng">
            <a:solidFill>
              <a:srgbClr val="C4BF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685800" y="3619816"/>
            <a:ext cx="23431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000"/>
              <a:buFont typeface="Space Grotesk Medium"/>
              <a:buNone/>
            </a:pPr>
            <a:r>
              <a:rPr lang="en-US" sz="1000" b="1" i="0" u="none" strike="noStrike" cap="none">
                <a:solidFill>
                  <a:srgbClr val="C23B22"/>
                </a:solidFill>
                <a:latin typeface="Space Grotesk Medium"/>
                <a:ea typeface="Space Grotesk Medium"/>
                <a:cs typeface="Space Grotesk Medium"/>
                <a:sym typeface="Space Grotesk Medium"/>
              </a:rPr>
              <a:t>M4</a:t>
            </a:r>
            <a:endParaRPr sz="1000" b="0" i="0" u="none" strike="noStrike" cap="none">
              <a:solidFill>
                <a:schemeClr val="dk1"/>
              </a:solidFill>
              <a:latin typeface="Calibri"/>
              <a:ea typeface="Calibri"/>
              <a:cs typeface="Calibri"/>
              <a:sym typeface="Calibri"/>
            </a:endParaRPr>
          </a:p>
        </p:txBody>
      </p:sp>
      <p:sp>
        <p:nvSpPr>
          <p:cNvPr id="63" name="Google Shape;63;p3"/>
          <p:cNvSpPr/>
          <p:nvPr/>
        </p:nvSpPr>
        <p:spPr>
          <a:xfrm>
            <a:off x="685800" y="3859132"/>
            <a:ext cx="2343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Tìm Kiếm</a:t>
            </a:r>
            <a:endParaRPr sz="1250" b="0" i="0" u="none" strike="noStrike" cap="none">
              <a:solidFill>
                <a:schemeClr val="dk1"/>
              </a:solidFill>
              <a:latin typeface="Calibri"/>
              <a:ea typeface="Calibri"/>
              <a:cs typeface="Calibri"/>
              <a:sym typeface="Calibri"/>
            </a:endParaRPr>
          </a:p>
        </p:txBody>
      </p:sp>
      <p:sp>
        <p:nvSpPr>
          <p:cNvPr id="64" name="Google Shape;64;p3"/>
          <p:cNvSpPr/>
          <p:nvPr/>
        </p:nvSpPr>
        <p:spPr>
          <a:xfrm>
            <a:off x="685800" y="4216319"/>
            <a:ext cx="2343150" cy="360034"/>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D3142"/>
              </a:buClr>
              <a:buSzPts val="950"/>
              <a:buFont typeface="EB Garamond"/>
              <a:buNone/>
            </a:pPr>
            <a:r>
              <a:rPr lang="en-US" sz="950" b="0" i="0" u="none" strike="noStrike" cap="none">
                <a:solidFill>
                  <a:srgbClr val="2D3142"/>
                </a:solidFill>
                <a:latin typeface="EB Garamond"/>
                <a:ea typeface="EB Garamond"/>
                <a:cs typeface="EB Garamond"/>
                <a:sym typeface="EB Garamond"/>
              </a:rPr>
              <a:t>Tìm kiếm tuần tự hoặc nhị phân, hỗ trợ tiếng Việt không dấu và tìm một phần.</a:t>
            </a:r>
            <a:endParaRPr sz="950" b="0" i="0" u="none" strike="noStrike" cap="none">
              <a:solidFill>
                <a:schemeClr val="dk1"/>
              </a:solidFill>
              <a:latin typeface="Calibri"/>
              <a:ea typeface="Calibri"/>
              <a:cs typeface="Calibri"/>
              <a:sym typeface="Calibri"/>
            </a:endParaRPr>
          </a:p>
        </p:txBody>
      </p:sp>
      <p:sp>
        <p:nvSpPr>
          <p:cNvPr id="65" name="Google Shape;65;p3"/>
          <p:cNvSpPr/>
          <p:nvPr/>
        </p:nvSpPr>
        <p:spPr>
          <a:xfrm>
            <a:off x="3286125" y="3505516"/>
            <a:ext cx="2571750" cy="1213712"/>
          </a:xfrm>
          <a:prstGeom prst="rect">
            <a:avLst/>
          </a:prstGeom>
          <a:solidFill>
            <a:srgbClr val="FFFFFF">
              <a:alpha val="30196"/>
            </a:srgbClr>
          </a:solidFill>
          <a:ln w="9525" cap="flat" cmpd="sng">
            <a:solidFill>
              <a:srgbClr val="C4BF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3400425" y="3619816"/>
            <a:ext cx="23431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000"/>
              <a:buFont typeface="Space Grotesk Medium"/>
              <a:buNone/>
            </a:pPr>
            <a:r>
              <a:rPr lang="en-US" sz="1000" b="1" i="0" u="none" strike="noStrike" cap="none">
                <a:solidFill>
                  <a:srgbClr val="C23B22"/>
                </a:solidFill>
                <a:latin typeface="Space Grotesk Medium"/>
                <a:ea typeface="Space Grotesk Medium"/>
                <a:cs typeface="Space Grotesk Medium"/>
                <a:sym typeface="Space Grotesk Medium"/>
              </a:rPr>
              <a:t>M5</a:t>
            </a:r>
            <a:endParaRPr sz="1000" b="0" i="0" u="none" strike="noStrike" cap="none">
              <a:solidFill>
                <a:schemeClr val="dk1"/>
              </a:solidFill>
              <a:latin typeface="Calibri"/>
              <a:ea typeface="Calibri"/>
              <a:cs typeface="Calibri"/>
              <a:sym typeface="Calibri"/>
            </a:endParaRPr>
          </a:p>
        </p:txBody>
      </p:sp>
      <p:sp>
        <p:nvSpPr>
          <p:cNvPr id="67" name="Google Shape;67;p3"/>
          <p:cNvSpPr/>
          <p:nvPr/>
        </p:nvSpPr>
        <p:spPr>
          <a:xfrm>
            <a:off x="3400425" y="3859132"/>
            <a:ext cx="2343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Thống Kê</a:t>
            </a:r>
            <a:endParaRPr sz="1250" b="0" i="0" u="none" strike="noStrike" cap="none">
              <a:solidFill>
                <a:schemeClr val="dk1"/>
              </a:solidFill>
              <a:latin typeface="Calibri"/>
              <a:ea typeface="Calibri"/>
              <a:cs typeface="Calibri"/>
              <a:sym typeface="Calibri"/>
            </a:endParaRPr>
          </a:p>
        </p:txBody>
      </p:sp>
      <p:sp>
        <p:nvSpPr>
          <p:cNvPr id="68" name="Google Shape;68;p3"/>
          <p:cNvSpPr/>
          <p:nvPr/>
        </p:nvSpPr>
        <p:spPr>
          <a:xfrm>
            <a:off x="3400425" y="4216319"/>
            <a:ext cx="2343150" cy="360034"/>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D3142"/>
              </a:buClr>
              <a:buSzPts val="950"/>
              <a:buFont typeface="EB Garamond"/>
              <a:buNone/>
            </a:pPr>
            <a:r>
              <a:rPr lang="en-US" sz="950" b="0" i="0" u="none" strike="noStrike" cap="none">
                <a:solidFill>
                  <a:srgbClr val="2D3142"/>
                </a:solidFill>
                <a:latin typeface="EB Garamond"/>
                <a:ea typeface="EB Garamond"/>
                <a:cs typeface="EB Garamond"/>
                <a:sym typeface="EB Garamond"/>
              </a:rPr>
              <a:t>Tổng hợp số lượng thiết bị theo Cấp, Chủng loại và Nguồn cấp bằng Dictionary.</a:t>
            </a:r>
            <a:endParaRPr sz="950" b="0" i="0" u="none" strike="noStrike" cap="none">
              <a:solidFill>
                <a:schemeClr val="dk1"/>
              </a:solidFill>
              <a:latin typeface="Calibri"/>
              <a:ea typeface="Calibri"/>
              <a:cs typeface="Calibri"/>
              <a:sym typeface="Calibri"/>
            </a:endParaRPr>
          </a:p>
        </p:txBody>
      </p:sp>
      <p:sp>
        <p:nvSpPr>
          <p:cNvPr id="69" name="Google Shape;69;p3"/>
          <p:cNvSpPr/>
          <p:nvPr/>
        </p:nvSpPr>
        <p:spPr>
          <a:xfrm>
            <a:off x="6000750" y="3505516"/>
            <a:ext cx="2571750" cy="1213712"/>
          </a:xfrm>
          <a:prstGeom prst="rect">
            <a:avLst/>
          </a:prstGeom>
          <a:solidFill>
            <a:srgbClr val="FFFFFF">
              <a:alpha val="30196"/>
            </a:srgbClr>
          </a:solidFill>
          <a:ln w="9525" cap="flat" cmpd="sng">
            <a:solidFill>
              <a:srgbClr val="C4BF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6115050" y="3619816"/>
            <a:ext cx="2343150" cy="1821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000"/>
              <a:buFont typeface="Space Grotesk Medium"/>
              <a:buNone/>
            </a:pPr>
            <a:r>
              <a:rPr lang="en-US" sz="1000" b="1" i="0" u="none" strike="noStrike" cap="none">
                <a:solidFill>
                  <a:srgbClr val="C23B22"/>
                </a:solidFill>
                <a:latin typeface="Space Grotesk Medium"/>
                <a:ea typeface="Space Grotesk Medium"/>
                <a:cs typeface="Space Grotesk Medium"/>
                <a:sym typeface="Space Grotesk Medium"/>
              </a:rPr>
              <a:t>M6</a:t>
            </a:r>
            <a:endParaRPr sz="1000" b="0" i="0" u="none" strike="noStrike" cap="none">
              <a:solidFill>
                <a:schemeClr val="dk1"/>
              </a:solidFill>
              <a:latin typeface="Calibri"/>
              <a:ea typeface="Calibri"/>
              <a:cs typeface="Calibri"/>
              <a:sym typeface="Calibri"/>
            </a:endParaRPr>
          </a:p>
        </p:txBody>
      </p:sp>
      <p:sp>
        <p:nvSpPr>
          <p:cNvPr id="71" name="Google Shape;71;p3"/>
          <p:cNvSpPr/>
          <p:nvPr/>
        </p:nvSpPr>
        <p:spPr>
          <a:xfrm>
            <a:off x="6115050" y="3859132"/>
            <a:ext cx="234315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Thoát</a:t>
            </a:r>
            <a:endParaRPr sz="1250" b="0" i="0" u="none" strike="noStrike" cap="none">
              <a:solidFill>
                <a:schemeClr val="dk1"/>
              </a:solidFill>
              <a:latin typeface="Calibri"/>
              <a:ea typeface="Calibri"/>
              <a:cs typeface="Calibri"/>
              <a:sym typeface="Calibri"/>
            </a:endParaRPr>
          </a:p>
        </p:txBody>
      </p:sp>
      <p:sp>
        <p:nvSpPr>
          <p:cNvPr id="72" name="Google Shape;72;p3"/>
          <p:cNvSpPr/>
          <p:nvPr/>
        </p:nvSpPr>
        <p:spPr>
          <a:xfrm>
            <a:off x="6115050" y="4216319"/>
            <a:ext cx="2343150" cy="360034"/>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Clr>
                <a:srgbClr val="2D3142"/>
              </a:buClr>
              <a:buSzPts val="950"/>
              <a:buFont typeface="EB Garamond"/>
              <a:buNone/>
            </a:pPr>
            <a:r>
              <a:rPr lang="en-US" sz="950" b="0" i="0" u="none" strike="noStrike" cap="none">
                <a:solidFill>
                  <a:srgbClr val="2D3142"/>
                </a:solidFill>
                <a:latin typeface="EB Garamond"/>
                <a:ea typeface="EB Garamond"/>
                <a:cs typeface="EB Garamond"/>
                <a:sym typeface="EB Garamond"/>
              </a:rPr>
              <a:t>Xác nhận trước khi đóng chương trình để đảm bảo mọi thay đổi đã được lưu.</a:t>
            </a:r>
            <a:endParaRPr sz="9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7"/>
        <p:cNvGrpSpPr/>
        <p:nvPr/>
      </p:nvGrpSpPr>
      <p:grpSpPr>
        <a:xfrm>
          <a:off x="0" y="0"/>
          <a:ext cx="0" cy="0"/>
          <a:chOff x="0" y="0"/>
          <a:chExt cx="0" cy="0"/>
        </a:xfrm>
      </p:grpSpPr>
      <p:pic>
        <p:nvPicPr>
          <p:cNvPr id="78" name="Google Shape;78;p4"/>
          <p:cNvPicPr preferRelativeResize="0"/>
          <p:nvPr/>
        </p:nvPicPr>
        <p:blipFill rotWithShape="1">
          <a:blip r:embed="rId4">
            <a:alphaModFix/>
          </a:blip>
          <a:srcRect t="10"/>
          <a:stretch/>
        </p:blipFill>
        <p:spPr>
          <a:xfrm>
            <a:off x="0" y="0"/>
            <a:ext cx="9144000" cy="5143500"/>
          </a:xfrm>
          <a:prstGeom prst="rect">
            <a:avLst/>
          </a:prstGeom>
          <a:noFill/>
          <a:ln>
            <a:noFill/>
          </a:ln>
        </p:spPr>
      </p:pic>
      <p:grpSp>
        <p:nvGrpSpPr>
          <p:cNvPr id="79" name="Google Shape;79;p4"/>
          <p:cNvGrpSpPr/>
          <p:nvPr/>
        </p:nvGrpSpPr>
        <p:grpSpPr>
          <a:xfrm>
            <a:off x="571500" y="304800"/>
            <a:ext cx="8001000" cy="457200"/>
            <a:chOff x="571500" y="304800"/>
            <a:chExt cx="8001000" cy="457200"/>
          </a:xfrm>
        </p:grpSpPr>
        <p:sp>
          <p:nvSpPr>
            <p:cNvPr id="80" name="Google Shape;80;p4"/>
            <p:cNvSpPr/>
            <p:nvPr/>
          </p:nvSpPr>
          <p:spPr>
            <a:xfrm>
              <a:off x="571500" y="381000"/>
              <a:ext cx="314400" cy="3144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 name="Google Shape;81;p4"/>
            <p:cNvSpPr txBox="1"/>
            <p:nvPr/>
          </p:nvSpPr>
          <p:spPr>
            <a:xfrm>
              <a:off x="571500" y="381000"/>
              <a:ext cx="314400" cy="314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C23B22"/>
                  </a:solidFill>
                  <a:latin typeface="EB Garamond"/>
                  <a:ea typeface="EB Garamond"/>
                  <a:cs typeface="EB Garamond"/>
                  <a:sym typeface="EB Garamond"/>
                </a:rPr>
                <a:t>W</a:t>
              </a:r>
              <a:endParaRPr sz="900" b="1">
                <a:solidFill>
                  <a:srgbClr val="C23B22"/>
                </a:solidFill>
                <a:latin typeface="EB Garamond"/>
                <a:ea typeface="EB Garamond"/>
                <a:cs typeface="EB Garamond"/>
                <a:sym typeface="EB Garamond"/>
              </a:endParaRPr>
            </a:p>
          </p:txBody>
        </p:sp>
        <p:sp>
          <p:nvSpPr>
            <p:cNvPr id="82" name="Google Shape;82;p4"/>
            <p:cNvSpPr txBox="1"/>
            <p:nvPr/>
          </p:nvSpPr>
          <p:spPr>
            <a:xfrm>
              <a:off x="1028700" y="304800"/>
              <a:ext cx="75438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2400" b="1">
                  <a:solidFill>
                    <a:srgbClr val="2C3E2D"/>
                  </a:solidFill>
                  <a:latin typeface="Playfair Display"/>
                  <a:ea typeface="Playfair Display"/>
                  <a:cs typeface="Playfair Display"/>
                  <a:sym typeface="Playfair Display"/>
                </a:rPr>
                <a:t>CẤU TRÚC DỮ LIỆU &amp; LƯU TRỮ</a:t>
              </a:r>
              <a:endParaRPr sz="2400" b="1">
                <a:solidFill>
                  <a:srgbClr val="2C3E2D"/>
                </a:solidFill>
                <a:latin typeface="Playfair Display"/>
                <a:ea typeface="Playfair Display"/>
                <a:cs typeface="Playfair Display"/>
                <a:sym typeface="Playfair Display"/>
              </a:endParaRPr>
            </a:p>
          </p:txBody>
        </p:sp>
      </p:grpSp>
      <p:grpSp>
        <p:nvGrpSpPr>
          <p:cNvPr id="83" name="Google Shape;83;p4"/>
          <p:cNvGrpSpPr/>
          <p:nvPr/>
        </p:nvGrpSpPr>
        <p:grpSpPr>
          <a:xfrm>
            <a:off x="571500" y="1047750"/>
            <a:ext cx="3857700" cy="3429000"/>
            <a:chOff x="571500" y="1047750"/>
            <a:chExt cx="3857700" cy="3429000"/>
          </a:xfrm>
        </p:grpSpPr>
        <p:sp>
          <p:nvSpPr>
            <p:cNvPr id="84" name="Google Shape;84;p4"/>
            <p:cNvSpPr/>
            <p:nvPr/>
          </p:nvSpPr>
          <p:spPr>
            <a:xfrm>
              <a:off x="571500" y="1047750"/>
              <a:ext cx="3857700" cy="3429000"/>
            </a:xfrm>
            <a:prstGeom prst="roundRect">
              <a:avLst>
                <a:gd name="adj" fmla="val 3333"/>
              </a:avLst>
            </a:prstGeom>
            <a:solidFill>
              <a:srgbClr val="FFFFFF">
                <a:alpha val="70000"/>
              </a:srgbClr>
            </a:solidFill>
            <a:ln w="9525" cap="flat" cmpd="sng">
              <a:solidFill>
                <a:srgbClr val="C4BFB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5" name="Google Shape;85;p4"/>
            <p:cNvSpPr txBox="1"/>
            <p:nvPr/>
          </p:nvSpPr>
          <p:spPr>
            <a:xfrm>
              <a:off x="762000" y="1238250"/>
              <a:ext cx="34767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C2541"/>
                  </a:solidFill>
                  <a:latin typeface="Playfair Display"/>
                  <a:ea typeface="Playfair Display"/>
                  <a:cs typeface="Playfair Display"/>
                  <a:sym typeface="Playfair Display"/>
                </a:rPr>
                <a:t>Quản Lý Trong Bộ Nhớ</a:t>
              </a:r>
              <a:endParaRPr sz="1600" b="1">
                <a:solidFill>
                  <a:srgbClr val="1C2541"/>
                </a:solidFill>
                <a:latin typeface="Playfair Display"/>
                <a:ea typeface="Playfair Display"/>
                <a:cs typeface="Playfair Display"/>
                <a:sym typeface="Playfair Display"/>
              </a:endParaRPr>
            </a:p>
          </p:txBody>
        </p:sp>
        <p:sp>
          <p:nvSpPr>
            <p:cNvPr id="86" name="Google Shape;86;p4"/>
            <p:cNvSpPr txBox="1"/>
            <p:nvPr/>
          </p:nvSpPr>
          <p:spPr>
            <a:xfrm>
              <a:off x="762000" y="1714500"/>
              <a:ext cx="3476700" cy="257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2C3E2D"/>
                  </a:solidFill>
                  <a:latin typeface="EB Garamond"/>
                  <a:ea typeface="EB Garamond"/>
                  <a:cs typeface="EB Garamond"/>
                  <a:sym typeface="EB Garamond"/>
                </a:rPr>
                <a:t>• Sử dụng </a:t>
              </a:r>
              <a:r>
                <a:rPr lang="en-US" sz="1100" b="0">
                  <a:solidFill>
                    <a:srgbClr val="1C2541"/>
                  </a:solidFill>
                  <a:highlight>
                    <a:srgbClr val="C4BFB6"/>
                  </a:highlight>
                  <a:latin typeface="Space Grotesk Medium"/>
                  <a:ea typeface="Space Grotesk Medium"/>
                  <a:cs typeface="Space Grotesk Medium"/>
                  <a:sym typeface="Space Grotesk Medium"/>
                </a:rPr>
                <a:t>List&lt;ThietBi&gt;</a:t>
              </a:r>
              <a:r>
                <a:rPr lang="en-US" sz="1100" b="0">
                  <a:solidFill>
                    <a:srgbClr val="2C3E2D"/>
                  </a:solidFill>
                  <a:latin typeface="EB Garamond"/>
                  <a:ea typeface="EB Garamond"/>
                  <a:cs typeface="EB Garamond"/>
                  <a:sym typeface="EB Garamond"/>
                </a:rPr>
                <a:t> làm cấu trúc dữ liệu chính, tối ưu cho việc truy xuất và sắp xếp linh hoạt.</a:t>
              </a:r>
              <a:endParaRPr sz="1100" b="0">
                <a:solidFill>
                  <a:srgbClr val="2C3E2D"/>
                </a:solidFill>
                <a:latin typeface="EB Garamond"/>
                <a:ea typeface="EB Garamond"/>
                <a:cs typeface="EB Garamond"/>
                <a:sym typeface="EB Garamond"/>
              </a:endParaRPr>
            </a:p>
            <a:p>
              <a:pPr marL="0" lvl="0" indent="0" algn="l" rtl="0">
                <a:spcBef>
                  <a:spcPts val="900"/>
                </a:spcBef>
                <a:spcAft>
                  <a:spcPts val="0"/>
                </a:spcAft>
                <a:buNone/>
              </a:pPr>
              <a:r>
                <a:rPr lang="en-US" sz="1100" b="0">
                  <a:solidFill>
                    <a:srgbClr val="2C3E2D"/>
                  </a:solidFill>
                  <a:latin typeface="EB Garamond"/>
                  <a:ea typeface="EB Garamond"/>
                  <a:cs typeface="EB Garamond"/>
                  <a:sym typeface="EB Garamond"/>
                </a:rPr>
                <a:t>• Lớp </a:t>
              </a:r>
              <a:r>
                <a:rPr lang="en-US" sz="1100" b="0">
                  <a:solidFill>
                    <a:srgbClr val="1C2541"/>
                  </a:solidFill>
                  <a:highlight>
                    <a:srgbClr val="C4BFB6"/>
                  </a:highlight>
                  <a:latin typeface="Space Grotesk Medium"/>
                  <a:ea typeface="Space Grotesk Medium"/>
                  <a:cs typeface="Space Grotesk Medium"/>
                  <a:sym typeface="Space Grotesk Medium"/>
                </a:rPr>
                <a:t>ThietBi</a:t>
              </a:r>
              <a:r>
                <a:rPr lang="en-US" sz="1100" b="0">
                  <a:solidFill>
                    <a:srgbClr val="2C3E2D"/>
                  </a:solidFill>
                  <a:latin typeface="EB Garamond"/>
                  <a:ea typeface="EB Garamond"/>
                  <a:cs typeface="EB Garamond"/>
                  <a:sym typeface="EB Garamond"/>
                </a:rPr>
                <a:t> định nghĩa đầy đủ 9 thuộc tính nghiệp vụ với các kiểu dữ liệu phù hợp (string, int, DateTime).</a:t>
              </a:r>
              <a:endParaRPr sz="1100" b="0">
                <a:solidFill>
                  <a:srgbClr val="2C3E2D"/>
                </a:solidFill>
                <a:latin typeface="EB Garamond"/>
                <a:ea typeface="EB Garamond"/>
                <a:cs typeface="EB Garamond"/>
                <a:sym typeface="EB Garamond"/>
              </a:endParaRPr>
            </a:p>
            <a:p>
              <a:pPr marL="0" lvl="0" indent="0" algn="l" rtl="0">
                <a:spcBef>
                  <a:spcPts val="900"/>
                </a:spcBef>
                <a:spcAft>
                  <a:spcPts val="900"/>
                </a:spcAft>
                <a:buNone/>
              </a:pPr>
              <a:r>
                <a:rPr lang="en-US" sz="1100" b="0">
                  <a:solidFill>
                    <a:srgbClr val="2C3E2D"/>
                  </a:solidFill>
                  <a:latin typeface="EB Garamond"/>
                  <a:ea typeface="EB Garamond"/>
                  <a:cs typeface="EB Garamond"/>
                  <a:sym typeface="EB Garamond"/>
                </a:rPr>
                <a:t>• Cơ chế </a:t>
              </a:r>
              <a:r>
                <a:rPr lang="en-US" sz="1100" b="0">
                  <a:solidFill>
                    <a:srgbClr val="C23B22"/>
                  </a:solidFill>
                  <a:latin typeface="EB Garamond SemiBold"/>
                  <a:ea typeface="EB Garamond SemiBold"/>
                  <a:cs typeface="EB Garamond SemiBold"/>
                  <a:sym typeface="EB Garamond SemiBold"/>
                </a:rPr>
                <a:t>Hoàn tác (Undo)</a:t>
              </a:r>
              <a:r>
                <a:rPr lang="en-US" sz="1100" b="0">
                  <a:solidFill>
                    <a:srgbClr val="2C3E2D"/>
                  </a:solidFill>
                  <a:latin typeface="EB Garamond"/>
                  <a:ea typeface="EB Garamond"/>
                  <a:cs typeface="EB Garamond"/>
                  <a:sym typeface="EB Garamond"/>
                </a:rPr>
                <a:t>: Sao lưu danh sách tạm thời trước khi thực hiện các thao tác ghi file rủi ro.</a:t>
              </a:r>
              <a:endParaRPr sz="1100" b="0">
                <a:solidFill>
                  <a:srgbClr val="2C3E2D"/>
                </a:solidFill>
                <a:latin typeface="EB Garamond"/>
                <a:ea typeface="EB Garamond"/>
                <a:cs typeface="EB Garamond"/>
                <a:sym typeface="EB Garamond"/>
              </a:endParaRPr>
            </a:p>
          </p:txBody>
        </p:sp>
      </p:grpSp>
      <p:grpSp>
        <p:nvGrpSpPr>
          <p:cNvPr id="87" name="Google Shape;87;p4"/>
          <p:cNvGrpSpPr/>
          <p:nvPr/>
        </p:nvGrpSpPr>
        <p:grpSpPr>
          <a:xfrm>
            <a:off x="4714875" y="1047750"/>
            <a:ext cx="3857700" cy="3429000"/>
            <a:chOff x="4714875" y="1047750"/>
            <a:chExt cx="3857700" cy="3429000"/>
          </a:xfrm>
        </p:grpSpPr>
        <p:sp>
          <p:nvSpPr>
            <p:cNvPr id="88" name="Google Shape;88;p4"/>
            <p:cNvSpPr/>
            <p:nvPr/>
          </p:nvSpPr>
          <p:spPr>
            <a:xfrm>
              <a:off x="4714875" y="1047750"/>
              <a:ext cx="3857700" cy="3429000"/>
            </a:xfrm>
            <a:prstGeom prst="roundRect">
              <a:avLst>
                <a:gd name="adj" fmla="val 3333"/>
              </a:avLst>
            </a:prstGeom>
            <a:solidFill>
              <a:srgbClr val="FFFFFF">
                <a:alpha val="70000"/>
              </a:srgbClr>
            </a:solidFill>
            <a:ln w="9525" cap="flat" cmpd="sng">
              <a:solidFill>
                <a:srgbClr val="C4BFB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9" name="Google Shape;89;p4"/>
            <p:cNvSpPr txBox="1"/>
            <p:nvPr/>
          </p:nvSpPr>
          <p:spPr>
            <a:xfrm>
              <a:off x="4905375" y="1238250"/>
              <a:ext cx="34767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600" b="1">
                  <a:solidFill>
                    <a:srgbClr val="1C2541"/>
                  </a:solidFill>
                  <a:latin typeface="Playfair Display"/>
                  <a:ea typeface="Playfair Display"/>
                  <a:cs typeface="Playfair Display"/>
                  <a:sym typeface="Playfair Display"/>
                </a:rPr>
                <a:t>Lưu Trữ Bền Vững JSON</a:t>
              </a:r>
              <a:endParaRPr sz="1600" b="1">
                <a:solidFill>
                  <a:srgbClr val="1C2541"/>
                </a:solidFill>
                <a:latin typeface="Playfair Display"/>
                <a:ea typeface="Playfair Display"/>
                <a:cs typeface="Playfair Display"/>
                <a:sym typeface="Playfair Display"/>
              </a:endParaRPr>
            </a:p>
          </p:txBody>
        </p:sp>
        <p:sp>
          <p:nvSpPr>
            <p:cNvPr id="90" name="Google Shape;90;p4"/>
            <p:cNvSpPr txBox="1"/>
            <p:nvPr/>
          </p:nvSpPr>
          <p:spPr>
            <a:xfrm>
              <a:off x="4905375" y="1714500"/>
              <a:ext cx="3476700" cy="2571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1100" b="0">
                  <a:solidFill>
                    <a:srgbClr val="2C3E2D"/>
                  </a:solidFill>
                  <a:latin typeface="EB Garamond"/>
                  <a:ea typeface="EB Garamond"/>
                  <a:cs typeface="EB Garamond"/>
                  <a:sym typeface="EB Garamond"/>
                </a:rPr>
                <a:t>• Sử dụng thư viện </a:t>
              </a:r>
              <a:r>
                <a:rPr lang="en-US" sz="1100" b="0">
                  <a:solidFill>
                    <a:srgbClr val="1C2541"/>
                  </a:solidFill>
                  <a:highlight>
                    <a:srgbClr val="C4BFB6"/>
                  </a:highlight>
                  <a:latin typeface="Space Grotesk Medium"/>
                  <a:ea typeface="Space Grotesk Medium"/>
                  <a:cs typeface="Space Grotesk Medium"/>
                  <a:sym typeface="Space Grotesk Medium"/>
                </a:rPr>
                <a:t>System.Text.Json</a:t>
              </a:r>
              <a:r>
                <a:rPr lang="en-US" sz="1100" b="0">
                  <a:solidFill>
                    <a:srgbClr val="2C3E2D"/>
                  </a:solidFill>
                  <a:latin typeface="EB Garamond"/>
                  <a:ea typeface="EB Garamond"/>
                  <a:cs typeface="EB Garamond"/>
                  <a:sym typeface="EB Garamond"/>
                </a:rPr>
                <a:t> để chuyển đổi đối tượng sang định dạng văn bản dễ đọc.</a:t>
              </a:r>
              <a:endParaRPr sz="1100" b="0">
                <a:solidFill>
                  <a:srgbClr val="2C3E2D"/>
                </a:solidFill>
                <a:latin typeface="EB Garamond"/>
                <a:ea typeface="EB Garamond"/>
                <a:cs typeface="EB Garamond"/>
                <a:sym typeface="EB Garamond"/>
              </a:endParaRPr>
            </a:p>
            <a:p>
              <a:pPr marL="0" lvl="0" indent="0" algn="l" rtl="0">
                <a:spcBef>
                  <a:spcPts val="900"/>
                </a:spcBef>
                <a:spcAft>
                  <a:spcPts val="0"/>
                </a:spcAft>
                <a:buNone/>
              </a:pPr>
              <a:r>
                <a:rPr lang="en-US" sz="1100" b="0">
                  <a:solidFill>
                    <a:srgbClr val="2C3E2D"/>
                  </a:solidFill>
                  <a:latin typeface="EB Garamond"/>
                  <a:ea typeface="EB Garamond"/>
                  <a:cs typeface="EB Garamond"/>
                  <a:sym typeface="EB Garamond"/>
                </a:rPr>
                <a:t>• </a:t>
              </a:r>
              <a:r>
                <a:rPr lang="en-US" sz="1100" b="0">
                  <a:solidFill>
                    <a:srgbClr val="C23B22"/>
                  </a:solidFill>
                  <a:latin typeface="EB Garamond SemiBold"/>
                  <a:ea typeface="EB Garamond SemiBold"/>
                  <a:cs typeface="EB Garamond SemiBold"/>
                  <a:sym typeface="EB Garamond SemiBold"/>
                </a:rPr>
                <a:t>Ghi file nguyên tử</a:t>
              </a:r>
              <a:r>
                <a:rPr lang="en-US" sz="1100" b="0">
                  <a:solidFill>
                    <a:srgbClr val="2C3E2D"/>
                  </a:solidFill>
                  <a:latin typeface="EB Garamond"/>
                  <a:ea typeface="EB Garamond"/>
                  <a:cs typeface="EB Garamond"/>
                  <a:sym typeface="EB Garamond"/>
                </a:rPr>
                <a:t>: Dữ liệu được ghi vào file </a:t>
              </a:r>
              <a:r>
                <a:rPr lang="en-US" sz="1100" b="0">
                  <a:solidFill>
                    <a:srgbClr val="1C2541"/>
                  </a:solidFill>
                  <a:highlight>
                    <a:srgbClr val="C4BFB6"/>
                  </a:highlight>
                  <a:latin typeface="Space Grotesk Medium"/>
                  <a:ea typeface="Space Grotesk Medium"/>
                  <a:cs typeface="Space Grotesk Medium"/>
                  <a:sym typeface="Space Grotesk Medium"/>
                </a:rPr>
                <a:t>.tmp</a:t>
              </a:r>
              <a:r>
                <a:rPr lang="en-US" sz="1100" b="0">
                  <a:solidFill>
                    <a:srgbClr val="2C3E2D"/>
                  </a:solidFill>
                  <a:latin typeface="EB Garamond"/>
                  <a:ea typeface="EB Garamond"/>
                  <a:cs typeface="EB Garamond"/>
                  <a:sym typeface="EB Garamond"/>
                </a:rPr>
                <a:t> trước khi thay thế file chính, ngăn ngừa mất mát.</a:t>
              </a:r>
              <a:endParaRPr sz="1100" b="0">
                <a:solidFill>
                  <a:srgbClr val="2C3E2D"/>
                </a:solidFill>
                <a:latin typeface="EB Garamond"/>
                <a:ea typeface="EB Garamond"/>
                <a:cs typeface="EB Garamond"/>
                <a:sym typeface="EB Garamond"/>
              </a:endParaRPr>
            </a:p>
            <a:p>
              <a:pPr marL="0" lvl="0" indent="0" algn="l" rtl="0">
                <a:spcBef>
                  <a:spcPts val="900"/>
                </a:spcBef>
                <a:spcAft>
                  <a:spcPts val="900"/>
                </a:spcAft>
                <a:buNone/>
              </a:pPr>
              <a:r>
                <a:rPr lang="en-US" sz="1100" b="0">
                  <a:solidFill>
                    <a:srgbClr val="2C3E2D"/>
                  </a:solidFill>
                  <a:latin typeface="EB Garamond"/>
                  <a:ea typeface="EB Garamond"/>
                  <a:cs typeface="EB Garamond"/>
                  <a:sym typeface="EB Garamond"/>
                </a:rPr>
                <a:t>• Hỗ trợ tiếng Việt Unicode trực tiếp trong file JSON, đảm bảo tính tương thích và kiểm tra thủ công.</a:t>
              </a:r>
              <a:endParaRPr sz="1100" b="0">
                <a:solidFill>
                  <a:srgbClr val="2C3E2D"/>
                </a:solidFill>
                <a:latin typeface="EB Garamond"/>
                <a:ea typeface="EB Garamond"/>
                <a:cs typeface="EB Garamond"/>
                <a:sym typeface="EB Garamon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5" descr="preencoded.png"/>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97" name="Google Shape;97;p5"/>
          <p:cNvSpPr/>
          <p:nvPr/>
        </p:nvSpPr>
        <p:spPr>
          <a:xfrm>
            <a:off x="571500" y="381000"/>
            <a:ext cx="314400" cy="314400"/>
          </a:xfrm>
          <a:prstGeom prst="rect">
            <a:avLst/>
          </a:prstGeom>
          <a:solidFill>
            <a:srgbClr val="000000">
              <a:alpha val="0"/>
            </a:srgbClr>
          </a:solidFill>
          <a:ln>
            <a:noFill/>
          </a:ln>
        </p:spPr>
        <p:txBody>
          <a:bodyPr spcFirstLastPara="1" wrap="square" lIns="0" tIns="0" rIns="0" bIns="0" anchor="ctr" anchorCtr="0">
            <a:spAutoFit/>
          </a:bodyPr>
          <a:lstStyle/>
          <a:p>
            <a:pPr marL="0" lvl="0" indent="0" algn="ctr" rtl="0">
              <a:spcBef>
                <a:spcPts val="0"/>
              </a:spcBef>
              <a:spcAft>
                <a:spcPts val="0"/>
              </a:spcAft>
              <a:buNone/>
            </a:pPr>
            <a:r>
              <a:rPr lang="en-US" sz="900" b="1">
                <a:solidFill>
                  <a:srgbClr val="C23B22"/>
                </a:solidFill>
                <a:latin typeface="EB Garamond"/>
                <a:ea typeface="EB Garamond"/>
                <a:cs typeface="EB Garamond"/>
                <a:sym typeface="EB Garamond"/>
              </a:rPr>
              <a:t>W</a:t>
            </a:r>
            <a:endParaRPr sz="900" b="1">
              <a:solidFill>
                <a:srgbClr val="C23B22"/>
              </a:solidFill>
              <a:latin typeface="EB Garamond"/>
              <a:ea typeface="EB Garamond"/>
              <a:cs typeface="EB Garamond"/>
              <a:sym typeface="EB Garamond"/>
            </a:endParaRPr>
          </a:p>
        </p:txBody>
      </p:sp>
      <p:sp>
        <p:nvSpPr>
          <p:cNvPr id="98" name="Google Shape;98;p5"/>
          <p:cNvSpPr/>
          <p:nvPr/>
        </p:nvSpPr>
        <p:spPr>
          <a:xfrm>
            <a:off x="1028700" y="309563"/>
            <a:ext cx="4627500" cy="4572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2450" b="1">
                <a:solidFill>
                  <a:srgbClr val="2C3E2D"/>
                </a:solidFill>
                <a:latin typeface="Playfair Display"/>
                <a:ea typeface="Playfair Display"/>
                <a:cs typeface="Playfair Display"/>
                <a:sym typeface="Playfair Display"/>
              </a:rPr>
              <a:t>THUẬT TOÁN SẮP XẾP (M3)</a:t>
            </a:r>
            <a:endParaRPr sz="2450" b="1">
              <a:solidFill>
                <a:srgbClr val="2C3E2D"/>
              </a:solidFill>
              <a:latin typeface="Playfair Display"/>
              <a:ea typeface="Playfair Display"/>
              <a:cs typeface="Playfair Display"/>
              <a:sym typeface="Playfair Display"/>
            </a:endParaRPr>
          </a:p>
        </p:txBody>
      </p:sp>
      <p:grpSp>
        <p:nvGrpSpPr>
          <p:cNvPr id="99" name="Google Shape;99;p5"/>
          <p:cNvGrpSpPr/>
          <p:nvPr/>
        </p:nvGrpSpPr>
        <p:grpSpPr>
          <a:xfrm>
            <a:off x="571500" y="1047750"/>
            <a:ext cx="8001000" cy="3048000"/>
            <a:chOff x="571500" y="1047750"/>
            <a:chExt cx="8001000" cy="3048000"/>
          </a:xfrm>
        </p:grpSpPr>
        <p:sp>
          <p:nvSpPr>
            <p:cNvPr id="100" name="Google Shape;100;p5"/>
            <p:cNvSpPr/>
            <p:nvPr/>
          </p:nvSpPr>
          <p:spPr>
            <a:xfrm>
              <a:off x="571500" y="1047750"/>
              <a:ext cx="8001000" cy="3048000"/>
            </a:xfrm>
            <a:prstGeom prst="roundRect">
              <a:avLst>
                <a:gd name="adj" fmla="val 3750"/>
              </a:avLst>
            </a:prstGeom>
            <a:solidFill>
              <a:srgbClr val="FFFFFF">
                <a:alpha val="90000"/>
              </a:srgbClr>
            </a:solidFill>
            <a:ln w="9525" cap="flat" cmpd="sng">
              <a:solidFill>
                <a:srgbClr val="C4BFB6"/>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 name="Google Shape;101;p5"/>
            <p:cNvSpPr/>
            <p:nvPr/>
          </p:nvSpPr>
          <p:spPr>
            <a:xfrm>
              <a:off x="571500" y="1047750"/>
              <a:ext cx="8001000" cy="381000"/>
            </a:xfrm>
            <a:prstGeom prst="roundRect">
              <a:avLst>
                <a:gd name="adj" fmla="val 30000"/>
              </a:avLst>
            </a:prstGeom>
            <a:solidFill>
              <a:srgbClr val="2C3E2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 name="Google Shape;102;p5"/>
            <p:cNvSpPr/>
            <p:nvPr/>
          </p:nvSpPr>
          <p:spPr>
            <a:xfrm>
              <a:off x="571500" y="1238250"/>
              <a:ext cx="8001000" cy="190500"/>
            </a:xfrm>
            <a:prstGeom prst="rect">
              <a:avLst/>
            </a:prstGeom>
            <a:solidFill>
              <a:srgbClr val="2C3E2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3" name="Google Shape;103;p5"/>
            <p:cNvSpPr txBox="1"/>
            <p:nvPr/>
          </p:nvSpPr>
          <p:spPr>
            <a:xfrm>
              <a:off x="571500" y="1047750"/>
              <a:ext cx="8001000" cy="381000"/>
            </a:xfrm>
            <a:prstGeom prst="rect">
              <a:avLst/>
            </a:prstGeom>
            <a:noFill/>
            <a:ln>
              <a:noFill/>
            </a:ln>
          </p:spPr>
          <p:txBody>
            <a:bodyPr spcFirstLastPara="1" wrap="square" lIns="190500" tIns="0" rIns="190500" bIns="0" anchor="ctr" anchorCtr="0">
              <a:noAutofit/>
            </a:bodyPr>
            <a:lstStyle/>
            <a:p>
              <a:pPr marL="0" lvl="0" indent="0" algn="ctr" rtl="0">
                <a:spcBef>
                  <a:spcPts val="0"/>
                </a:spcBef>
                <a:spcAft>
                  <a:spcPts val="0"/>
                </a:spcAft>
                <a:buNone/>
              </a:pPr>
              <a:r>
                <a:rPr lang="en-US" sz="1100" b="1">
                  <a:solidFill>
                    <a:srgbClr val="FFFFFF"/>
                  </a:solidFill>
                  <a:latin typeface="Playfair Display"/>
                  <a:ea typeface="Playfair Display"/>
                  <a:cs typeface="Playfair Display"/>
                  <a:sym typeface="Playfair Display"/>
                </a:rPr>
                <a:t>Thuật toán Nguyên lý cốt lõi Độ phức tạp</a:t>
              </a:r>
              <a:endParaRPr sz="1100" b="1">
                <a:solidFill>
                  <a:srgbClr val="FFFFFF"/>
                </a:solidFill>
                <a:latin typeface="Playfair Display"/>
                <a:ea typeface="Playfair Display"/>
                <a:cs typeface="Playfair Display"/>
                <a:sym typeface="Playfair Display"/>
              </a:endParaRPr>
            </a:p>
          </p:txBody>
        </p:sp>
        <p:sp>
          <p:nvSpPr>
            <p:cNvPr id="104" name="Google Shape;104;p5"/>
            <p:cNvSpPr txBox="1"/>
            <p:nvPr/>
          </p:nvSpPr>
          <p:spPr>
            <a:xfrm>
              <a:off x="571500" y="1428750"/>
              <a:ext cx="5715000" cy="2667000"/>
            </a:xfrm>
            <a:prstGeom prst="rect">
              <a:avLst/>
            </a:prstGeom>
            <a:noFill/>
            <a:ln>
              <a:noFill/>
            </a:ln>
          </p:spPr>
          <p:txBody>
            <a:bodyPr spcFirstLastPara="1" wrap="square" lIns="190500" tIns="142875" rIns="190500" bIns="142875" anchor="ctr" anchorCtr="0">
              <a:noAutofit/>
            </a:bodyPr>
            <a:lstStyle/>
            <a:p>
              <a:pPr marL="0" lvl="0" indent="0" algn="l" rtl="0">
                <a:spcBef>
                  <a:spcPts val="0"/>
                </a:spcBef>
                <a:spcAft>
                  <a:spcPts val="0"/>
                </a:spcAft>
                <a:buNone/>
              </a:pPr>
              <a:r>
                <a:rPr lang="en-US" sz="1000" b="1">
                  <a:solidFill>
                    <a:srgbClr val="1C2541"/>
                  </a:solidFill>
                  <a:latin typeface="Space Grotesk"/>
                  <a:ea typeface="Space Grotesk"/>
                  <a:cs typeface="Space Grotesk"/>
                  <a:sym typeface="Space Grotesk"/>
                </a:rPr>
                <a:t>Selection Sort</a:t>
              </a:r>
              <a:r>
                <a:rPr lang="en-US" sz="1000">
                  <a:solidFill>
                    <a:srgbClr val="2C3E2D"/>
                  </a:solidFill>
                  <a:latin typeface="EB Garamond"/>
                  <a:ea typeface="EB Garamond"/>
                  <a:cs typeface="EB Garamond"/>
                  <a:sym typeface="EB Garamond"/>
                </a:rPr>
                <a:t>Chọn phần tử nhỏ nhất đưa về đầu đoạn.</a:t>
              </a:r>
              <a:r>
                <a:rPr lang="en-US" sz="1000" b="1">
                  <a:solidFill>
                    <a:srgbClr val="C23B22"/>
                  </a:solidFill>
                  <a:latin typeface="Space Grotesk"/>
                  <a:ea typeface="Space Grotesk"/>
                  <a:cs typeface="Space Grotesk"/>
                  <a:sym typeface="Space Grotesk"/>
                </a:rPr>
                <a:t>O(n²)</a:t>
              </a:r>
              <a:endParaRPr sz="1000">
                <a:solidFill>
                  <a:srgbClr val="2C3E2D"/>
                </a:solidFill>
                <a:latin typeface="EB Garamond"/>
                <a:ea typeface="EB Garamond"/>
                <a:cs typeface="EB Garamond"/>
                <a:sym typeface="EB Garamond"/>
              </a:endParaRPr>
            </a:p>
            <a:p>
              <a:pPr marL="0" lvl="0" indent="0" algn="l" rtl="0">
                <a:spcBef>
                  <a:spcPts val="1125"/>
                </a:spcBef>
                <a:spcAft>
                  <a:spcPts val="0"/>
                </a:spcAft>
                <a:buNone/>
              </a:pPr>
              <a:r>
                <a:rPr lang="en-US" sz="1000" b="1">
                  <a:solidFill>
                    <a:srgbClr val="1C2541"/>
                  </a:solidFill>
                  <a:latin typeface="Space Grotesk"/>
                  <a:ea typeface="Space Grotesk"/>
                  <a:cs typeface="Space Grotesk"/>
                  <a:sym typeface="Space Grotesk"/>
                </a:rPr>
                <a:t>Insertion Sort</a:t>
              </a:r>
              <a:r>
                <a:rPr lang="en-US" sz="1000">
                  <a:solidFill>
                    <a:srgbClr val="2C3E2D"/>
                  </a:solidFill>
                  <a:latin typeface="EB Garamond"/>
                  <a:ea typeface="EB Garamond"/>
                  <a:cs typeface="EB Garamond"/>
                  <a:sym typeface="EB Garamond"/>
                </a:rPr>
                <a:t>Chèn phần tử vào đúng vị trí đã sắp.</a:t>
              </a:r>
              <a:r>
                <a:rPr lang="en-US" sz="1000" b="1">
                  <a:solidFill>
                    <a:srgbClr val="C23B22"/>
                  </a:solidFill>
                  <a:latin typeface="Space Grotesk"/>
                  <a:ea typeface="Space Grotesk"/>
                  <a:cs typeface="Space Grotesk"/>
                  <a:sym typeface="Space Grotesk"/>
                </a:rPr>
                <a:t>O(n²)</a:t>
              </a:r>
              <a:endParaRPr sz="1000">
                <a:solidFill>
                  <a:srgbClr val="2C3E2D"/>
                </a:solidFill>
                <a:latin typeface="EB Garamond"/>
                <a:ea typeface="EB Garamond"/>
                <a:cs typeface="EB Garamond"/>
                <a:sym typeface="EB Garamond"/>
              </a:endParaRPr>
            </a:p>
            <a:p>
              <a:pPr marL="0" lvl="0" indent="0" algn="l" rtl="0">
                <a:spcBef>
                  <a:spcPts val="1125"/>
                </a:spcBef>
                <a:spcAft>
                  <a:spcPts val="0"/>
                </a:spcAft>
                <a:buNone/>
              </a:pPr>
              <a:r>
                <a:rPr lang="en-US" sz="1000" b="1">
                  <a:solidFill>
                    <a:srgbClr val="1C2541"/>
                  </a:solidFill>
                  <a:latin typeface="Space Grotesk"/>
                  <a:ea typeface="Space Grotesk"/>
                  <a:cs typeface="Space Grotesk"/>
                  <a:sym typeface="Space Grotesk"/>
                </a:rPr>
                <a:t>Bubble Sort</a:t>
              </a:r>
              <a:r>
                <a:rPr lang="en-US" sz="1000">
                  <a:solidFill>
                    <a:srgbClr val="2C3E2D"/>
                  </a:solidFill>
                  <a:latin typeface="EB Garamond"/>
                  <a:ea typeface="EB Garamond"/>
                  <a:cs typeface="EB Garamond"/>
                  <a:sym typeface="EB Garamond"/>
                </a:rPr>
                <a:t>Đổi chỗ cặp sai thứ tự; dừng sớm.</a:t>
              </a:r>
              <a:r>
                <a:rPr lang="en-US" sz="1000" b="1">
                  <a:solidFill>
                    <a:srgbClr val="C23B22"/>
                  </a:solidFill>
                  <a:latin typeface="Space Grotesk"/>
                  <a:ea typeface="Space Grotesk"/>
                  <a:cs typeface="Space Grotesk"/>
                  <a:sym typeface="Space Grotesk"/>
                </a:rPr>
                <a:t>O(n²)</a:t>
              </a:r>
              <a:endParaRPr sz="1000">
                <a:solidFill>
                  <a:srgbClr val="2C3E2D"/>
                </a:solidFill>
                <a:latin typeface="EB Garamond"/>
                <a:ea typeface="EB Garamond"/>
                <a:cs typeface="EB Garamond"/>
                <a:sym typeface="EB Garamond"/>
              </a:endParaRPr>
            </a:p>
            <a:p>
              <a:pPr marL="0" lvl="0" indent="0" algn="l" rtl="0">
                <a:spcBef>
                  <a:spcPts val="1125"/>
                </a:spcBef>
                <a:spcAft>
                  <a:spcPts val="0"/>
                </a:spcAft>
                <a:buNone/>
              </a:pPr>
              <a:r>
                <a:rPr lang="en-US" sz="1000" b="1">
                  <a:solidFill>
                    <a:srgbClr val="1C2541"/>
                  </a:solidFill>
                  <a:latin typeface="Space Grotesk"/>
                  <a:ea typeface="Space Grotesk"/>
                  <a:cs typeface="Space Grotesk"/>
                  <a:sym typeface="Space Grotesk"/>
                </a:rPr>
                <a:t>Quick Sort</a:t>
              </a:r>
              <a:r>
                <a:rPr lang="en-US" sz="1000">
                  <a:solidFill>
                    <a:srgbClr val="2C3E2D"/>
                  </a:solidFill>
                  <a:latin typeface="EB Garamond"/>
                  <a:ea typeface="EB Garamond"/>
                  <a:cs typeface="EB Garamond"/>
                  <a:sym typeface="EB Garamond"/>
                </a:rPr>
                <a:t>Phân hoạch quanh chốt và đệ quy.</a:t>
              </a:r>
              <a:r>
                <a:rPr lang="en-US" sz="1000" b="1">
                  <a:solidFill>
                    <a:srgbClr val="C23B22"/>
                  </a:solidFill>
                  <a:latin typeface="Space Grotesk"/>
                  <a:ea typeface="Space Grotesk"/>
                  <a:cs typeface="Space Grotesk"/>
                  <a:sym typeface="Space Grotesk"/>
                </a:rPr>
                <a:t>O(n log n)</a:t>
              </a:r>
              <a:endParaRPr sz="1000">
                <a:solidFill>
                  <a:srgbClr val="2C3E2D"/>
                </a:solidFill>
                <a:latin typeface="EB Garamond"/>
                <a:ea typeface="EB Garamond"/>
                <a:cs typeface="EB Garamond"/>
                <a:sym typeface="EB Garamond"/>
              </a:endParaRPr>
            </a:p>
            <a:p>
              <a:pPr marL="0" lvl="0" indent="0" algn="l" rtl="0">
                <a:spcBef>
                  <a:spcPts val="1125"/>
                </a:spcBef>
                <a:spcAft>
                  <a:spcPts val="0"/>
                </a:spcAft>
                <a:buNone/>
              </a:pPr>
              <a:r>
                <a:rPr lang="en-US" sz="1000" b="1">
                  <a:solidFill>
                    <a:srgbClr val="1C2541"/>
                  </a:solidFill>
                  <a:latin typeface="Space Grotesk"/>
                  <a:ea typeface="Space Grotesk"/>
                  <a:cs typeface="Space Grotesk"/>
                  <a:sym typeface="Space Grotesk"/>
                </a:rPr>
                <a:t>Merge Sort</a:t>
              </a:r>
              <a:r>
                <a:rPr lang="en-US" sz="1000">
                  <a:solidFill>
                    <a:srgbClr val="2C3E2D"/>
                  </a:solidFill>
                  <a:latin typeface="EB Garamond"/>
                  <a:ea typeface="EB Garamond"/>
                  <a:cs typeface="EB Garamond"/>
                  <a:sym typeface="EB Garamond"/>
                </a:rPr>
                <a:t>Chia đôi, sắp hai nửa rồi trộn lại.</a:t>
              </a:r>
              <a:r>
                <a:rPr lang="en-US" sz="1000" b="1">
                  <a:solidFill>
                    <a:srgbClr val="C23B22"/>
                  </a:solidFill>
                  <a:latin typeface="Space Grotesk"/>
                  <a:ea typeface="Space Grotesk"/>
                  <a:cs typeface="Space Grotesk"/>
                  <a:sym typeface="Space Grotesk"/>
                </a:rPr>
                <a:t>O(n log n) </a:t>
              </a:r>
              <a:endParaRPr sz="1000">
                <a:solidFill>
                  <a:srgbClr val="2C3E2D"/>
                </a:solidFill>
                <a:latin typeface="EB Garamond"/>
                <a:ea typeface="EB Garamond"/>
                <a:cs typeface="EB Garamond"/>
                <a:sym typeface="EB Garamond"/>
              </a:endParaRPr>
            </a:p>
          </p:txBody>
        </p:sp>
        <p:grpSp>
          <p:nvGrpSpPr>
            <p:cNvPr id="105" name="Google Shape;105;p5"/>
            <p:cNvGrpSpPr/>
            <p:nvPr/>
          </p:nvGrpSpPr>
          <p:grpSpPr>
            <a:xfrm>
              <a:off x="6000750" y="1524000"/>
              <a:ext cx="2476500" cy="2476500"/>
              <a:chOff x="6000750" y="1524000"/>
              <a:chExt cx="2476500" cy="2476500"/>
            </a:xfrm>
          </p:grpSpPr>
          <p:sp>
            <p:nvSpPr>
              <p:cNvPr id="106" name="Google Shape;106;p5"/>
              <p:cNvSpPr/>
              <p:nvPr/>
            </p:nvSpPr>
            <p:spPr>
              <a:xfrm>
                <a:off x="6000750" y="1524000"/>
                <a:ext cx="2476500" cy="2476500"/>
              </a:xfrm>
              <a:prstGeom prst="roundRect">
                <a:avLst>
                  <a:gd name="adj" fmla="val 3076"/>
                </a:avLst>
              </a:prstGeom>
              <a:solidFill>
                <a:srgbClr val="1E1E1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7" name="Google Shape;107;p5"/>
              <p:cNvSpPr/>
              <p:nvPr/>
            </p:nvSpPr>
            <p:spPr>
              <a:xfrm>
                <a:off x="6000750" y="1524000"/>
                <a:ext cx="2476500" cy="285900"/>
              </a:xfrm>
              <a:prstGeom prst="roundRect">
                <a:avLst>
                  <a:gd name="adj" fmla="val 26666"/>
                </a:avLst>
              </a:prstGeom>
              <a:solidFill>
                <a:srgbClr val="33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8" name="Google Shape;108;p5"/>
              <p:cNvSpPr/>
              <p:nvPr/>
            </p:nvSpPr>
            <p:spPr>
              <a:xfrm>
                <a:off x="6000750" y="1666875"/>
                <a:ext cx="2476500" cy="142800"/>
              </a:xfrm>
              <a:prstGeom prst="rect">
                <a:avLst/>
              </a:prstGeom>
              <a:solidFill>
                <a:srgbClr val="333333"/>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9" name="Google Shape;109;p5"/>
              <p:cNvSpPr txBox="1"/>
              <p:nvPr/>
            </p:nvSpPr>
            <p:spPr>
              <a:xfrm>
                <a:off x="6096000" y="1524000"/>
                <a:ext cx="22860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900" b="1">
                    <a:solidFill>
                      <a:srgbClr val="FFFFFF"/>
                    </a:solidFill>
                    <a:latin typeface="Playfair Display"/>
                    <a:ea typeface="Playfair Display"/>
                    <a:cs typeface="Playfair Display"/>
                    <a:sym typeface="Playfair Display"/>
                  </a:rPr>
                  <a:t>Code: Selection Sort</a:t>
                </a:r>
                <a:endParaRPr sz="900" b="1">
                  <a:solidFill>
                    <a:srgbClr val="FFFFFF"/>
                  </a:solidFill>
                  <a:latin typeface="Playfair Display"/>
                  <a:ea typeface="Playfair Display"/>
                  <a:cs typeface="Playfair Display"/>
                  <a:sym typeface="Playfair Display"/>
                </a:endParaRPr>
              </a:p>
            </p:txBody>
          </p:sp>
          <p:sp>
            <p:nvSpPr>
              <p:cNvPr id="110" name="Google Shape;110;p5"/>
              <p:cNvSpPr txBox="1"/>
              <p:nvPr/>
            </p:nvSpPr>
            <p:spPr>
              <a:xfrm>
                <a:off x="6096000" y="1857375"/>
                <a:ext cx="2286000" cy="1428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750">
                    <a:solidFill>
                      <a:srgbClr val="569CD6"/>
                    </a:solidFill>
                    <a:latin typeface="Space Grotesk"/>
                    <a:ea typeface="Space Grotesk"/>
                    <a:cs typeface="Space Grotesk"/>
                    <a:sym typeface="Space Grotesk"/>
                  </a:rPr>
                  <a:t>for</a:t>
                </a:r>
                <a:r>
                  <a:rPr lang="en-US" sz="750">
                    <a:solidFill>
                      <a:srgbClr val="D4D4D4"/>
                    </a:solidFill>
                    <a:latin typeface="Space Grotesk"/>
                    <a:ea typeface="Space Grotesk"/>
                    <a:cs typeface="Space Grotesk"/>
                    <a:sym typeface="Space Grotesk"/>
                  </a:rPr>
                  <a:t> (int i = 0; i &lt; n - 1; i++) {</a:t>
                </a:r>
                <a:endParaRPr sz="750">
                  <a:solidFill>
                    <a:srgbClr val="D4D4D4"/>
                  </a:solidFill>
                  <a:latin typeface="Space Grotesk"/>
                  <a:ea typeface="Space Grotesk"/>
                  <a:cs typeface="Space Grotesk"/>
                  <a:sym typeface="Space Grotesk"/>
                </a:endParaRPr>
              </a:p>
              <a:p>
                <a:pPr marL="0" lvl="0" indent="0" algn="l" rtl="0">
                  <a:spcBef>
                    <a:spcPts val="0"/>
                  </a:spcBef>
                  <a:spcAft>
                    <a:spcPts val="0"/>
                  </a:spcAft>
                  <a:buNone/>
                </a:pPr>
                <a:r>
                  <a:rPr lang="en-US" sz="750">
                    <a:solidFill>
                      <a:srgbClr val="4EC9B0"/>
                    </a:solidFill>
                    <a:latin typeface="Space Grotesk"/>
                    <a:ea typeface="Space Grotesk"/>
                    <a:cs typeface="Space Grotesk"/>
                    <a:sym typeface="Space Grotesk"/>
                  </a:rPr>
                  <a:t>int</a:t>
                </a:r>
                <a:r>
                  <a:rPr lang="en-US" sz="750">
                    <a:solidFill>
                      <a:srgbClr val="D4D4D4"/>
                    </a:solidFill>
                    <a:latin typeface="Space Grotesk"/>
                    <a:ea typeface="Space Grotesk"/>
                    <a:cs typeface="Space Grotesk"/>
                    <a:sym typeface="Space Grotesk"/>
                  </a:rPr>
                  <a:t> minIdx = i;</a:t>
                </a:r>
                <a:endParaRPr sz="750">
                  <a:solidFill>
                    <a:srgbClr val="D4D4D4"/>
                  </a:solidFill>
                  <a:latin typeface="Space Grotesk"/>
                  <a:ea typeface="Space Grotesk"/>
                  <a:cs typeface="Space Grotesk"/>
                  <a:sym typeface="Space Grotesk"/>
                </a:endParaRPr>
              </a:p>
              <a:p>
                <a:pPr marL="0" lvl="0" indent="0" algn="l" rtl="0">
                  <a:spcBef>
                    <a:spcPts val="0"/>
                  </a:spcBef>
                  <a:spcAft>
                    <a:spcPts val="0"/>
                  </a:spcAft>
                  <a:buNone/>
                </a:pPr>
                <a:r>
                  <a:rPr lang="en-US" sz="750">
                    <a:solidFill>
                      <a:srgbClr val="569CD6"/>
                    </a:solidFill>
                    <a:latin typeface="Space Grotesk"/>
                    <a:ea typeface="Space Grotesk"/>
                    <a:cs typeface="Space Grotesk"/>
                    <a:sym typeface="Space Grotesk"/>
                  </a:rPr>
                  <a:t>for</a:t>
                </a:r>
                <a:r>
                  <a:rPr lang="en-US" sz="750">
                    <a:solidFill>
                      <a:srgbClr val="D4D4D4"/>
                    </a:solidFill>
                    <a:latin typeface="Space Grotesk"/>
                    <a:ea typeface="Space Grotesk"/>
                    <a:cs typeface="Space Grotesk"/>
                    <a:sym typeface="Space Grotesk"/>
                  </a:rPr>
                  <a:t> (int j = i + 1; j &lt; n; j++)</a:t>
                </a:r>
                <a:endParaRPr sz="750">
                  <a:solidFill>
                    <a:srgbClr val="D4D4D4"/>
                  </a:solidFill>
                  <a:latin typeface="Space Grotesk"/>
                  <a:ea typeface="Space Grotesk"/>
                  <a:cs typeface="Space Grotesk"/>
                  <a:sym typeface="Space Grotesk"/>
                </a:endParaRPr>
              </a:p>
              <a:p>
                <a:pPr marL="0" lvl="0" indent="0" algn="l" rtl="0">
                  <a:spcBef>
                    <a:spcPts val="0"/>
                  </a:spcBef>
                  <a:spcAft>
                    <a:spcPts val="0"/>
                  </a:spcAft>
                  <a:buNone/>
                </a:pPr>
                <a:r>
                  <a:rPr lang="en-US" sz="750">
                    <a:solidFill>
                      <a:srgbClr val="C586C0"/>
                    </a:solidFill>
                    <a:latin typeface="Space Grotesk"/>
                    <a:ea typeface="Space Grotesk"/>
                    <a:cs typeface="Space Grotesk"/>
                    <a:sym typeface="Space Grotesk"/>
                  </a:rPr>
                  <a:t>if</a:t>
                </a:r>
                <a:r>
                  <a:rPr lang="en-US" sz="750">
                    <a:solidFill>
                      <a:srgbClr val="D4D4D4"/>
                    </a:solidFill>
                    <a:latin typeface="Space Grotesk"/>
                    <a:ea typeface="Space Grotesk"/>
                    <a:cs typeface="Space Grotesk"/>
                    <a:sym typeface="Space Grotesk"/>
                  </a:rPr>
                  <a:t> (compare(list[j], list[minIdx]) &lt; 0)</a:t>
                </a:r>
                <a:endParaRPr sz="750">
                  <a:solidFill>
                    <a:srgbClr val="D4D4D4"/>
                  </a:solidFill>
                  <a:latin typeface="Space Grotesk"/>
                  <a:ea typeface="Space Grotesk"/>
                  <a:cs typeface="Space Grotesk"/>
                  <a:sym typeface="Space Grotesk"/>
                </a:endParaRPr>
              </a:p>
              <a:p>
                <a:pPr marL="0" lvl="0" indent="0" algn="l" rtl="0">
                  <a:spcBef>
                    <a:spcPts val="0"/>
                  </a:spcBef>
                  <a:spcAft>
                    <a:spcPts val="0"/>
                  </a:spcAft>
                  <a:buNone/>
                </a:pPr>
                <a:r>
                  <a:rPr lang="en-US" sz="750">
                    <a:solidFill>
                      <a:srgbClr val="D4D4D4"/>
                    </a:solidFill>
                    <a:latin typeface="Space Grotesk"/>
                    <a:ea typeface="Space Grotesk"/>
                    <a:cs typeface="Space Grotesk"/>
                    <a:sym typeface="Space Grotesk"/>
                  </a:rPr>
                  <a:t>minIdx = j;</a:t>
                </a:r>
                <a:endParaRPr sz="750">
                  <a:solidFill>
                    <a:srgbClr val="D4D4D4"/>
                  </a:solidFill>
                  <a:latin typeface="Space Grotesk"/>
                  <a:ea typeface="Space Grotesk"/>
                  <a:cs typeface="Space Grotesk"/>
                  <a:sym typeface="Space Grotesk"/>
                </a:endParaRPr>
              </a:p>
              <a:p>
                <a:pPr marL="0" lvl="0" indent="0" algn="l" rtl="0">
                  <a:spcBef>
                    <a:spcPts val="375"/>
                  </a:spcBef>
                  <a:spcAft>
                    <a:spcPts val="0"/>
                  </a:spcAft>
                  <a:buNone/>
                </a:pPr>
                <a:endParaRPr sz="750">
                  <a:solidFill>
                    <a:srgbClr val="D4D4D4"/>
                  </a:solidFill>
                  <a:latin typeface="Space Grotesk"/>
                  <a:ea typeface="Space Grotesk"/>
                  <a:cs typeface="Space Grotesk"/>
                  <a:sym typeface="Space Grotesk"/>
                </a:endParaRPr>
              </a:p>
              <a:p>
                <a:pPr marL="0" lvl="0" indent="0" algn="l" rtl="0">
                  <a:spcBef>
                    <a:spcPts val="375"/>
                  </a:spcBef>
                  <a:spcAft>
                    <a:spcPts val="0"/>
                  </a:spcAft>
                  <a:buNone/>
                </a:pPr>
                <a:r>
                  <a:rPr lang="en-US" sz="750">
                    <a:solidFill>
                      <a:srgbClr val="C586C0"/>
                    </a:solidFill>
                    <a:latin typeface="Space Grotesk"/>
                    <a:ea typeface="Space Grotesk"/>
                    <a:cs typeface="Space Grotesk"/>
                    <a:sym typeface="Space Grotesk"/>
                  </a:rPr>
                  <a:t>if</a:t>
                </a:r>
                <a:r>
                  <a:rPr lang="en-US" sz="750">
                    <a:solidFill>
                      <a:srgbClr val="D4D4D4"/>
                    </a:solidFill>
                    <a:latin typeface="Space Grotesk"/>
                    <a:ea typeface="Space Grotesk"/>
                    <a:cs typeface="Space Grotesk"/>
                    <a:sym typeface="Space Grotesk"/>
                  </a:rPr>
                  <a:t> (minIdx != i)</a:t>
                </a:r>
                <a:endParaRPr sz="750">
                  <a:solidFill>
                    <a:srgbClr val="D4D4D4"/>
                  </a:solidFill>
                  <a:latin typeface="Space Grotesk"/>
                  <a:ea typeface="Space Grotesk"/>
                  <a:cs typeface="Space Grotesk"/>
                  <a:sym typeface="Space Grotesk"/>
                </a:endParaRPr>
              </a:p>
              <a:p>
                <a:pPr marL="0" lvl="0" indent="0" algn="l" rtl="0">
                  <a:spcBef>
                    <a:spcPts val="0"/>
                  </a:spcBef>
                  <a:spcAft>
                    <a:spcPts val="0"/>
                  </a:spcAft>
                  <a:buNone/>
                </a:pPr>
                <a:r>
                  <a:rPr lang="en-US" sz="750">
                    <a:solidFill>
                      <a:srgbClr val="D4D4D4"/>
                    </a:solidFill>
                    <a:latin typeface="Space Grotesk"/>
                    <a:ea typeface="Space Grotesk"/>
                    <a:cs typeface="Space Grotesk"/>
                    <a:sym typeface="Space Grotesk"/>
                  </a:rPr>
                  <a:t>Swap(list[i], list[minIdx]);</a:t>
                </a:r>
                <a:endParaRPr sz="750">
                  <a:solidFill>
                    <a:srgbClr val="D4D4D4"/>
                  </a:solidFill>
                  <a:latin typeface="Space Grotesk"/>
                  <a:ea typeface="Space Grotesk"/>
                  <a:cs typeface="Space Grotesk"/>
                  <a:sym typeface="Space Grotesk"/>
                </a:endParaRPr>
              </a:p>
              <a:p>
                <a:pPr marL="0" lvl="0" indent="0" algn="l" rtl="0">
                  <a:spcBef>
                    <a:spcPts val="0"/>
                  </a:spcBef>
                  <a:spcAft>
                    <a:spcPts val="0"/>
                  </a:spcAft>
                  <a:buNone/>
                </a:pPr>
                <a:r>
                  <a:rPr lang="en-US" sz="750">
                    <a:solidFill>
                      <a:srgbClr val="D4D4D4"/>
                    </a:solidFill>
                    <a:latin typeface="Space Grotesk"/>
                    <a:ea typeface="Space Grotesk"/>
                    <a:cs typeface="Space Grotesk"/>
                    <a:sym typeface="Space Grotesk"/>
                  </a:rPr>
                  <a:t>}</a:t>
                </a:r>
                <a:endParaRPr sz="750">
                  <a:solidFill>
                    <a:srgbClr val="D4D4D4"/>
                  </a:solidFill>
                  <a:latin typeface="Space Grotesk"/>
                  <a:ea typeface="Space Grotesk"/>
                  <a:cs typeface="Space Grotesk"/>
                  <a:sym typeface="Space Grotesk"/>
                </a:endParaRPr>
              </a:p>
            </p:txBody>
          </p:sp>
          <p:pic>
            <p:nvPicPr>
              <p:cNvPr id="111" name="Google Shape;111;p5"/>
              <p:cNvPicPr preferRelativeResize="0"/>
              <p:nvPr/>
            </p:nvPicPr>
            <p:blipFill rotWithShape="1">
              <a:blip r:embed="rId4">
                <a:alphaModFix/>
              </a:blip>
              <a:srcRect/>
              <a:stretch/>
            </p:blipFill>
            <p:spPr>
              <a:xfrm>
                <a:off x="6096000" y="3376613"/>
                <a:ext cx="2286000" cy="9600"/>
              </a:xfrm>
              <a:prstGeom prst="rect">
                <a:avLst/>
              </a:prstGeom>
              <a:noFill/>
              <a:ln>
                <a:noFill/>
              </a:ln>
            </p:spPr>
          </p:pic>
          <p:sp>
            <p:nvSpPr>
              <p:cNvPr id="112" name="Google Shape;112;p5"/>
              <p:cNvSpPr txBox="1"/>
              <p:nvPr/>
            </p:nvSpPr>
            <p:spPr>
              <a:xfrm>
                <a:off x="6096000" y="3476625"/>
                <a:ext cx="2286000" cy="428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800" i="1">
                    <a:solidFill>
                      <a:srgbClr val="BBBBBB"/>
                    </a:solidFill>
                    <a:latin typeface="EB Garamond"/>
                    <a:ea typeface="EB Garamond"/>
                    <a:cs typeface="EB Garamond"/>
                    <a:sym typeface="EB Garamond"/>
                  </a:rPr>
                  <a:t>Cài đặt độc lập kiểu dữ liệu, cho phép tái sử dụng cho mọi thuộc tính thiết bị.</a:t>
                </a:r>
                <a:endParaRPr sz="800" i="1">
                  <a:solidFill>
                    <a:srgbClr val="BBBBBB"/>
                  </a:solidFill>
                  <a:latin typeface="EB Garamond"/>
                  <a:ea typeface="EB Garamond"/>
                  <a:cs typeface="EB Garamond"/>
                  <a:sym typeface="EB Garamond"/>
                </a:endParaRPr>
              </a:p>
            </p:txBody>
          </p:sp>
        </p:grpSp>
      </p:grpSp>
      <p:sp>
        <p:nvSpPr>
          <p:cNvPr id="113" name="Google Shape;113;p5"/>
          <p:cNvSpPr/>
          <p:nvPr/>
        </p:nvSpPr>
        <p:spPr>
          <a:xfrm>
            <a:off x="571500" y="4381500"/>
            <a:ext cx="8001000" cy="381000"/>
          </a:xfrm>
          <a:prstGeom prst="rect">
            <a:avLst/>
          </a:prstGeom>
          <a:solidFill>
            <a:srgbClr val="000000">
              <a:alpha val="0"/>
            </a:srgbClr>
          </a:solidFill>
          <a:ln>
            <a:noFill/>
          </a:ln>
        </p:spPr>
        <p:txBody>
          <a:bodyPr spcFirstLastPara="1" wrap="square" lIns="0" tIns="0" rIns="0" bIns="0" anchor="ctr" anchorCtr="0">
            <a:spAutoFit/>
          </a:bodyPr>
          <a:lstStyle/>
          <a:p>
            <a:pPr marL="0" lvl="0" indent="0" algn="l" rtl="0">
              <a:spcBef>
                <a:spcPts val="0"/>
              </a:spcBef>
              <a:spcAft>
                <a:spcPts val="0"/>
              </a:spcAft>
              <a:buNone/>
            </a:pPr>
            <a:r>
              <a:rPr lang="en-US" sz="1050" b="0" i="1">
                <a:solidFill>
                  <a:srgbClr val="7B9AAF"/>
                </a:solidFill>
                <a:latin typeface="EB Garamond"/>
                <a:ea typeface="EB Garamond"/>
                <a:cs typeface="EB Garamond"/>
                <a:sym typeface="EB Garamond"/>
              </a:rPr>
              <a:t>* Sử dụng Generic và Delegate Comparison&lt;T&gt; để sắp xếp linh hoạt theo 8 khóa dữ liệu khác nhau.</a:t>
            </a:r>
            <a:endParaRPr sz="1050" b="0" i="1">
              <a:solidFill>
                <a:srgbClr val="7B9AAF"/>
              </a:solidFill>
              <a:latin typeface="EB Garamond"/>
              <a:ea typeface="EB Garamond"/>
              <a:cs typeface="EB Garamond"/>
              <a:sym typeface="EB Garamon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6"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20" name="Google Shape;120;p6"/>
          <p:cNvSpPr/>
          <p:nvPr/>
        </p:nvSpPr>
        <p:spPr>
          <a:xfrm>
            <a:off x="571500" y="729779"/>
            <a:ext cx="314325" cy="31432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C23B22"/>
              </a:buClr>
              <a:buSzPts val="900"/>
              <a:buFont typeface="EB Garamond Medium"/>
              <a:buNone/>
            </a:pPr>
            <a:r>
              <a:rPr lang="en-US" sz="900" b="1" i="0" u="none" strike="noStrike" cap="none">
                <a:solidFill>
                  <a:srgbClr val="C23B22"/>
                </a:solidFill>
                <a:latin typeface="EB Garamond Medium"/>
                <a:ea typeface="EB Garamond Medium"/>
                <a:cs typeface="EB Garamond Medium"/>
                <a:sym typeface="EB Garamond Medium"/>
              </a:rPr>
              <a:t>W</a:t>
            </a:r>
            <a:endParaRPr sz="900" b="0" i="0" u="none" strike="noStrike" cap="none">
              <a:solidFill>
                <a:schemeClr val="dk1"/>
              </a:solidFill>
              <a:latin typeface="Calibri"/>
              <a:ea typeface="Calibri"/>
              <a:cs typeface="Calibri"/>
              <a:sym typeface="Calibri"/>
            </a:endParaRPr>
          </a:p>
        </p:txBody>
      </p:sp>
      <p:sp>
        <p:nvSpPr>
          <p:cNvPr id="121" name="Google Shape;121;p6"/>
          <p:cNvSpPr/>
          <p:nvPr/>
        </p:nvSpPr>
        <p:spPr>
          <a:xfrm>
            <a:off x="1028700" y="658341"/>
            <a:ext cx="4925616"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2450"/>
              <a:buFont typeface="Playfair Display"/>
              <a:buNone/>
            </a:pPr>
            <a:r>
              <a:rPr lang="en-US" sz="2450" b="1" i="0" u="none" strike="noStrike" cap="none">
                <a:solidFill>
                  <a:srgbClr val="2C3E2D"/>
                </a:solidFill>
                <a:latin typeface="Playfair Display"/>
                <a:ea typeface="Playfair Display"/>
                <a:cs typeface="Playfair Display"/>
                <a:sym typeface="Playfair Display"/>
              </a:rPr>
              <a:t>THUẬT TOÁN TÌM KIẾM (M4)</a:t>
            </a:r>
            <a:endParaRPr sz="2450" b="0" i="0" u="none" strike="noStrike" cap="none">
              <a:solidFill>
                <a:schemeClr val="dk1"/>
              </a:solidFill>
              <a:latin typeface="Calibri"/>
              <a:ea typeface="Calibri"/>
              <a:cs typeface="Calibri"/>
              <a:sym typeface="Calibri"/>
            </a:endParaRPr>
          </a:p>
        </p:txBody>
      </p:sp>
      <p:sp>
        <p:nvSpPr>
          <p:cNvPr id="122" name="Google Shape;122;p6"/>
          <p:cNvSpPr/>
          <p:nvPr/>
        </p:nvSpPr>
        <p:spPr>
          <a:xfrm>
            <a:off x="571500" y="1781026"/>
            <a:ext cx="2476481"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500"/>
              <a:buFont typeface="Playfair Display"/>
              <a:buNone/>
            </a:pPr>
            <a:r>
              <a:rPr lang="en-US" sz="1500" b="1" i="0" u="none" strike="noStrike" cap="none">
                <a:solidFill>
                  <a:srgbClr val="1C2541"/>
                </a:solidFill>
                <a:latin typeface="Playfair Display"/>
                <a:ea typeface="Playfair Display"/>
                <a:cs typeface="Playfair Display"/>
                <a:sym typeface="Playfair Display"/>
              </a:rPr>
              <a:t>Tìm Kiếm Tuần Tự</a:t>
            </a:r>
            <a:endParaRPr sz="1500" b="0" i="0" u="none" strike="noStrike" cap="none">
              <a:solidFill>
                <a:schemeClr val="dk1"/>
              </a:solidFill>
              <a:latin typeface="Calibri"/>
              <a:ea typeface="Calibri"/>
              <a:cs typeface="Calibri"/>
              <a:sym typeface="Calibri"/>
            </a:endParaRPr>
          </a:p>
        </p:txBody>
      </p:sp>
      <p:sp>
        <p:nvSpPr>
          <p:cNvPr id="123" name="Google Shape;123;p6"/>
          <p:cNvSpPr/>
          <p:nvPr/>
        </p:nvSpPr>
        <p:spPr>
          <a:xfrm>
            <a:off x="571500" y="2182862"/>
            <a:ext cx="2476481" cy="651477"/>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00"/>
              <a:buFont typeface="EB Garamond"/>
              <a:buNone/>
            </a:pPr>
            <a:r>
              <a:rPr lang="en-US" sz="1000" b="0" i="0" u="none" strike="noStrike" cap="none">
                <a:solidFill>
                  <a:srgbClr val="2D3142"/>
                </a:solidFill>
                <a:latin typeface="EB Garamond"/>
                <a:ea typeface="EB Garamond"/>
                <a:cs typeface="EB Garamond"/>
                <a:sym typeface="EB Garamond"/>
              </a:rPr>
              <a:t>Duyệt toàn bộ danh sách để tìm kiếm. Ưu điểm là có thể áp dụng ngay trên mọi trường dữ liệu mà không cần sắp xếp trước.</a:t>
            </a:r>
            <a:endParaRPr sz="1000" b="0" i="0" u="none" strike="noStrike" cap="none">
              <a:solidFill>
                <a:schemeClr val="dk1"/>
              </a:solidFill>
              <a:latin typeface="Calibri"/>
              <a:ea typeface="Calibri"/>
              <a:cs typeface="Calibri"/>
              <a:sym typeface="Calibri"/>
            </a:endParaRPr>
          </a:p>
        </p:txBody>
      </p:sp>
      <p:sp>
        <p:nvSpPr>
          <p:cNvPr id="124" name="Google Shape;124;p6"/>
          <p:cNvSpPr/>
          <p:nvPr/>
        </p:nvSpPr>
        <p:spPr>
          <a:xfrm>
            <a:off x="571500" y="3077226"/>
            <a:ext cx="1348383" cy="175022"/>
          </a:xfrm>
          <a:prstGeom prst="rect">
            <a:avLst/>
          </a:prstGeom>
          <a:solidFill>
            <a:srgbClr val="C23B22">
              <a:alpha val="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6"/>
          <p:cNvSpPr/>
          <p:nvPr/>
        </p:nvSpPr>
        <p:spPr>
          <a:xfrm>
            <a:off x="571500" y="3077226"/>
            <a:ext cx="1348383" cy="175022"/>
          </a:xfrm>
          <a:prstGeom prst="rect">
            <a:avLst/>
          </a:prstGeom>
          <a:noFill/>
          <a:ln>
            <a:noFill/>
          </a:ln>
        </p:spPr>
        <p:txBody>
          <a:bodyPr spcFirstLastPara="1" wrap="square" lIns="68050" tIns="17000" rIns="68050" bIns="17000" anchor="t" anchorCtr="0">
            <a:spAutoFit/>
          </a:bodyPr>
          <a:lstStyle/>
          <a:p>
            <a:pPr marL="0" marR="0" lvl="0" indent="0" algn="l" rtl="0">
              <a:spcBef>
                <a:spcPts val="0"/>
              </a:spcBef>
              <a:spcAft>
                <a:spcPts val="0"/>
              </a:spcAft>
              <a:buClr>
                <a:srgbClr val="C23B22"/>
              </a:buClr>
              <a:buSzPts val="850"/>
              <a:buFont typeface="Space Grotesk Medium"/>
              <a:buNone/>
            </a:pPr>
            <a:r>
              <a:rPr lang="en-US" sz="850" b="0" i="0" u="none" strike="noStrike" cap="none">
                <a:solidFill>
                  <a:srgbClr val="C23B22"/>
                </a:solidFill>
                <a:latin typeface="Space Grotesk Medium"/>
                <a:ea typeface="Space Grotesk Medium"/>
                <a:cs typeface="Space Grotesk Medium"/>
                <a:sym typeface="Space Grotesk Medium"/>
              </a:rPr>
              <a:t>Unicode Normalization</a:t>
            </a:r>
            <a:endParaRPr sz="850" b="0" i="0" u="none" strike="noStrike" cap="none">
              <a:solidFill>
                <a:schemeClr val="dk1"/>
              </a:solidFill>
              <a:latin typeface="Calibri"/>
              <a:ea typeface="Calibri"/>
              <a:cs typeface="Calibri"/>
              <a:sym typeface="Calibri"/>
            </a:endParaRPr>
          </a:p>
        </p:txBody>
      </p:sp>
      <p:sp>
        <p:nvSpPr>
          <p:cNvPr id="126" name="Google Shape;126;p6"/>
          <p:cNvSpPr/>
          <p:nvPr/>
        </p:nvSpPr>
        <p:spPr>
          <a:xfrm>
            <a:off x="571500" y="3395123"/>
            <a:ext cx="2476481" cy="428625"/>
          </a:xfrm>
          <a:prstGeom prst="rect">
            <a:avLst/>
          </a:prstGeom>
          <a:noFill/>
          <a:ln>
            <a:noFill/>
          </a:ln>
        </p:spPr>
        <p:txBody>
          <a:bodyPr spcFirstLastPara="1" wrap="square" lIns="0" tIns="127500" rIns="0" bIns="0" anchor="t" anchorCtr="0">
            <a:spAutoFit/>
          </a:bodyPr>
          <a:lstStyle/>
          <a:p>
            <a:pPr marL="0" marR="0" lvl="0" indent="0" algn="l" rtl="0">
              <a:spcBef>
                <a:spcPts val="0"/>
              </a:spcBef>
              <a:spcAft>
                <a:spcPts val="0"/>
              </a:spcAft>
              <a:buClr>
                <a:srgbClr val="7B9AAF"/>
              </a:buClr>
              <a:buSzPts val="900"/>
              <a:buFont typeface="EB Garamond"/>
              <a:buNone/>
            </a:pPr>
            <a:r>
              <a:rPr lang="en-US" sz="900" b="0" i="1" u="none" strike="noStrike" cap="none">
                <a:solidFill>
                  <a:srgbClr val="7B9AAF"/>
                </a:solidFill>
                <a:latin typeface="EB Garamond"/>
                <a:ea typeface="EB Garamond"/>
                <a:cs typeface="EB Garamond"/>
                <a:sym typeface="EB Garamond"/>
              </a:rPr>
              <a:t>Chuẩn hóa: "Súng AK47" → "sung ak47". Hỗ trợ tìm không dấu, tìm một phần và nhiều từ khóa.</a:t>
            </a:r>
            <a:endParaRPr sz="900" b="0" i="0" u="none" strike="noStrike" cap="none">
              <a:solidFill>
                <a:schemeClr val="dk1"/>
              </a:solidFill>
              <a:latin typeface="Calibri"/>
              <a:ea typeface="Calibri"/>
              <a:cs typeface="Calibri"/>
              <a:sym typeface="Calibri"/>
            </a:endParaRPr>
          </a:p>
        </p:txBody>
      </p:sp>
      <p:sp>
        <p:nvSpPr>
          <p:cNvPr id="127" name="Google Shape;127;p6"/>
          <p:cNvSpPr/>
          <p:nvPr/>
        </p:nvSpPr>
        <p:spPr>
          <a:xfrm>
            <a:off x="3333731" y="1781026"/>
            <a:ext cx="2476509"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500"/>
              <a:buFont typeface="Playfair Display"/>
              <a:buNone/>
            </a:pPr>
            <a:r>
              <a:rPr lang="en-US" sz="1500" b="1" i="0" u="none" strike="noStrike" cap="none">
                <a:solidFill>
                  <a:srgbClr val="1C2541"/>
                </a:solidFill>
                <a:latin typeface="Playfair Display"/>
                <a:ea typeface="Playfair Display"/>
                <a:cs typeface="Playfair Display"/>
                <a:sym typeface="Playfair Display"/>
              </a:rPr>
              <a:t>Tìm Kiếm Nhị Phân</a:t>
            </a:r>
            <a:endParaRPr sz="1500" b="0" i="0" u="none" strike="noStrike" cap="none">
              <a:solidFill>
                <a:schemeClr val="dk1"/>
              </a:solidFill>
              <a:latin typeface="Calibri"/>
              <a:ea typeface="Calibri"/>
              <a:cs typeface="Calibri"/>
              <a:sym typeface="Calibri"/>
            </a:endParaRPr>
          </a:p>
        </p:txBody>
      </p:sp>
      <p:sp>
        <p:nvSpPr>
          <p:cNvPr id="128" name="Google Shape;128;p6"/>
          <p:cNvSpPr/>
          <p:nvPr/>
        </p:nvSpPr>
        <p:spPr>
          <a:xfrm>
            <a:off x="3333731" y="2182862"/>
            <a:ext cx="2476509" cy="651477"/>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00"/>
              <a:buFont typeface="EB Garamond"/>
              <a:buNone/>
            </a:pPr>
            <a:r>
              <a:rPr lang="en-US" sz="1000" b="0" i="0" u="none" strike="noStrike" cap="none">
                <a:solidFill>
                  <a:srgbClr val="2D3142"/>
                </a:solidFill>
                <a:latin typeface="EB Garamond"/>
                <a:ea typeface="EB Garamond"/>
                <a:cs typeface="EB Garamond"/>
                <a:sym typeface="EB Garamond"/>
              </a:rPr>
              <a:t>Tối ưu tốc độ tìm kiếm trên danh sách đã được sắp xếp. Hiệu quả vượt trội cho các khóa dữ liệu kiểu số và ngày tháng.</a:t>
            </a:r>
            <a:endParaRPr sz="1000" b="0" i="0" u="none" strike="noStrike" cap="none">
              <a:solidFill>
                <a:schemeClr val="dk1"/>
              </a:solidFill>
              <a:latin typeface="Calibri"/>
              <a:ea typeface="Calibri"/>
              <a:cs typeface="Calibri"/>
              <a:sym typeface="Calibri"/>
            </a:endParaRPr>
          </a:p>
        </p:txBody>
      </p:sp>
      <p:sp>
        <p:nvSpPr>
          <p:cNvPr id="129" name="Google Shape;129;p6"/>
          <p:cNvSpPr/>
          <p:nvPr/>
        </p:nvSpPr>
        <p:spPr>
          <a:xfrm>
            <a:off x="3333731" y="3077226"/>
            <a:ext cx="1201936" cy="175022"/>
          </a:xfrm>
          <a:prstGeom prst="rect">
            <a:avLst/>
          </a:prstGeom>
          <a:solidFill>
            <a:srgbClr val="C23B22">
              <a:alpha val="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6"/>
          <p:cNvSpPr/>
          <p:nvPr/>
        </p:nvSpPr>
        <p:spPr>
          <a:xfrm>
            <a:off x="3333731" y="3077226"/>
            <a:ext cx="1201936" cy="175022"/>
          </a:xfrm>
          <a:prstGeom prst="rect">
            <a:avLst/>
          </a:prstGeom>
          <a:noFill/>
          <a:ln>
            <a:noFill/>
          </a:ln>
        </p:spPr>
        <p:txBody>
          <a:bodyPr spcFirstLastPara="1" wrap="square" lIns="68050" tIns="17000" rIns="68050" bIns="17000" anchor="t" anchorCtr="0">
            <a:spAutoFit/>
          </a:bodyPr>
          <a:lstStyle/>
          <a:p>
            <a:pPr marL="0" marR="0" lvl="0" indent="0" algn="l" rtl="0">
              <a:spcBef>
                <a:spcPts val="0"/>
              </a:spcBef>
              <a:spcAft>
                <a:spcPts val="0"/>
              </a:spcAft>
              <a:buClr>
                <a:srgbClr val="C23B22"/>
              </a:buClr>
              <a:buSzPts val="850"/>
              <a:buFont typeface="Space Grotesk Medium"/>
              <a:buNone/>
            </a:pPr>
            <a:r>
              <a:rPr lang="en-US" sz="850" b="0" i="0" u="none" strike="noStrike" cap="none">
                <a:solidFill>
                  <a:srgbClr val="C23B22"/>
                </a:solidFill>
                <a:latin typeface="Space Grotesk Medium"/>
                <a:ea typeface="Space Grotesk Medium"/>
                <a:cs typeface="Space Grotesk Medium"/>
                <a:sym typeface="Space Grotesk Medium"/>
              </a:rPr>
              <a:t>O(log n) Complexity</a:t>
            </a:r>
            <a:endParaRPr sz="850" b="0" i="0" u="none" strike="noStrike" cap="none">
              <a:solidFill>
                <a:schemeClr val="dk1"/>
              </a:solidFill>
              <a:latin typeface="Calibri"/>
              <a:ea typeface="Calibri"/>
              <a:cs typeface="Calibri"/>
              <a:sym typeface="Calibri"/>
            </a:endParaRPr>
          </a:p>
        </p:txBody>
      </p:sp>
      <p:sp>
        <p:nvSpPr>
          <p:cNvPr id="131" name="Google Shape;131;p6"/>
          <p:cNvSpPr/>
          <p:nvPr/>
        </p:nvSpPr>
        <p:spPr>
          <a:xfrm>
            <a:off x="3333731" y="3395123"/>
            <a:ext cx="2476509" cy="428625"/>
          </a:xfrm>
          <a:prstGeom prst="rect">
            <a:avLst/>
          </a:prstGeom>
          <a:noFill/>
          <a:ln>
            <a:noFill/>
          </a:ln>
        </p:spPr>
        <p:txBody>
          <a:bodyPr spcFirstLastPara="1" wrap="square" lIns="0" tIns="127500" rIns="0" bIns="0" anchor="t" anchorCtr="0">
            <a:spAutoFit/>
          </a:bodyPr>
          <a:lstStyle/>
          <a:p>
            <a:pPr marL="0" marR="0" lvl="0" indent="0" algn="l" rtl="0">
              <a:spcBef>
                <a:spcPts val="0"/>
              </a:spcBef>
              <a:spcAft>
                <a:spcPts val="0"/>
              </a:spcAft>
              <a:buClr>
                <a:srgbClr val="7B9AAF"/>
              </a:buClr>
              <a:buSzPts val="900"/>
              <a:buFont typeface="EB Garamond"/>
              <a:buNone/>
            </a:pPr>
            <a:r>
              <a:rPr lang="en-US" sz="900" b="0" i="1" u="none" strike="noStrike" cap="none">
                <a:solidFill>
                  <a:srgbClr val="7B9AAF"/>
                </a:solidFill>
                <a:latin typeface="EB Garamond"/>
                <a:ea typeface="EB Garamond"/>
                <a:cs typeface="EB Garamond"/>
                <a:sym typeface="EB Garamond"/>
              </a:rPr>
              <a:t>Chỉ kích hoạt khi khóa tìm kiếm trùng với khóa đã sắp xếp tại M3 để đảm bảo tính chính xác.</a:t>
            </a:r>
            <a:endParaRPr sz="900" b="0" i="0" u="none" strike="noStrike" cap="none">
              <a:solidFill>
                <a:schemeClr val="dk1"/>
              </a:solidFill>
              <a:latin typeface="Calibri"/>
              <a:ea typeface="Calibri"/>
              <a:cs typeface="Calibri"/>
              <a:sym typeface="Calibri"/>
            </a:endParaRPr>
          </a:p>
        </p:txBody>
      </p:sp>
      <p:sp>
        <p:nvSpPr>
          <p:cNvPr id="132" name="Google Shape;132;p6"/>
          <p:cNvSpPr/>
          <p:nvPr/>
        </p:nvSpPr>
        <p:spPr>
          <a:xfrm>
            <a:off x="6095991" y="1781026"/>
            <a:ext cx="2476481"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500"/>
              <a:buFont typeface="Playfair Display"/>
              <a:buNone/>
            </a:pPr>
            <a:r>
              <a:rPr lang="en-US" sz="1500" b="1" i="0" u="none" strike="noStrike" cap="none">
                <a:solidFill>
                  <a:srgbClr val="1C2541"/>
                </a:solidFill>
                <a:latin typeface="Playfair Display"/>
                <a:ea typeface="Playfair Display"/>
                <a:cs typeface="Playfair Display"/>
                <a:sym typeface="Playfair Display"/>
              </a:rPr>
              <a:t>Chỉ Mục Hậu Tố</a:t>
            </a:r>
            <a:endParaRPr sz="1500" b="0" i="0" u="none" strike="noStrike" cap="none">
              <a:solidFill>
                <a:schemeClr val="dk1"/>
              </a:solidFill>
              <a:latin typeface="Calibri"/>
              <a:ea typeface="Calibri"/>
              <a:cs typeface="Calibri"/>
              <a:sym typeface="Calibri"/>
            </a:endParaRPr>
          </a:p>
        </p:txBody>
      </p:sp>
      <p:sp>
        <p:nvSpPr>
          <p:cNvPr id="133" name="Google Shape;133;p6"/>
          <p:cNvSpPr/>
          <p:nvPr/>
        </p:nvSpPr>
        <p:spPr>
          <a:xfrm>
            <a:off x="6095991" y="2182862"/>
            <a:ext cx="2476481" cy="651477"/>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00"/>
              <a:buFont typeface="EB Garamond"/>
              <a:buNone/>
            </a:pPr>
            <a:r>
              <a:rPr lang="en-US" sz="1000" b="0" i="0" u="none" strike="noStrike" cap="none">
                <a:solidFill>
                  <a:srgbClr val="2D3142"/>
                </a:solidFill>
                <a:latin typeface="EB Garamond"/>
                <a:ea typeface="EB Garamond"/>
                <a:cs typeface="EB Garamond"/>
                <a:sym typeface="EB Garamond"/>
              </a:rPr>
              <a:t>Giải pháp nâng cao cho tìm kiếm chuỗi con. Tạo mọi hậu tố của chuỗi, sắp xếp và tìm kiếm nhị phân trên tập hậu tố.</a:t>
            </a:r>
            <a:endParaRPr sz="1000" b="0" i="0" u="none" strike="noStrike" cap="none">
              <a:solidFill>
                <a:schemeClr val="dk1"/>
              </a:solidFill>
              <a:latin typeface="Calibri"/>
              <a:ea typeface="Calibri"/>
              <a:cs typeface="Calibri"/>
              <a:sym typeface="Calibri"/>
            </a:endParaRPr>
          </a:p>
        </p:txBody>
      </p:sp>
      <p:sp>
        <p:nvSpPr>
          <p:cNvPr id="134" name="Google Shape;134;p6"/>
          <p:cNvSpPr/>
          <p:nvPr/>
        </p:nvSpPr>
        <p:spPr>
          <a:xfrm>
            <a:off x="6095991" y="3077226"/>
            <a:ext cx="935831" cy="175022"/>
          </a:xfrm>
          <a:prstGeom prst="rect">
            <a:avLst/>
          </a:prstGeom>
          <a:solidFill>
            <a:srgbClr val="C23B22">
              <a:alpha val="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6"/>
          <p:cNvSpPr/>
          <p:nvPr/>
        </p:nvSpPr>
        <p:spPr>
          <a:xfrm>
            <a:off x="6095991" y="3077226"/>
            <a:ext cx="935831" cy="175022"/>
          </a:xfrm>
          <a:prstGeom prst="rect">
            <a:avLst/>
          </a:prstGeom>
          <a:noFill/>
          <a:ln>
            <a:noFill/>
          </a:ln>
        </p:spPr>
        <p:txBody>
          <a:bodyPr spcFirstLastPara="1" wrap="square" lIns="68050" tIns="17000" rIns="68050" bIns="17000" anchor="t" anchorCtr="0">
            <a:spAutoFit/>
          </a:bodyPr>
          <a:lstStyle/>
          <a:p>
            <a:pPr marL="0" marR="0" lvl="0" indent="0" algn="l" rtl="0">
              <a:spcBef>
                <a:spcPts val="0"/>
              </a:spcBef>
              <a:spcAft>
                <a:spcPts val="0"/>
              </a:spcAft>
              <a:buClr>
                <a:srgbClr val="C23B22"/>
              </a:buClr>
              <a:buSzPts val="850"/>
              <a:buFont typeface="Space Grotesk Medium"/>
              <a:buNone/>
            </a:pPr>
            <a:r>
              <a:rPr lang="en-US" sz="850" b="0" i="0" u="none" strike="noStrike" cap="none">
                <a:solidFill>
                  <a:srgbClr val="C23B22"/>
                </a:solidFill>
                <a:latin typeface="Space Grotesk Medium"/>
                <a:ea typeface="Space Grotesk Medium"/>
                <a:cs typeface="Space Grotesk Medium"/>
                <a:sym typeface="Space Grotesk Medium"/>
              </a:rPr>
              <a:t>Suffix Indexing</a:t>
            </a:r>
            <a:endParaRPr sz="850" b="0" i="0" u="none" strike="noStrike" cap="none">
              <a:solidFill>
                <a:schemeClr val="dk1"/>
              </a:solidFill>
              <a:latin typeface="Calibri"/>
              <a:ea typeface="Calibri"/>
              <a:cs typeface="Calibri"/>
              <a:sym typeface="Calibri"/>
            </a:endParaRPr>
          </a:p>
        </p:txBody>
      </p:sp>
      <p:sp>
        <p:nvSpPr>
          <p:cNvPr id="136" name="Google Shape;136;p6"/>
          <p:cNvSpPr/>
          <p:nvPr/>
        </p:nvSpPr>
        <p:spPr>
          <a:xfrm>
            <a:off x="6095991" y="3395123"/>
            <a:ext cx="2476481" cy="428625"/>
          </a:xfrm>
          <a:prstGeom prst="rect">
            <a:avLst/>
          </a:prstGeom>
          <a:noFill/>
          <a:ln>
            <a:noFill/>
          </a:ln>
        </p:spPr>
        <p:txBody>
          <a:bodyPr spcFirstLastPara="1" wrap="square" lIns="0" tIns="127500" rIns="0" bIns="0" anchor="t" anchorCtr="0">
            <a:spAutoFit/>
          </a:bodyPr>
          <a:lstStyle/>
          <a:p>
            <a:pPr marL="0" marR="0" lvl="0" indent="0" algn="l" rtl="0">
              <a:spcBef>
                <a:spcPts val="0"/>
              </a:spcBef>
              <a:spcAft>
                <a:spcPts val="0"/>
              </a:spcAft>
              <a:buClr>
                <a:srgbClr val="7B9AAF"/>
              </a:buClr>
              <a:buSzPts val="900"/>
              <a:buFont typeface="EB Garamond"/>
              <a:buNone/>
            </a:pPr>
            <a:r>
              <a:rPr lang="en-US" sz="900" b="0" i="1" u="none" strike="noStrike" cap="none">
                <a:solidFill>
                  <a:srgbClr val="7B9AAF"/>
                </a:solidFill>
                <a:latin typeface="EB Garamond"/>
                <a:ea typeface="EB Garamond"/>
                <a:cs typeface="EB Garamond"/>
                <a:sym typeface="EB Garamond"/>
              </a:rPr>
              <a:t>"may tinh" → {"may tinh", "ay tinh", "y tinh", ...}. Giúp tìm kiếm chuỗi con cực nhanh.</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7" descr="preencoded.png"/>
          <p:cNvPicPr preferRelativeResize="0"/>
          <p:nvPr/>
        </p:nvPicPr>
        <p:blipFill rotWithShape="1">
          <a:blip r:embed="rId3">
            <a:alphaModFix/>
          </a:blip>
          <a:srcRect/>
          <a:stretch/>
        </p:blipFill>
        <p:spPr>
          <a:xfrm>
            <a:off x="0" y="0"/>
            <a:ext cx="9144000" cy="5149221"/>
          </a:xfrm>
          <a:prstGeom prst="rect">
            <a:avLst/>
          </a:prstGeom>
          <a:noFill/>
          <a:ln>
            <a:noFill/>
          </a:ln>
        </p:spPr>
      </p:pic>
      <p:sp>
        <p:nvSpPr>
          <p:cNvPr id="143" name="Google Shape;143;p7"/>
          <p:cNvSpPr/>
          <p:nvPr/>
        </p:nvSpPr>
        <p:spPr>
          <a:xfrm>
            <a:off x="571500" y="729779"/>
            <a:ext cx="314325" cy="31432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C23B22"/>
              </a:buClr>
              <a:buSzPts val="900"/>
              <a:buFont typeface="EB Garamond Medium"/>
              <a:buNone/>
            </a:pPr>
            <a:r>
              <a:rPr lang="en-US" sz="900" b="1" i="0" u="none" strike="noStrike" cap="none">
                <a:solidFill>
                  <a:srgbClr val="C23B22"/>
                </a:solidFill>
                <a:latin typeface="EB Garamond Medium"/>
                <a:ea typeface="EB Garamond Medium"/>
                <a:cs typeface="EB Garamond Medium"/>
                <a:sym typeface="EB Garamond Medium"/>
              </a:rPr>
              <a:t>W</a:t>
            </a:r>
            <a:endParaRPr sz="900" b="0" i="0" u="none" strike="noStrike" cap="none">
              <a:solidFill>
                <a:schemeClr val="dk1"/>
              </a:solidFill>
              <a:latin typeface="Calibri"/>
              <a:ea typeface="Calibri"/>
              <a:cs typeface="Calibri"/>
              <a:sym typeface="Calibri"/>
            </a:endParaRPr>
          </a:p>
        </p:txBody>
      </p:sp>
      <p:sp>
        <p:nvSpPr>
          <p:cNvPr id="144" name="Google Shape;144;p7"/>
          <p:cNvSpPr/>
          <p:nvPr/>
        </p:nvSpPr>
        <p:spPr>
          <a:xfrm>
            <a:off x="1028700" y="658341"/>
            <a:ext cx="4672013" cy="37702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2450"/>
              <a:buFont typeface="Playfair Display"/>
              <a:buNone/>
            </a:pPr>
            <a:r>
              <a:rPr lang="en-US" sz="2450" b="1" i="0" u="none" strike="noStrike" cap="none" dirty="0">
                <a:solidFill>
                  <a:srgbClr val="2C3E2D"/>
                </a:solidFill>
                <a:latin typeface="Playfair Display"/>
                <a:ea typeface="Playfair Display"/>
                <a:cs typeface="Playfair Display"/>
                <a:sym typeface="Playfair Display"/>
              </a:rPr>
              <a:t>THỐNG </a:t>
            </a:r>
            <a:r>
              <a:rPr lang="vi-VN" sz="2450" b="1" i="0" u="none" strike="noStrike" cap="none" dirty="0">
                <a:solidFill>
                  <a:srgbClr val="2C3E2D"/>
                </a:solidFill>
                <a:latin typeface="Playfair Display"/>
                <a:ea typeface="Playfair Display"/>
                <a:cs typeface="Playfair Display"/>
                <a:sym typeface="Playfair Display"/>
              </a:rPr>
              <a:t>KÊ -</a:t>
            </a:r>
            <a:r>
              <a:rPr lang="en-US" sz="2450" b="1" i="0" u="none" strike="noStrike" cap="none" dirty="0">
                <a:solidFill>
                  <a:srgbClr val="2C3E2D"/>
                </a:solidFill>
                <a:latin typeface="Playfair Display"/>
                <a:ea typeface="Playfair Display"/>
                <a:cs typeface="Playfair Display"/>
                <a:sym typeface="Playfair Display"/>
              </a:rPr>
              <a:t> SAO LƯU (M5)</a:t>
            </a:r>
            <a:endParaRPr sz="2450" b="0" i="0" u="none" strike="noStrike" cap="none" dirty="0">
              <a:solidFill>
                <a:schemeClr val="dk1"/>
              </a:solidFill>
              <a:latin typeface="Calibri"/>
              <a:ea typeface="Calibri"/>
              <a:cs typeface="Calibri"/>
              <a:sym typeface="Calibri"/>
            </a:endParaRPr>
          </a:p>
        </p:txBody>
      </p:sp>
      <p:sp>
        <p:nvSpPr>
          <p:cNvPr id="145" name="Google Shape;145;p7"/>
          <p:cNvSpPr/>
          <p:nvPr/>
        </p:nvSpPr>
        <p:spPr>
          <a:xfrm>
            <a:off x="571500" y="1875597"/>
            <a:ext cx="3857625"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400"/>
              <a:buFont typeface="Playfair Display"/>
              <a:buNone/>
            </a:pPr>
            <a:r>
              <a:rPr lang="en-US" sz="1400" b="1" i="0" u="none" strike="noStrike" cap="none">
                <a:solidFill>
                  <a:srgbClr val="1C2541"/>
                </a:solidFill>
                <a:latin typeface="Playfair Display"/>
                <a:ea typeface="Playfair Display"/>
                <a:cs typeface="Playfair Display"/>
                <a:sym typeface="Playfair Display"/>
              </a:rPr>
              <a:t>Tổng Hợp Số Liệu</a:t>
            </a:r>
            <a:endParaRPr sz="1400" b="0" i="0" u="none" strike="noStrike" cap="none">
              <a:solidFill>
                <a:schemeClr val="dk1"/>
              </a:solidFill>
              <a:latin typeface="Calibri"/>
              <a:ea typeface="Calibri"/>
              <a:cs typeface="Calibri"/>
              <a:sym typeface="Calibri"/>
            </a:endParaRPr>
          </a:p>
        </p:txBody>
      </p:sp>
      <p:sp>
        <p:nvSpPr>
          <p:cNvPr id="146" name="Google Shape;146;p7"/>
          <p:cNvSpPr/>
          <p:nvPr/>
        </p:nvSpPr>
        <p:spPr>
          <a:xfrm>
            <a:off x="571500" y="2284577"/>
            <a:ext cx="2907841" cy="283964"/>
          </a:xfrm>
          <a:prstGeom prst="rect">
            <a:avLst/>
          </a:prstGeom>
          <a:noFill/>
          <a:ln>
            <a:noFill/>
          </a:ln>
        </p:spPr>
        <p:txBody>
          <a:bodyPr spcFirstLastPara="1" wrap="square" lIns="8500" tIns="102100" rIns="8500" bIns="8500" anchor="ctr" anchorCtr="0">
            <a:spAutoFit/>
          </a:bodyPr>
          <a:lstStyle/>
          <a:p>
            <a:pPr marL="0" marR="0" lvl="0" indent="0" algn="l" rtl="0">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Tổng số hồ sơ thiết bị</a:t>
            </a:r>
            <a:endParaRPr sz="1050" b="0" i="0" u="none" strike="noStrike" cap="none">
              <a:solidFill>
                <a:schemeClr val="dk1"/>
              </a:solidFill>
              <a:latin typeface="Calibri"/>
              <a:ea typeface="Calibri"/>
              <a:cs typeface="Calibri"/>
              <a:sym typeface="Calibri"/>
            </a:endParaRPr>
          </a:p>
        </p:txBody>
      </p:sp>
      <p:sp>
        <p:nvSpPr>
          <p:cNvPr id="147" name="Google Shape;147;p7"/>
          <p:cNvSpPr/>
          <p:nvPr/>
        </p:nvSpPr>
        <p:spPr>
          <a:xfrm>
            <a:off x="3479341" y="2284577"/>
            <a:ext cx="949784" cy="283964"/>
          </a:xfrm>
          <a:prstGeom prst="rect">
            <a:avLst/>
          </a:prstGeom>
          <a:noFill/>
          <a:ln>
            <a:noFill/>
          </a:ln>
        </p:spPr>
        <p:txBody>
          <a:bodyPr spcFirstLastPara="1" wrap="square" lIns="8500" tIns="102100" rIns="8500" bIns="8500" anchor="ctr" anchorCtr="0">
            <a:spAutoFit/>
          </a:bodyPr>
          <a:lstStyle/>
          <a:p>
            <a:pPr marL="0" marR="0" lvl="0" indent="0" algn="r" rtl="0">
              <a:spcBef>
                <a:spcPts val="0"/>
              </a:spcBef>
              <a:spcAft>
                <a:spcPts val="0"/>
              </a:spcAft>
              <a:buClr>
                <a:srgbClr val="C23B22"/>
              </a:buClr>
              <a:buSzPts val="1000"/>
              <a:buFont typeface="EB Garamond Medium"/>
              <a:buNone/>
            </a:pPr>
            <a:r>
              <a:rPr lang="en-US" sz="1000" b="1" i="0" u="none" strike="noStrike" cap="none">
                <a:solidFill>
                  <a:srgbClr val="C23B22"/>
                </a:solidFill>
                <a:latin typeface="EB Garamond Medium"/>
                <a:ea typeface="EB Garamond Medium"/>
                <a:cs typeface="EB Garamond Medium"/>
                <a:sym typeface="EB Garamond Medium"/>
              </a:rPr>
              <a:t>235</a:t>
            </a:r>
            <a:endParaRPr sz="1000" b="0" i="0" u="none" strike="noStrike" cap="none">
              <a:solidFill>
                <a:schemeClr val="dk1"/>
              </a:solidFill>
              <a:latin typeface="Calibri"/>
              <a:ea typeface="Calibri"/>
              <a:cs typeface="Calibri"/>
              <a:sym typeface="Calibri"/>
            </a:endParaRPr>
          </a:p>
        </p:txBody>
      </p:sp>
      <p:sp>
        <p:nvSpPr>
          <p:cNvPr id="148" name="Google Shape;148;p7"/>
          <p:cNvSpPr/>
          <p:nvPr/>
        </p:nvSpPr>
        <p:spPr>
          <a:xfrm>
            <a:off x="571500" y="2568541"/>
            <a:ext cx="2907841" cy="287536"/>
          </a:xfrm>
          <a:prstGeom prst="rect">
            <a:avLst/>
          </a:prstGeom>
          <a:noFill/>
          <a:ln>
            <a:noFill/>
          </a:ln>
        </p:spPr>
        <p:txBody>
          <a:bodyPr spcFirstLastPara="1" wrap="square" lIns="8500" tIns="102100" rIns="8500" bIns="8500" anchor="ctr" anchorCtr="0">
            <a:spAutoFit/>
          </a:bodyPr>
          <a:lstStyle/>
          <a:p>
            <a:pPr marL="0" marR="0" lvl="0" indent="0" algn="l" rtl="0">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Tổng số lượng hiện có</a:t>
            </a:r>
            <a:endParaRPr sz="1050" b="0" i="0" u="none" strike="noStrike" cap="none">
              <a:solidFill>
                <a:schemeClr val="dk1"/>
              </a:solidFill>
              <a:latin typeface="Calibri"/>
              <a:ea typeface="Calibri"/>
              <a:cs typeface="Calibri"/>
              <a:sym typeface="Calibri"/>
            </a:endParaRPr>
          </a:p>
        </p:txBody>
      </p:sp>
      <p:sp>
        <p:nvSpPr>
          <p:cNvPr id="149" name="Google Shape;149;p7"/>
          <p:cNvSpPr/>
          <p:nvPr/>
        </p:nvSpPr>
        <p:spPr>
          <a:xfrm>
            <a:off x="3479341" y="2568541"/>
            <a:ext cx="949784" cy="287536"/>
          </a:xfrm>
          <a:prstGeom prst="rect">
            <a:avLst/>
          </a:prstGeom>
          <a:noFill/>
          <a:ln>
            <a:noFill/>
          </a:ln>
        </p:spPr>
        <p:txBody>
          <a:bodyPr spcFirstLastPara="1" wrap="square" lIns="8500" tIns="102100" rIns="8500" bIns="8500" anchor="ctr" anchorCtr="0">
            <a:spAutoFit/>
          </a:bodyPr>
          <a:lstStyle/>
          <a:p>
            <a:pPr marL="0" marR="0" lvl="0" indent="0" algn="r" rtl="0">
              <a:spcBef>
                <a:spcPts val="0"/>
              </a:spcBef>
              <a:spcAft>
                <a:spcPts val="0"/>
              </a:spcAft>
              <a:buClr>
                <a:srgbClr val="C23B22"/>
              </a:buClr>
              <a:buSzPts val="1000"/>
              <a:buFont typeface="EB Garamond Medium"/>
              <a:buNone/>
            </a:pPr>
            <a:r>
              <a:rPr lang="en-US" sz="1000" b="1" i="0" u="none" strike="noStrike" cap="none">
                <a:solidFill>
                  <a:srgbClr val="C23B22"/>
                </a:solidFill>
                <a:latin typeface="EB Garamond Medium"/>
                <a:ea typeface="EB Garamond Medium"/>
                <a:cs typeface="EB Garamond Medium"/>
                <a:sym typeface="EB Garamond Medium"/>
              </a:rPr>
              <a:t>41,549</a:t>
            </a:r>
            <a:endParaRPr sz="1000" b="0" i="0" u="none" strike="noStrike" cap="none">
              <a:solidFill>
                <a:schemeClr val="dk1"/>
              </a:solidFill>
              <a:latin typeface="Calibri"/>
              <a:ea typeface="Calibri"/>
              <a:cs typeface="Calibri"/>
              <a:sym typeface="Calibri"/>
            </a:endParaRPr>
          </a:p>
        </p:txBody>
      </p:sp>
      <p:sp>
        <p:nvSpPr>
          <p:cNvPr id="150" name="Google Shape;150;p7"/>
          <p:cNvSpPr/>
          <p:nvPr/>
        </p:nvSpPr>
        <p:spPr>
          <a:xfrm>
            <a:off x="571500" y="2856077"/>
            <a:ext cx="2907841" cy="287536"/>
          </a:xfrm>
          <a:prstGeom prst="rect">
            <a:avLst/>
          </a:prstGeom>
          <a:noFill/>
          <a:ln>
            <a:noFill/>
          </a:ln>
        </p:spPr>
        <p:txBody>
          <a:bodyPr spcFirstLastPara="1" wrap="square" lIns="8500" tIns="102100" rIns="8500" bIns="8500" anchor="ctr" anchorCtr="0">
            <a:spAutoFit/>
          </a:bodyPr>
          <a:lstStyle/>
          <a:p>
            <a:pPr marL="0" marR="0" lvl="0" indent="0" algn="l" rtl="0">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Số chủng loại quản lý</a:t>
            </a:r>
            <a:endParaRPr sz="1050" b="0" i="0" u="none" strike="noStrike" cap="none">
              <a:solidFill>
                <a:schemeClr val="dk1"/>
              </a:solidFill>
              <a:latin typeface="Calibri"/>
              <a:ea typeface="Calibri"/>
              <a:cs typeface="Calibri"/>
              <a:sym typeface="Calibri"/>
            </a:endParaRPr>
          </a:p>
        </p:txBody>
      </p:sp>
      <p:sp>
        <p:nvSpPr>
          <p:cNvPr id="151" name="Google Shape;151;p7"/>
          <p:cNvSpPr/>
          <p:nvPr/>
        </p:nvSpPr>
        <p:spPr>
          <a:xfrm>
            <a:off x="3479341" y="2856077"/>
            <a:ext cx="949784" cy="287536"/>
          </a:xfrm>
          <a:prstGeom prst="rect">
            <a:avLst/>
          </a:prstGeom>
          <a:noFill/>
          <a:ln>
            <a:noFill/>
          </a:ln>
        </p:spPr>
        <p:txBody>
          <a:bodyPr spcFirstLastPara="1" wrap="square" lIns="8500" tIns="102100" rIns="8500" bIns="8500" anchor="ctr" anchorCtr="0">
            <a:spAutoFit/>
          </a:bodyPr>
          <a:lstStyle/>
          <a:p>
            <a:pPr marL="0" marR="0" lvl="0" indent="0" algn="r" rtl="0">
              <a:spcBef>
                <a:spcPts val="0"/>
              </a:spcBef>
              <a:spcAft>
                <a:spcPts val="0"/>
              </a:spcAft>
              <a:buClr>
                <a:srgbClr val="C23B22"/>
              </a:buClr>
              <a:buSzPts val="1000"/>
              <a:buFont typeface="EB Garamond Medium"/>
              <a:buNone/>
            </a:pPr>
            <a:r>
              <a:rPr lang="en-US" sz="1000" b="1" i="0" u="none" strike="noStrike" cap="none">
                <a:solidFill>
                  <a:srgbClr val="C23B22"/>
                </a:solidFill>
                <a:latin typeface="EB Garamond Medium"/>
                <a:ea typeface="EB Garamond Medium"/>
                <a:cs typeface="EB Garamond Medium"/>
                <a:sym typeface="EB Garamond Medium"/>
              </a:rPr>
              <a:t>13</a:t>
            </a:r>
            <a:endParaRPr sz="1000" b="0" i="0" u="none" strike="noStrike" cap="none">
              <a:solidFill>
                <a:schemeClr val="dk1"/>
              </a:solidFill>
              <a:latin typeface="Calibri"/>
              <a:ea typeface="Calibri"/>
              <a:cs typeface="Calibri"/>
              <a:sym typeface="Calibri"/>
            </a:endParaRPr>
          </a:p>
        </p:txBody>
      </p:sp>
      <p:sp>
        <p:nvSpPr>
          <p:cNvPr id="152" name="Google Shape;152;p7"/>
          <p:cNvSpPr/>
          <p:nvPr/>
        </p:nvSpPr>
        <p:spPr>
          <a:xfrm>
            <a:off x="571500" y="3143613"/>
            <a:ext cx="2907841" cy="287536"/>
          </a:xfrm>
          <a:prstGeom prst="rect">
            <a:avLst/>
          </a:prstGeom>
          <a:noFill/>
          <a:ln>
            <a:noFill/>
          </a:ln>
        </p:spPr>
        <p:txBody>
          <a:bodyPr spcFirstLastPara="1" wrap="square" lIns="8500" tIns="102100" rIns="8500" bIns="8500" anchor="ctr" anchorCtr="0">
            <a:spAutoFit/>
          </a:bodyPr>
          <a:lstStyle/>
          <a:p>
            <a:pPr marL="0" marR="0" lvl="0" indent="0" algn="l" rtl="0">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Số đơn vị nguồn cấp</a:t>
            </a:r>
            <a:endParaRPr sz="1050" b="0" i="0" u="none" strike="noStrike" cap="none">
              <a:solidFill>
                <a:schemeClr val="dk1"/>
              </a:solidFill>
              <a:latin typeface="Calibri"/>
              <a:ea typeface="Calibri"/>
              <a:cs typeface="Calibri"/>
              <a:sym typeface="Calibri"/>
            </a:endParaRPr>
          </a:p>
        </p:txBody>
      </p:sp>
      <p:sp>
        <p:nvSpPr>
          <p:cNvPr id="153" name="Google Shape;153;p7"/>
          <p:cNvSpPr/>
          <p:nvPr/>
        </p:nvSpPr>
        <p:spPr>
          <a:xfrm>
            <a:off x="3479341" y="3143613"/>
            <a:ext cx="949784" cy="287536"/>
          </a:xfrm>
          <a:prstGeom prst="rect">
            <a:avLst/>
          </a:prstGeom>
          <a:noFill/>
          <a:ln>
            <a:noFill/>
          </a:ln>
        </p:spPr>
        <p:txBody>
          <a:bodyPr spcFirstLastPara="1" wrap="square" lIns="8500" tIns="102100" rIns="8500" bIns="8500" anchor="ctr" anchorCtr="0">
            <a:spAutoFit/>
          </a:bodyPr>
          <a:lstStyle/>
          <a:p>
            <a:pPr marL="0" marR="0" lvl="0" indent="0" algn="r" rtl="0">
              <a:spcBef>
                <a:spcPts val="0"/>
              </a:spcBef>
              <a:spcAft>
                <a:spcPts val="0"/>
              </a:spcAft>
              <a:buClr>
                <a:srgbClr val="C23B22"/>
              </a:buClr>
              <a:buSzPts val="1000"/>
              <a:buFont typeface="EB Garamond Medium"/>
              <a:buNone/>
            </a:pPr>
            <a:r>
              <a:rPr lang="en-US" sz="1000" b="1" i="0" u="none" strike="noStrike" cap="none">
                <a:solidFill>
                  <a:srgbClr val="C23B22"/>
                </a:solidFill>
                <a:latin typeface="EB Garamond Medium"/>
                <a:ea typeface="EB Garamond Medium"/>
                <a:cs typeface="EB Garamond Medium"/>
                <a:sym typeface="EB Garamond Medium"/>
              </a:rPr>
              <a:t>12</a:t>
            </a:r>
            <a:endParaRPr sz="1000" b="0" i="0" u="none" strike="noStrike" cap="none">
              <a:solidFill>
                <a:schemeClr val="dk1"/>
              </a:solidFill>
              <a:latin typeface="Calibri"/>
              <a:ea typeface="Calibri"/>
              <a:cs typeface="Calibri"/>
              <a:sym typeface="Calibri"/>
            </a:endParaRPr>
          </a:p>
        </p:txBody>
      </p:sp>
      <p:pic>
        <p:nvPicPr>
          <p:cNvPr id="154" name="Google Shape;154;p7" descr="preencoded.png"/>
          <p:cNvPicPr preferRelativeResize="0"/>
          <p:nvPr/>
        </p:nvPicPr>
        <p:blipFill rotWithShape="1">
          <a:blip r:embed="rId4">
            <a:alphaModFix/>
          </a:blip>
          <a:srcRect/>
          <a:stretch/>
        </p:blipFill>
        <p:spPr>
          <a:xfrm>
            <a:off x="571500" y="3577596"/>
            <a:ext cx="3857625" cy="1571625"/>
          </a:xfrm>
          <a:prstGeom prst="rect">
            <a:avLst/>
          </a:prstGeom>
          <a:noFill/>
          <a:ln>
            <a:noFill/>
          </a:ln>
        </p:spPr>
      </p:pic>
      <p:sp>
        <p:nvSpPr>
          <p:cNvPr id="155" name="Google Shape;155;p7"/>
          <p:cNvSpPr/>
          <p:nvPr/>
        </p:nvSpPr>
        <p:spPr>
          <a:xfrm>
            <a:off x="4714875" y="1875597"/>
            <a:ext cx="3857625"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400"/>
              <a:buFont typeface="Playfair Display"/>
              <a:buNone/>
            </a:pPr>
            <a:r>
              <a:rPr lang="en-US" sz="1400" b="1" i="0" u="none" strike="noStrike" cap="none">
                <a:solidFill>
                  <a:srgbClr val="1C2541"/>
                </a:solidFill>
                <a:latin typeface="Playfair Display"/>
                <a:ea typeface="Playfair Display"/>
                <a:cs typeface="Playfair Display"/>
                <a:sym typeface="Playfair Display"/>
              </a:rPr>
              <a:t>Bảo Vệ &amp; Xuất Dữ Liệu</a:t>
            </a:r>
            <a:endParaRPr sz="1400" b="0" i="0" u="none" strike="noStrike" cap="none">
              <a:solidFill>
                <a:schemeClr val="dk1"/>
              </a:solidFill>
              <a:latin typeface="Calibri"/>
              <a:ea typeface="Calibri"/>
              <a:cs typeface="Calibri"/>
              <a:sym typeface="Calibri"/>
            </a:endParaRPr>
          </a:p>
        </p:txBody>
      </p:sp>
      <p:sp>
        <p:nvSpPr>
          <p:cNvPr id="156" name="Google Shape;156;p7"/>
          <p:cNvSpPr/>
          <p:nvPr/>
        </p:nvSpPr>
        <p:spPr>
          <a:xfrm>
            <a:off x="4911328" y="2284577"/>
            <a:ext cx="464121"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00"/>
              <a:buFont typeface="EB Garamond Medium"/>
              <a:buNone/>
            </a:pPr>
            <a:r>
              <a:rPr lang="en-US" sz="1000" b="1" i="0" u="none" strike="noStrike" cap="none">
                <a:solidFill>
                  <a:srgbClr val="2C3E2D"/>
                </a:solidFill>
                <a:latin typeface="EB Garamond Medium"/>
                <a:ea typeface="EB Garamond Medium"/>
                <a:cs typeface="EB Garamond Medium"/>
                <a:sym typeface="EB Garamond Medium"/>
              </a:rPr>
              <a:t>Xuất CSV:</a:t>
            </a:r>
            <a:endParaRPr sz="1000" b="0" i="0" u="none" strike="noStrike" cap="none">
              <a:solidFill>
                <a:schemeClr val="dk1"/>
              </a:solidFill>
              <a:latin typeface="Calibri"/>
              <a:ea typeface="Calibri"/>
              <a:cs typeface="Calibri"/>
              <a:sym typeface="Calibri"/>
            </a:endParaRPr>
          </a:p>
        </p:txBody>
      </p:sp>
      <p:sp>
        <p:nvSpPr>
          <p:cNvPr id="157" name="Google Shape;157;p7"/>
          <p:cNvSpPr/>
          <p:nvPr/>
        </p:nvSpPr>
        <p:spPr>
          <a:xfrm>
            <a:off x="5375449" y="2284577"/>
            <a:ext cx="3197051"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Hỗ trợ UTF-8 with BOM, đảm bảo hiển thị tiếng Việt chính xác trong Excel.</a:t>
            </a:r>
            <a:endParaRPr sz="1050" b="0" i="0" u="none" strike="noStrike" cap="none">
              <a:solidFill>
                <a:schemeClr val="dk1"/>
              </a:solidFill>
              <a:latin typeface="Calibri"/>
              <a:ea typeface="Calibri"/>
              <a:cs typeface="Calibri"/>
              <a:sym typeface="Calibri"/>
            </a:endParaRPr>
          </a:p>
        </p:txBody>
      </p:sp>
      <p:sp>
        <p:nvSpPr>
          <p:cNvPr id="158" name="Google Shape;158;p7"/>
          <p:cNvSpPr/>
          <p:nvPr/>
        </p:nvSpPr>
        <p:spPr>
          <a:xfrm>
            <a:off x="4911328" y="2848933"/>
            <a:ext cx="583974"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00"/>
              <a:buFont typeface="EB Garamond Medium"/>
              <a:buNone/>
            </a:pPr>
            <a:r>
              <a:rPr lang="en-US" sz="1000" b="1" i="0" u="none" strike="noStrike" cap="none">
                <a:solidFill>
                  <a:srgbClr val="2C3E2D"/>
                </a:solidFill>
                <a:latin typeface="EB Garamond Medium"/>
                <a:ea typeface="EB Garamond Medium"/>
                <a:cs typeface="EB Garamond Medium"/>
                <a:sym typeface="EB Garamond Medium"/>
              </a:rPr>
              <a:t>Sao lưu ZIP:</a:t>
            </a:r>
            <a:endParaRPr sz="1000" b="0" i="0" u="none" strike="noStrike" cap="none">
              <a:solidFill>
                <a:schemeClr val="dk1"/>
              </a:solidFill>
              <a:latin typeface="Calibri"/>
              <a:ea typeface="Calibri"/>
              <a:cs typeface="Calibri"/>
              <a:sym typeface="Calibri"/>
            </a:endParaRPr>
          </a:p>
        </p:txBody>
      </p:sp>
      <p:sp>
        <p:nvSpPr>
          <p:cNvPr id="159" name="Google Shape;159;p7"/>
          <p:cNvSpPr/>
          <p:nvPr/>
        </p:nvSpPr>
        <p:spPr>
          <a:xfrm>
            <a:off x="5495302" y="2848933"/>
            <a:ext cx="3077198"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Đóng gói toàn bộ cơ sở dữ liệu JSON vào tệp nén để lưu trữ an toàn.</a:t>
            </a:r>
            <a:endParaRPr sz="1050" b="0" i="0" u="none" strike="noStrike" cap="none">
              <a:solidFill>
                <a:schemeClr val="dk1"/>
              </a:solidFill>
              <a:latin typeface="Calibri"/>
              <a:ea typeface="Calibri"/>
              <a:cs typeface="Calibri"/>
              <a:sym typeface="Calibri"/>
            </a:endParaRPr>
          </a:p>
        </p:txBody>
      </p:sp>
      <p:sp>
        <p:nvSpPr>
          <p:cNvPr id="160" name="Google Shape;160;p7"/>
          <p:cNvSpPr/>
          <p:nvPr/>
        </p:nvSpPr>
        <p:spPr>
          <a:xfrm>
            <a:off x="4911328" y="3413289"/>
            <a:ext cx="706227"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00"/>
              <a:buFont typeface="EB Garamond Medium"/>
              <a:buNone/>
            </a:pPr>
            <a:r>
              <a:rPr lang="en-US" sz="1000" b="1" i="0" u="none" strike="noStrike" cap="none">
                <a:solidFill>
                  <a:srgbClr val="2C3E2D"/>
                </a:solidFill>
                <a:latin typeface="EB Garamond Medium"/>
                <a:ea typeface="EB Garamond Medium"/>
                <a:cs typeface="EB Garamond Medium"/>
                <a:sym typeface="EB Garamond Medium"/>
              </a:rPr>
              <a:t>Kiểm tra nghiệp vụ:</a:t>
            </a:r>
            <a:endParaRPr sz="1000" b="0" i="0" u="none" strike="noStrike" cap="none">
              <a:solidFill>
                <a:schemeClr val="dk1"/>
              </a:solidFill>
              <a:latin typeface="Calibri"/>
              <a:ea typeface="Calibri"/>
              <a:cs typeface="Calibri"/>
              <a:sym typeface="Calibri"/>
            </a:endParaRPr>
          </a:p>
        </p:txBody>
      </p:sp>
      <p:sp>
        <p:nvSpPr>
          <p:cNvPr id="161" name="Google Shape;161;p7"/>
          <p:cNvSpPr/>
          <p:nvPr/>
        </p:nvSpPr>
        <p:spPr>
          <a:xfrm>
            <a:off x="5617555" y="3413289"/>
            <a:ext cx="2954945"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Hệ thống Validation nghiêm ngặt trước khi khôi phục (chống trùng mã, ngày sai lệch).</a:t>
            </a:r>
            <a:endParaRPr sz="1050" b="0" i="0" u="none" strike="noStrike" cap="none">
              <a:solidFill>
                <a:schemeClr val="dk1"/>
              </a:solidFill>
              <a:latin typeface="Calibri"/>
              <a:ea typeface="Calibri"/>
              <a:cs typeface="Calibri"/>
              <a:sym typeface="Calibri"/>
            </a:endParaRPr>
          </a:p>
        </p:txBody>
      </p:sp>
      <p:sp>
        <p:nvSpPr>
          <p:cNvPr id="162" name="Google Shape;162;p7"/>
          <p:cNvSpPr/>
          <p:nvPr/>
        </p:nvSpPr>
        <p:spPr>
          <a:xfrm>
            <a:off x="4911328" y="3977646"/>
            <a:ext cx="806686"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00"/>
              <a:buFont typeface="EB Garamond Medium"/>
              <a:buNone/>
            </a:pPr>
            <a:r>
              <a:rPr lang="en-US" sz="1000" b="1" i="0" u="none" strike="noStrike" cap="none">
                <a:solidFill>
                  <a:srgbClr val="2C3E2D"/>
                </a:solidFill>
                <a:latin typeface="EB Garamond Medium"/>
                <a:ea typeface="EB Garamond Medium"/>
                <a:cs typeface="EB Garamond Medium"/>
                <a:sym typeface="EB Garamond Medium"/>
              </a:rPr>
              <a:t>Cơ chế nguyên tử:</a:t>
            </a:r>
            <a:endParaRPr sz="1000" b="0" i="0" u="none" strike="noStrike" cap="none">
              <a:solidFill>
                <a:schemeClr val="dk1"/>
              </a:solidFill>
              <a:latin typeface="Calibri"/>
              <a:ea typeface="Calibri"/>
              <a:cs typeface="Calibri"/>
              <a:sym typeface="Calibri"/>
            </a:endParaRPr>
          </a:p>
        </p:txBody>
      </p:sp>
      <p:sp>
        <p:nvSpPr>
          <p:cNvPr id="163" name="Google Shape;163;p7"/>
          <p:cNvSpPr/>
          <p:nvPr/>
        </p:nvSpPr>
        <p:spPr>
          <a:xfrm>
            <a:off x="5718014" y="3977646"/>
            <a:ext cx="2854486"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Ghi file tạm trước khi thay thế file chính, hạn chế rủi ro mất dữ liệu.</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8"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70" name="Google Shape;170;p8"/>
          <p:cNvSpPr/>
          <p:nvPr/>
        </p:nvSpPr>
        <p:spPr>
          <a:xfrm>
            <a:off x="571500" y="729779"/>
            <a:ext cx="314325" cy="31432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C23B22"/>
              </a:buClr>
              <a:buSzPts val="900"/>
              <a:buFont typeface="EB Garamond Medium"/>
              <a:buNone/>
            </a:pPr>
            <a:r>
              <a:rPr lang="en-US" sz="900" b="1" i="0" u="none" strike="noStrike" cap="none">
                <a:solidFill>
                  <a:srgbClr val="C23B22"/>
                </a:solidFill>
                <a:latin typeface="EB Garamond Medium"/>
                <a:ea typeface="EB Garamond Medium"/>
                <a:cs typeface="EB Garamond Medium"/>
                <a:sym typeface="EB Garamond Medium"/>
              </a:rPr>
              <a:t>W</a:t>
            </a:r>
            <a:endParaRPr sz="900" b="0" i="0" u="none" strike="noStrike" cap="none">
              <a:solidFill>
                <a:schemeClr val="dk1"/>
              </a:solidFill>
              <a:latin typeface="Calibri"/>
              <a:ea typeface="Calibri"/>
              <a:cs typeface="Calibri"/>
              <a:sym typeface="Calibri"/>
            </a:endParaRPr>
          </a:p>
        </p:txBody>
      </p:sp>
      <p:sp>
        <p:nvSpPr>
          <p:cNvPr id="171" name="Google Shape;171;p8"/>
          <p:cNvSpPr/>
          <p:nvPr/>
        </p:nvSpPr>
        <p:spPr>
          <a:xfrm>
            <a:off x="1028700" y="658341"/>
            <a:ext cx="4534495"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2450"/>
              <a:buFont typeface="Playfair Display"/>
              <a:buNone/>
            </a:pPr>
            <a:r>
              <a:rPr lang="en-US" sz="2450" b="1" i="0" u="none" strike="noStrike" cap="none">
                <a:solidFill>
                  <a:srgbClr val="2C3E2D"/>
                </a:solidFill>
                <a:latin typeface="Playfair Display"/>
                <a:ea typeface="Playfair Display"/>
                <a:cs typeface="Playfair Display"/>
                <a:sym typeface="Playfair Display"/>
              </a:rPr>
              <a:t>ƯU ĐIỂM</a:t>
            </a:r>
            <a:r>
              <a:rPr lang="en-US" sz="2450" b="1">
                <a:solidFill>
                  <a:srgbClr val="2C3E2D"/>
                </a:solidFill>
                <a:latin typeface="Playfair Display"/>
                <a:ea typeface="Playfair Display"/>
                <a:cs typeface="Playfair Display"/>
                <a:sym typeface="Playfair Display"/>
              </a:rPr>
              <a:t>,</a:t>
            </a:r>
            <a:r>
              <a:rPr lang="en-US" sz="2450" b="1" i="0" u="none" strike="noStrike" cap="none">
                <a:solidFill>
                  <a:srgbClr val="2C3E2D"/>
                </a:solidFill>
                <a:latin typeface="Playfair Display"/>
                <a:ea typeface="Playfair Display"/>
                <a:cs typeface="Playfair Display"/>
                <a:sym typeface="Playfair Display"/>
              </a:rPr>
              <a:t> ĐIỂM NỔI BẬT</a:t>
            </a:r>
            <a:endParaRPr sz="2450" b="0" i="0" u="none" strike="noStrike" cap="none">
              <a:solidFill>
                <a:schemeClr val="dk1"/>
              </a:solidFill>
              <a:latin typeface="Calibri"/>
              <a:ea typeface="Calibri"/>
              <a:cs typeface="Calibri"/>
              <a:sym typeface="Calibri"/>
            </a:endParaRPr>
          </a:p>
        </p:txBody>
      </p:sp>
      <p:sp>
        <p:nvSpPr>
          <p:cNvPr id="172" name="Google Shape;172;p8"/>
          <p:cNvSpPr/>
          <p:nvPr/>
        </p:nvSpPr>
        <p:spPr>
          <a:xfrm>
            <a:off x="571500" y="1809601"/>
            <a:ext cx="3857625"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500"/>
              <a:buFont typeface="Playfair Display"/>
              <a:buNone/>
            </a:pPr>
            <a:r>
              <a:rPr lang="en-US" sz="1500" b="1" i="0" u="none" strike="noStrike" cap="none">
                <a:solidFill>
                  <a:srgbClr val="C23B22"/>
                </a:solidFill>
                <a:latin typeface="Playfair Display"/>
                <a:ea typeface="Playfair Display"/>
                <a:cs typeface="Playfair Display"/>
                <a:sym typeface="Playfair Display"/>
              </a:rPr>
              <a:t>Giao Diện</a:t>
            </a:r>
            <a:r>
              <a:rPr lang="en-US" sz="1500" b="1">
                <a:solidFill>
                  <a:srgbClr val="C23B22"/>
                </a:solidFill>
                <a:latin typeface="Playfair Display"/>
                <a:ea typeface="Playfair Display"/>
                <a:cs typeface="Playfair Display"/>
                <a:sym typeface="Playfair Display"/>
              </a:rPr>
              <a:t>,</a:t>
            </a:r>
            <a:r>
              <a:rPr lang="en-US" sz="1500" b="1" i="0" u="none" strike="noStrike" cap="none">
                <a:solidFill>
                  <a:srgbClr val="C23B22"/>
                </a:solidFill>
                <a:latin typeface="Playfair Display"/>
                <a:ea typeface="Playfair Display"/>
                <a:cs typeface="Playfair Display"/>
                <a:sym typeface="Playfair Display"/>
              </a:rPr>
              <a:t> Trải Nghiệm</a:t>
            </a:r>
            <a:endParaRPr sz="1500" b="0" i="0" u="none" strike="noStrike" cap="none">
              <a:solidFill>
                <a:schemeClr val="dk1"/>
              </a:solidFill>
              <a:latin typeface="Calibri"/>
              <a:ea typeface="Calibri"/>
              <a:cs typeface="Calibri"/>
              <a:sym typeface="Calibri"/>
            </a:endParaRPr>
          </a:p>
        </p:txBody>
      </p:sp>
      <p:sp>
        <p:nvSpPr>
          <p:cNvPr id="173" name="Google Shape;173;p8"/>
          <p:cNvSpPr/>
          <p:nvPr/>
        </p:nvSpPr>
        <p:spPr>
          <a:xfrm>
            <a:off x="571500" y="2218581"/>
            <a:ext cx="3857625"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50"/>
              <a:buFont typeface="EB Garamond"/>
              <a:buNone/>
            </a:pPr>
            <a:r>
              <a:rPr lang="en-US" sz="1050" b="0" i="0" u="none" strike="noStrike" cap="none">
                <a:solidFill>
                  <a:srgbClr val="2D3142"/>
                </a:solidFill>
                <a:latin typeface="EB Garamond"/>
                <a:ea typeface="EB Garamond"/>
                <a:cs typeface="EB Garamond"/>
                <a:sym typeface="EB Garamond"/>
              </a:rPr>
              <a:t>Hệ thống menu </a:t>
            </a:r>
            <a:r>
              <a:rPr lang="en-US" sz="1050" b="0" i="0" u="none" strike="noStrike" cap="none">
                <a:solidFill>
                  <a:srgbClr val="1C2541"/>
                </a:solidFill>
                <a:latin typeface="EB Garamond Medium"/>
                <a:ea typeface="EB Garamond Medium"/>
                <a:cs typeface="EB Garamond Medium"/>
                <a:sym typeface="EB Garamond Medium"/>
              </a:rPr>
              <a:t>M1-M6</a:t>
            </a:r>
            <a:r>
              <a:rPr lang="en-US" sz="1050" b="0" i="0" u="none" strike="noStrike" cap="none">
                <a:solidFill>
                  <a:srgbClr val="2D3142"/>
                </a:solidFill>
                <a:latin typeface="EB Garamond"/>
                <a:ea typeface="EB Garamond"/>
                <a:cs typeface="EB Garamond"/>
                <a:sym typeface="EB Garamond"/>
              </a:rPr>
              <a:t> được phân chia khoa học, bám sát yêu cầu nghiệp vụ thực tế, giúp người dùng dễ dàng làm quen và thao tác.</a:t>
            </a:r>
            <a:endParaRPr sz="1050" b="0" i="0" u="none" strike="noStrike" cap="none">
              <a:solidFill>
                <a:schemeClr val="dk1"/>
              </a:solidFill>
              <a:latin typeface="Calibri"/>
              <a:ea typeface="Calibri"/>
              <a:cs typeface="Calibri"/>
              <a:sym typeface="Calibri"/>
            </a:endParaRPr>
          </a:p>
        </p:txBody>
      </p:sp>
      <p:sp>
        <p:nvSpPr>
          <p:cNvPr id="174" name="Google Shape;174;p8"/>
          <p:cNvSpPr/>
          <p:nvPr/>
        </p:nvSpPr>
        <p:spPr>
          <a:xfrm>
            <a:off x="4714875" y="1809601"/>
            <a:ext cx="3857625"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500"/>
              <a:buFont typeface="Playfair Display"/>
              <a:buNone/>
            </a:pPr>
            <a:r>
              <a:rPr lang="en-US" sz="1500" b="1" i="0" u="none" strike="noStrike" cap="none">
                <a:solidFill>
                  <a:srgbClr val="C23B22"/>
                </a:solidFill>
                <a:latin typeface="Playfair Display"/>
                <a:ea typeface="Playfair Display"/>
                <a:cs typeface="Playfair Display"/>
                <a:sym typeface="Playfair Display"/>
              </a:rPr>
              <a:t>Độ Tin Cậy Dữ Liệu</a:t>
            </a:r>
            <a:endParaRPr sz="1500" b="0" i="0" u="none" strike="noStrike" cap="none">
              <a:solidFill>
                <a:schemeClr val="dk1"/>
              </a:solidFill>
              <a:latin typeface="Calibri"/>
              <a:ea typeface="Calibri"/>
              <a:cs typeface="Calibri"/>
              <a:sym typeface="Calibri"/>
            </a:endParaRPr>
          </a:p>
        </p:txBody>
      </p:sp>
      <p:sp>
        <p:nvSpPr>
          <p:cNvPr id="175" name="Google Shape;175;p8"/>
          <p:cNvSpPr/>
          <p:nvPr/>
        </p:nvSpPr>
        <p:spPr>
          <a:xfrm>
            <a:off x="4714875" y="2218581"/>
            <a:ext cx="3857625"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50"/>
              <a:buFont typeface="EB Garamond"/>
              <a:buNone/>
            </a:pPr>
            <a:r>
              <a:rPr lang="en-US" sz="1050" b="0" i="0" u="none" strike="noStrike" cap="none">
                <a:solidFill>
                  <a:srgbClr val="2D3142"/>
                </a:solidFill>
                <a:latin typeface="EB Garamond"/>
                <a:ea typeface="EB Garamond"/>
                <a:cs typeface="EB Garamond"/>
                <a:sym typeface="EB Garamond"/>
              </a:rPr>
              <a:t>Cơ chế bảo vệ dữ liệu nghiêm ngặt thông qua </a:t>
            </a:r>
            <a:r>
              <a:rPr lang="en-US" sz="1050" b="0" i="0" u="none" strike="noStrike" cap="none">
                <a:solidFill>
                  <a:srgbClr val="1C2541"/>
                </a:solidFill>
                <a:latin typeface="EB Garamond Medium"/>
                <a:ea typeface="EB Garamond Medium"/>
                <a:cs typeface="EB Garamond Medium"/>
                <a:sym typeface="EB Garamond Medium"/>
              </a:rPr>
              <a:t>file tạm (.tmp)</a:t>
            </a:r>
            <a:r>
              <a:rPr lang="en-US" sz="1050" b="0" i="0" u="none" strike="noStrike" cap="none">
                <a:solidFill>
                  <a:srgbClr val="2D3142"/>
                </a:solidFill>
                <a:latin typeface="EB Garamond"/>
                <a:ea typeface="EB Garamond"/>
                <a:cs typeface="EB Garamond"/>
                <a:sym typeface="EB Garamond"/>
              </a:rPr>
              <a:t> và hệ thống kiểm lỗi (Validation) đa tầng, ngăn chặn mất mát thông tin.</a:t>
            </a:r>
            <a:endParaRPr sz="1050" b="0" i="0" u="none" strike="noStrike" cap="none">
              <a:solidFill>
                <a:schemeClr val="dk1"/>
              </a:solidFill>
              <a:latin typeface="Calibri"/>
              <a:ea typeface="Calibri"/>
              <a:cs typeface="Calibri"/>
              <a:sym typeface="Calibri"/>
            </a:endParaRPr>
          </a:p>
        </p:txBody>
      </p:sp>
      <p:sp>
        <p:nvSpPr>
          <p:cNvPr id="176" name="Google Shape;176;p8"/>
          <p:cNvSpPr/>
          <p:nvPr/>
        </p:nvSpPr>
        <p:spPr>
          <a:xfrm>
            <a:off x="571500" y="3254425"/>
            <a:ext cx="3857625"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500"/>
              <a:buFont typeface="Playfair Display"/>
              <a:buNone/>
            </a:pPr>
            <a:r>
              <a:rPr lang="en-US" sz="1500" b="1" i="0" u="none" strike="noStrike" cap="none">
                <a:solidFill>
                  <a:srgbClr val="C23B22"/>
                </a:solidFill>
                <a:latin typeface="Playfair Display"/>
                <a:ea typeface="Playfair Display"/>
                <a:cs typeface="Playfair Display"/>
                <a:sym typeface="Playfair Display"/>
              </a:rPr>
              <a:t>Tìm Kiếm Thông Minh</a:t>
            </a:r>
            <a:endParaRPr sz="1500" b="0" i="0" u="none" strike="noStrike" cap="none">
              <a:solidFill>
                <a:schemeClr val="dk1"/>
              </a:solidFill>
              <a:latin typeface="Calibri"/>
              <a:ea typeface="Calibri"/>
              <a:cs typeface="Calibri"/>
              <a:sym typeface="Calibri"/>
            </a:endParaRPr>
          </a:p>
        </p:txBody>
      </p:sp>
      <p:sp>
        <p:nvSpPr>
          <p:cNvPr id="177" name="Google Shape;177;p8"/>
          <p:cNvSpPr/>
          <p:nvPr/>
        </p:nvSpPr>
        <p:spPr>
          <a:xfrm>
            <a:off x="571500" y="3663404"/>
            <a:ext cx="3857625"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50"/>
              <a:buFont typeface="EB Garamond"/>
              <a:buNone/>
            </a:pPr>
            <a:r>
              <a:rPr lang="en-US" sz="1050" b="0" i="0" u="none" strike="noStrike" cap="none">
                <a:solidFill>
                  <a:srgbClr val="2D3142"/>
                </a:solidFill>
                <a:latin typeface="EB Garamond"/>
                <a:ea typeface="EB Garamond"/>
                <a:cs typeface="EB Garamond"/>
                <a:sym typeface="EB Garamond"/>
              </a:rPr>
              <a:t>Khả năng xử lý chuỗi Unicode linh hoạt, hỗ trợ tìm kiếm </a:t>
            </a:r>
            <a:r>
              <a:rPr lang="en-US" sz="1050" b="0" i="0" u="none" strike="noStrike" cap="none">
                <a:solidFill>
                  <a:srgbClr val="1C2541"/>
                </a:solidFill>
                <a:latin typeface="EB Garamond Medium"/>
                <a:ea typeface="EB Garamond Medium"/>
                <a:cs typeface="EB Garamond Medium"/>
                <a:sym typeface="EB Garamond Medium"/>
              </a:rPr>
              <a:t>không dấu, một phần</a:t>
            </a:r>
            <a:r>
              <a:rPr lang="en-US" sz="1050" b="0" i="0" u="none" strike="noStrike" cap="none">
                <a:solidFill>
                  <a:srgbClr val="2D3142"/>
                </a:solidFill>
                <a:latin typeface="EB Garamond"/>
                <a:ea typeface="EB Garamond"/>
                <a:cs typeface="EB Garamond"/>
                <a:sym typeface="EB Garamond"/>
              </a:rPr>
              <a:t> và nhiều từ khóa đồng thời với tốc độ tối ưu.</a:t>
            </a:r>
            <a:endParaRPr sz="1050" b="0" i="0" u="none" strike="noStrike" cap="none">
              <a:solidFill>
                <a:schemeClr val="dk1"/>
              </a:solidFill>
              <a:latin typeface="Calibri"/>
              <a:ea typeface="Calibri"/>
              <a:cs typeface="Calibri"/>
              <a:sym typeface="Calibri"/>
            </a:endParaRPr>
          </a:p>
        </p:txBody>
      </p:sp>
      <p:sp>
        <p:nvSpPr>
          <p:cNvPr id="178" name="Google Shape;178;p8"/>
          <p:cNvSpPr/>
          <p:nvPr/>
        </p:nvSpPr>
        <p:spPr>
          <a:xfrm>
            <a:off x="4714875" y="3254425"/>
            <a:ext cx="3857625"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C23B22"/>
              </a:buClr>
              <a:buSzPts val="1500"/>
              <a:buFont typeface="Playfair Display"/>
              <a:buNone/>
            </a:pPr>
            <a:r>
              <a:rPr lang="en-US" sz="1500" b="1" i="0" u="none" strike="noStrike" cap="none">
                <a:solidFill>
                  <a:srgbClr val="C23B22"/>
                </a:solidFill>
                <a:latin typeface="Playfair Display"/>
                <a:ea typeface="Playfair Display"/>
                <a:cs typeface="Playfair Display"/>
                <a:sym typeface="Playfair Display"/>
              </a:rPr>
              <a:t>Giá Trị Học Thuật</a:t>
            </a:r>
            <a:endParaRPr sz="1500" b="0" i="0" u="none" strike="noStrike" cap="none">
              <a:solidFill>
                <a:schemeClr val="dk1"/>
              </a:solidFill>
              <a:latin typeface="Calibri"/>
              <a:ea typeface="Calibri"/>
              <a:cs typeface="Calibri"/>
              <a:sym typeface="Calibri"/>
            </a:endParaRPr>
          </a:p>
        </p:txBody>
      </p:sp>
      <p:sp>
        <p:nvSpPr>
          <p:cNvPr id="179" name="Google Shape;179;p8"/>
          <p:cNvSpPr/>
          <p:nvPr/>
        </p:nvSpPr>
        <p:spPr>
          <a:xfrm>
            <a:off x="4714875" y="3663404"/>
            <a:ext cx="3857625" cy="4572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50"/>
              <a:buFont typeface="EB Garamond"/>
              <a:buNone/>
            </a:pPr>
            <a:r>
              <a:rPr lang="en-US" sz="1050" b="0" i="0" u="none" strike="noStrike" cap="none">
                <a:solidFill>
                  <a:srgbClr val="2D3142"/>
                </a:solidFill>
                <a:latin typeface="EB Garamond"/>
                <a:ea typeface="EB Garamond"/>
                <a:cs typeface="EB Garamond"/>
                <a:sym typeface="EB Garamond"/>
              </a:rPr>
              <a:t>Vận dụng thành thạo các kỹ thuật lập trình nâng cao: </a:t>
            </a:r>
            <a:r>
              <a:rPr lang="en-US" sz="1050" b="0" i="0" u="none" strike="noStrike" cap="none">
                <a:solidFill>
                  <a:srgbClr val="1C2541"/>
                </a:solidFill>
                <a:latin typeface="EB Garamond Medium"/>
                <a:ea typeface="EB Garamond Medium"/>
                <a:cs typeface="EB Garamond Medium"/>
                <a:sym typeface="EB Garamond Medium"/>
              </a:rPr>
              <a:t>Generic, Delegate, Đệ quy</a:t>
            </a:r>
            <a:r>
              <a:rPr lang="en-US" sz="1050" b="0" i="0" u="none" strike="noStrike" cap="none">
                <a:solidFill>
                  <a:srgbClr val="2D3142"/>
                </a:solidFill>
                <a:latin typeface="EB Garamond"/>
                <a:ea typeface="EB Garamond"/>
                <a:cs typeface="EB Garamond"/>
                <a:sym typeface="EB Garamond"/>
              </a:rPr>
              <a:t> và cài đặt thủ công 5 thuật toán sắp xếp kinh điển.</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9"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186" name="Google Shape;186;p9"/>
          <p:cNvSpPr/>
          <p:nvPr/>
        </p:nvSpPr>
        <p:spPr>
          <a:xfrm>
            <a:off x="571500" y="729779"/>
            <a:ext cx="314325" cy="31432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C23B22"/>
              </a:buClr>
              <a:buSzPts val="900"/>
              <a:buFont typeface="EB Garamond Medium"/>
              <a:buNone/>
            </a:pPr>
            <a:r>
              <a:rPr lang="en-US" sz="900" b="1" i="0" u="none" strike="noStrike" cap="none">
                <a:solidFill>
                  <a:srgbClr val="C23B22"/>
                </a:solidFill>
                <a:latin typeface="EB Garamond Medium"/>
                <a:ea typeface="EB Garamond Medium"/>
                <a:cs typeface="EB Garamond Medium"/>
                <a:sym typeface="EB Garamond Medium"/>
              </a:rPr>
              <a:t>W</a:t>
            </a:r>
            <a:endParaRPr sz="900" b="0" i="0" u="none" strike="noStrike" cap="none">
              <a:solidFill>
                <a:schemeClr val="dk1"/>
              </a:solidFill>
              <a:latin typeface="Calibri"/>
              <a:ea typeface="Calibri"/>
              <a:cs typeface="Calibri"/>
              <a:sym typeface="Calibri"/>
            </a:endParaRPr>
          </a:p>
        </p:txBody>
      </p:sp>
      <p:sp>
        <p:nvSpPr>
          <p:cNvPr id="187" name="Google Shape;187;p9"/>
          <p:cNvSpPr/>
          <p:nvPr/>
        </p:nvSpPr>
        <p:spPr>
          <a:xfrm>
            <a:off x="1028700" y="658341"/>
            <a:ext cx="3479006"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2450"/>
              <a:buFont typeface="Playfair Display"/>
              <a:buNone/>
            </a:pPr>
            <a:r>
              <a:rPr lang="en-US" sz="2450" b="1" i="0" u="none" strike="noStrike" cap="none">
                <a:solidFill>
                  <a:srgbClr val="2C3E2D"/>
                </a:solidFill>
                <a:latin typeface="Playfair Display"/>
                <a:ea typeface="Playfair Display"/>
                <a:cs typeface="Playfair Display"/>
                <a:sym typeface="Playfair Display"/>
              </a:rPr>
              <a:t>CÁC ĐIỂM HẠN CHẾ</a:t>
            </a:r>
            <a:endParaRPr sz="2450" b="0" i="0" u="none" strike="noStrike" cap="none">
              <a:solidFill>
                <a:schemeClr val="dk1"/>
              </a:solidFill>
              <a:latin typeface="Calibri"/>
              <a:ea typeface="Calibri"/>
              <a:cs typeface="Calibri"/>
              <a:sym typeface="Calibri"/>
            </a:endParaRPr>
          </a:p>
        </p:txBody>
      </p:sp>
      <p:sp>
        <p:nvSpPr>
          <p:cNvPr id="188" name="Google Shape;188;p9"/>
          <p:cNvSpPr/>
          <p:nvPr/>
        </p:nvSpPr>
        <p:spPr>
          <a:xfrm>
            <a:off x="571500" y="1881039"/>
            <a:ext cx="3786188"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500"/>
              <a:buFont typeface="Playfair Display"/>
              <a:buNone/>
            </a:pPr>
            <a:r>
              <a:rPr lang="en-US" sz="1500" b="1" i="0" u="none" strike="noStrike" cap="none">
                <a:solidFill>
                  <a:srgbClr val="1C2541"/>
                </a:solidFill>
                <a:latin typeface="Playfair Display"/>
                <a:ea typeface="Playfair Display"/>
                <a:cs typeface="Playfair Display"/>
                <a:sym typeface="Playfair Display"/>
              </a:rPr>
              <a:t>Môi Trường</a:t>
            </a:r>
            <a:r>
              <a:rPr lang="en-US" sz="1500" b="1">
                <a:solidFill>
                  <a:srgbClr val="1C2541"/>
                </a:solidFill>
                <a:latin typeface="Playfair Display"/>
                <a:ea typeface="Playfair Display"/>
                <a:cs typeface="Playfair Display"/>
                <a:sym typeface="Playfair Display"/>
              </a:rPr>
              <a:t>,</a:t>
            </a:r>
            <a:r>
              <a:rPr lang="en-US" sz="1500" b="1" i="0" u="none" strike="noStrike" cap="none">
                <a:solidFill>
                  <a:srgbClr val="1C2541"/>
                </a:solidFill>
                <a:latin typeface="Playfair Display"/>
                <a:ea typeface="Playfair Display"/>
                <a:cs typeface="Playfair Display"/>
                <a:sym typeface="Playfair Display"/>
              </a:rPr>
              <a:t> Bảo Mật</a:t>
            </a:r>
            <a:endParaRPr sz="1500" b="0" i="0" u="none" strike="noStrike" cap="none">
              <a:solidFill>
                <a:schemeClr val="dk1"/>
              </a:solidFill>
              <a:latin typeface="Calibri"/>
              <a:ea typeface="Calibri"/>
              <a:cs typeface="Calibri"/>
              <a:sym typeface="Calibri"/>
            </a:endParaRPr>
          </a:p>
        </p:txBody>
      </p:sp>
      <p:sp>
        <p:nvSpPr>
          <p:cNvPr id="189" name="Google Shape;189;p9"/>
          <p:cNvSpPr/>
          <p:nvPr/>
        </p:nvSpPr>
        <p:spPr>
          <a:xfrm>
            <a:off x="775097" y="2309664"/>
            <a:ext cx="2882503" cy="18752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Ứng dụng chỉ phục vụ đơn người dùng (Single-user).</a:t>
            </a:r>
            <a:endParaRPr sz="1050" b="0" i="0" u="none" strike="noStrike" cap="none">
              <a:solidFill>
                <a:schemeClr val="dk1"/>
              </a:solidFill>
              <a:latin typeface="Calibri"/>
              <a:ea typeface="Calibri"/>
              <a:cs typeface="Calibri"/>
              <a:sym typeface="Calibri"/>
            </a:endParaRPr>
          </a:p>
        </p:txBody>
      </p:sp>
      <p:sp>
        <p:nvSpPr>
          <p:cNvPr id="190" name="Google Shape;190;p9"/>
          <p:cNvSpPr/>
          <p:nvPr/>
        </p:nvSpPr>
        <p:spPr>
          <a:xfrm>
            <a:off x="775097" y="2554337"/>
            <a:ext cx="2882503"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Chưa có hệ thống phân quyền và quản lý tài khoản.</a:t>
            </a:r>
            <a:endParaRPr sz="850" b="0" i="0" u="none" strike="noStrike" cap="none">
              <a:solidFill>
                <a:schemeClr val="dk1"/>
              </a:solidFill>
              <a:latin typeface="Calibri"/>
              <a:ea typeface="Calibri"/>
              <a:cs typeface="Calibri"/>
              <a:sym typeface="Calibri"/>
            </a:endParaRPr>
          </a:p>
        </p:txBody>
      </p:sp>
      <p:sp>
        <p:nvSpPr>
          <p:cNvPr id="191" name="Google Shape;191;p9"/>
          <p:cNvSpPr/>
          <p:nvPr/>
        </p:nvSpPr>
        <p:spPr>
          <a:xfrm>
            <a:off x="775097" y="2864002"/>
            <a:ext cx="1923455" cy="18752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Dữ liệu lưu trữ cục bộ bằng JSON.</a:t>
            </a:r>
            <a:endParaRPr sz="1050" b="0" i="0" u="none" strike="noStrike" cap="none">
              <a:solidFill>
                <a:schemeClr val="dk1"/>
              </a:solidFill>
              <a:latin typeface="Calibri"/>
              <a:ea typeface="Calibri"/>
              <a:cs typeface="Calibri"/>
              <a:sym typeface="Calibri"/>
            </a:endParaRPr>
          </a:p>
        </p:txBody>
      </p:sp>
      <p:sp>
        <p:nvSpPr>
          <p:cNvPr id="192" name="Google Shape;192;p9"/>
          <p:cNvSpPr/>
          <p:nvPr/>
        </p:nvSpPr>
        <p:spPr>
          <a:xfrm>
            <a:off x="775097" y="3108675"/>
            <a:ext cx="3282553"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Chưa phù hợp cho môi trường mạng hoặc nhiều người dùng</a:t>
            </a:r>
            <a:endParaRPr sz="850" b="0" i="0" u="none" strike="noStrike" cap="none">
              <a:solidFill>
                <a:schemeClr val="dk1"/>
              </a:solidFill>
              <a:latin typeface="Calibri"/>
              <a:ea typeface="Calibri"/>
              <a:cs typeface="Calibri"/>
              <a:sym typeface="Calibri"/>
            </a:endParaRPr>
          </a:p>
        </p:txBody>
      </p:sp>
      <p:sp>
        <p:nvSpPr>
          <p:cNvPr id="193" name="Google Shape;193;p9"/>
          <p:cNvSpPr/>
          <p:nvPr/>
        </p:nvSpPr>
        <p:spPr>
          <a:xfrm>
            <a:off x="775097" y="3327257"/>
            <a:ext cx="3282553"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đồng thời.</a:t>
            </a:r>
            <a:endParaRPr sz="850" b="0" i="0" u="none" strike="noStrike" cap="none">
              <a:solidFill>
                <a:schemeClr val="dk1"/>
              </a:solidFill>
              <a:latin typeface="Calibri"/>
              <a:ea typeface="Calibri"/>
              <a:cs typeface="Calibri"/>
              <a:sym typeface="Calibri"/>
            </a:endParaRPr>
          </a:p>
        </p:txBody>
      </p:sp>
      <p:sp>
        <p:nvSpPr>
          <p:cNvPr id="194" name="Google Shape;194;p9"/>
          <p:cNvSpPr/>
          <p:nvPr/>
        </p:nvSpPr>
        <p:spPr>
          <a:xfrm>
            <a:off x="571500" y="3874452"/>
            <a:ext cx="3786188"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500"/>
              <a:buFont typeface="Playfair Display"/>
              <a:buNone/>
            </a:pPr>
            <a:r>
              <a:rPr lang="en-US" sz="1500" b="1" i="0" u="none" strike="noStrike" cap="none">
                <a:solidFill>
                  <a:srgbClr val="1C2541"/>
                </a:solidFill>
                <a:latin typeface="Playfair Display"/>
                <a:ea typeface="Playfair Display"/>
                <a:cs typeface="Playfair Display"/>
                <a:sym typeface="Playfair Display"/>
              </a:rPr>
              <a:t>Hiệu Năng Thuật Toán</a:t>
            </a:r>
            <a:endParaRPr sz="1500" b="0" i="0" u="none" strike="noStrike" cap="none">
              <a:solidFill>
                <a:schemeClr val="dk1"/>
              </a:solidFill>
              <a:latin typeface="Calibri"/>
              <a:ea typeface="Calibri"/>
              <a:cs typeface="Calibri"/>
              <a:sym typeface="Calibri"/>
            </a:endParaRPr>
          </a:p>
        </p:txBody>
      </p:sp>
      <p:sp>
        <p:nvSpPr>
          <p:cNvPr id="195" name="Google Shape;195;p9"/>
          <p:cNvSpPr/>
          <p:nvPr/>
        </p:nvSpPr>
        <p:spPr>
          <a:xfrm>
            <a:off x="775097" y="4303077"/>
            <a:ext cx="1875234" cy="18752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Giới hạn của các thuật toán O(n²).</a:t>
            </a:r>
            <a:endParaRPr sz="1050" b="0" i="0" u="none" strike="noStrike" cap="none">
              <a:solidFill>
                <a:schemeClr val="dk1"/>
              </a:solidFill>
              <a:latin typeface="Calibri"/>
              <a:ea typeface="Calibri"/>
              <a:cs typeface="Calibri"/>
              <a:sym typeface="Calibri"/>
            </a:endParaRPr>
          </a:p>
        </p:txBody>
      </p:sp>
      <p:sp>
        <p:nvSpPr>
          <p:cNvPr id="196" name="Google Shape;196;p9"/>
          <p:cNvSpPr/>
          <p:nvPr/>
        </p:nvSpPr>
        <p:spPr>
          <a:xfrm>
            <a:off x="775097" y="4547750"/>
            <a:ext cx="3359348"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Có thể gặp vấn đề về tốc độ khi số lượng hồ sơ tăng lên hàng</a:t>
            </a:r>
            <a:endParaRPr sz="850" b="0" i="0" u="none" strike="noStrike" cap="none">
              <a:solidFill>
                <a:schemeClr val="dk1"/>
              </a:solidFill>
              <a:latin typeface="Calibri"/>
              <a:ea typeface="Calibri"/>
              <a:cs typeface="Calibri"/>
              <a:sym typeface="Calibri"/>
            </a:endParaRPr>
          </a:p>
        </p:txBody>
      </p:sp>
      <p:sp>
        <p:nvSpPr>
          <p:cNvPr id="197" name="Google Shape;197;p9"/>
          <p:cNvSpPr/>
          <p:nvPr/>
        </p:nvSpPr>
        <p:spPr>
          <a:xfrm>
            <a:off x="775097" y="4766332"/>
            <a:ext cx="3359348"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chục nghìn.</a:t>
            </a:r>
            <a:endParaRPr sz="850" b="0" i="0" u="none" strike="noStrike" cap="none">
              <a:solidFill>
                <a:schemeClr val="dk1"/>
              </a:solidFill>
              <a:latin typeface="Calibri"/>
              <a:ea typeface="Calibri"/>
              <a:cs typeface="Calibri"/>
              <a:sym typeface="Calibri"/>
            </a:endParaRPr>
          </a:p>
        </p:txBody>
      </p:sp>
      <p:sp>
        <p:nvSpPr>
          <p:cNvPr id="198" name="Google Shape;198;p9"/>
          <p:cNvSpPr/>
          <p:nvPr/>
        </p:nvSpPr>
        <p:spPr>
          <a:xfrm>
            <a:off x="4786313" y="1881039"/>
            <a:ext cx="3786188"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500"/>
              <a:buFont typeface="Playfair Display"/>
              <a:buNone/>
            </a:pPr>
            <a:r>
              <a:rPr lang="en-US" sz="1500" b="1" i="0" u="none" strike="noStrike" cap="none">
                <a:solidFill>
                  <a:srgbClr val="1C2541"/>
                </a:solidFill>
                <a:latin typeface="Playfair Display"/>
                <a:ea typeface="Playfair Display"/>
                <a:cs typeface="Playfair Display"/>
                <a:sym typeface="Playfair Display"/>
              </a:rPr>
              <a:t>Tính Năng</a:t>
            </a:r>
            <a:r>
              <a:rPr lang="en-US" sz="1500" b="1">
                <a:solidFill>
                  <a:srgbClr val="1C2541"/>
                </a:solidFill>
                <a:latin typeface="Playfair Display"/>
                <a:ea typeface="Playfair Display"/>
                <a:cs typeface="Playfair Display"/>
                <a:sym typeface="Playfair Display"/>
              </a:rPr>
              <a:t>,</a:t>
            </a:r>
            <a:r>
              <a:rPr lang="en-US" sz="1500" b="1" i="0" u="none" strike="noStrike" cap="none">
                <a:solidFill>
                  <a:srgbClr val="1C2541"/>
                </a:solidFill>
                <a:latin typeface="Playfair Display"/>
                <a:ea typeface="Playfair Display"/>
                <a:cs typeface="Playfair Display"/>
                <a:sym typeface="Playfair Display"/>
              </a:rPr>
              <a:t> Mở Rộng</a:t>
            </a:r>
            <a:endParaRPr sz="1500" b="0" i="0" u="none" strike="noStrike" cap="none">
              <a:solidFill>
                <a:schemeClr val="dk1"/>
              </a:solidFill>
              <a:latin typeface="Calibri"/>
              <a:ea typeface="Calibri"/>
              <a:cs typeface="Calibri"/>
              <a:sym typeface="Calibri"/>
            </a:endParaRPr>
          </a:p>
        </p:txBody>
      </p:sp>
      <p:sp>
        <p:nvSpPr>
          <p:cNvPr id="199" name="Google Shape;199;p9"/>
          <p:cNvSpPr/>
          <p:nvPr/>
        </p:nvSpPr>
        <p:spPr>
          <a:xfrm>
            <a:off x="4989909" y="2309664"/>
            <a:ext cx="2412802" cy="18752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Thống kê còn ở dạng bảng số liệu thuần túy.</a:t>
            </a:r>
            <a:endParaRPr sz="1050" b="0" i="0" u="none" strike="noStrike" cap="none">
              <a:solidFill>
                <a:schemeClr val="dk1"/>
              </a:solidFill>
              <a:latin typeface="Calibri"/>
              <a:ea typeface="Calibri"/>
              <a:cs typeface="Calibri"/>
              <a:sym typeface="Calibri"/>
            </a:endParaRPr>
          </a:p>
        </p:txBody>
      </p:sp>
      <p:sp>
        <p:nvSpPr>
          <p:cNvPr id="200" name="Google Shape;200;p9"/>
          <p:cNvSpPr/>
          <p:nvPr/>
        </p:nvSpPr>
        <p:spPr>
          <a:xfrm>
            <a:off x="4989909" y="2554337"/>
            <a:ext cx="3284339"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Thiếu các biểu đồ trực quan (Pie, Bar chart) để phân tích xu</a:t>
            </a:r>
            <a:endParaRPr sz="850" b="0" i="0" u="none" strike="noStrike" cap="none">
              <a:solidFill>
                <a:schemeClr val="dk1"/>
              </a:solidFill>
              <a:latin typeface="Calibri"/>
              <a:ea typeface="Calibri"/>
              <a:cs typeface="Calibri"/>
              <a:sym typeface="Calibri"/>
            </a:endParaRPr>
          </a:p>
        </p:txBody>
      </p:sp>
      <p:sp>
        <p:nvSpPr>
          <p:cNvPr id="201" name="Google Shape;201;p9"/>
          <p:cNvSpPr/>
          <p:nvPr/>
        </p:nvSpPr>
        <p:spPr>
          <a:xfrm>
            <a:off x="4989909" y="2772919"/>
            <a:ext cx="3284339"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hướng.</a:t>
            </a:r>
            <a:endParaRPr sz="850" b="0" i="0" u="none" strike="noStrike" cap="none">
              <a:solidFill>
                <a:schemeClr val="dk1"/>
              </a:solidFill>
              <a:latin typeface="Calibri"/>
              <a:ea typeface="Calibri"/>
              <a:cs typeface="Calibri"/>
              <a:sym typeface="Calibri"/>
            </a:endParaRPr>
          </a:p>
        </p:txBody>
      </p:sp>
      <p:sp>
        <p:nvSpPr>
          <p:cNvPr id="202" name="Google Shape;202;p9"/>
          <p:cNvSpPr/>
          <p:nvPr/>
        </p:nvSpPr>
        <p:spPr>
          <a:xfrm>
            <a:off x="4989909" y="3082584"/>
            <a:ext cx="2394942" cy="18752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Chưa triển khai hệ thống kiểm thử tự động.</a:t>
            </a:r>
            <a:endParaRPr sz="1050" b="0" i="0" u="none" strike="noStrike" cap="none">
              <a:solidFill>
                <a:schemeClr val="dk1"/>
              </a:solidFill>
              <a:latin typeface="Calibri"/>
              <a:ea typeface="Calibri"/>
              <a:cs typeface="Calibri"/>
              <a:sym typeface="Calibri"/>
            </a:endParaRPr>
          </a:p>
        </p:txBody>
      </p:sp>
      <p:sp>
        <p:nvSpPr>
          <p:cNvPr id="203" name="Google Shape;203;p9"/>
          <p:cNvSpPr/>
          <p:nvPr/>
        </p:nvSpPr>
        <p:spPr>
          <a:xfrm>
            <a:off x="4989909" y="3327257"/>
            <a:ext cx="3300413"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Việc rà soát lỗi hiện tại vẫn dựa trên phương pháp thủ công.</a:t>
            </a:r>
            <a:endParaRPr sz="850" b="0" i="0" u="none" strike="noStrike" cap="none">
              <a:solidFill>
                <a:schemeClr val="dk1"/>
              </a:solidFill>
              <a:latin typeface="Calibri"/>
              <a:ea typeface="Calibri"/>
              <a:cs typeface="Calibri"/>
              <a:sym typeface="Calibri"/>
            </a:endParaRPr>
          </a:p>
        </p:txBody>
      </p:sp>
      <p:sp>
        <p:nvSpPr>
          <p:cNvPr id="204" name="Google Shape;204;p9"/>
          <p:cNvSpPr/>
          <p:nvPr/>
        </p:nvSpPr>
        <p:spPr>
          <a:xfrm>
            <a:off x="4989909" y="3636922"/>
            <a:ext cx="2455664" cy="18752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C3E2D"/>
              </a:buClr>
              <a:buSzPts val="1050"/>
              <a:buFont typeface="EB Garamond"/>
              <a:buNone/>
            </a:pPr>
            <a:r>
              <a:rPr lang="en-US" sz="1050" b="0" i="0" u="none" strike="noStrike" cap="none">
                <a:solidFill>
                  <a:srgbClr val="2C3E2D"/>
                </a:solidFill>
                <a:latin typeface="EB Garamond"/>
                <a:ea typeface="EB Garamond"/>
                <a:cs typeface="EB Garamond"/>
                <a:sym typeface="EB Garamond"/>
              </a:rPr>
              <a:t>Đường dẫn dữ liệu còn phụ thuộc vị trí chạy.</a:t>
            </a:r>
            <a:endParaRPr sz="1050" b="0" i="0" u="none" strike="noStrike" cap="none">
              <a:solidFill>
                <a:schemeClr val="dk1"/>
              </a:solidFill>
              <a:latin typeface="Calibri"/>
              <a:ea typeface="Calibri"/>
              <a:cs typeface="Calibri"/>
              <a:sym typeface="Calibri"/>
            </a:endParaRPr>
          </a:p>
        </p:txBody>
      </p:sp>
      <p:sp>
        <p:nvSpPr>
          <p:cNvPr id="205" name="Google Shape;205;p9"/>
          <p:cNvSpPr/>
          <p:nvPr/>
        </p:nvSpPr>
        <p:spPr>
          <a:xfrm>
            <a:off x="4989909" y="3881596"/>
            <a:ext cx="3575447"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Cần chuyển sang cơ chế đường dẫn tương đối hoặc cấu hình linh</a:t>
            </a:r>
            <a:endParaRPr sz="850" b="0" i="0" u="none" strike="noStrike" cap="none">
              <a:solidFill>
                <a:schemeClr val="dk1"/>
              </a:solidFill>
              <a:latin typeface="Calibri"/>
              <a:ea typeface="Calibri"/>
              <a:cs typeface="Calibri"/>
              <a:sym typeface="Calibri"/>
            </a:endParaRPr>
          </a:p>
        </p:txBody>
      </p:sp>
      <p:sp>
        <p:nvSpPr>
          <p:cNvPr id="206" name="Google Shape;206;p9"/>
          <p:cNvSpPr/>
          <p:nvPr/>
        </p:nvSpPr>
        <p:spPr>
          <a:xfrm>
            <a:off x="4989909" y="4100178"/>
            <a:ext cx="3575447" cy="182863"/>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7B9AAF"/>
              </a:buClr>
              <a:buSzPts val="850"/>
              <a:buFont typeface="Space Grotesk Medium"/>
              <a:buNone/>
            </a:pPr>
            <a:r>
              <a:rPr lang="en-US" sz="850" b="0" i="0" u="none" strike="noStrike" cap="none">
                <a:solidFill>
                  <a:srgbClr val="7B9AAF"/>
                </a:solidFill>
                <a:latin typeface="Space Grotesk Medium"/>
                <a:ea typeface="Space Grotesk Medium"/>
                <a:cs typeface="Space Grotesk Medium"/>
                <a:sym typeface="Space Grotesk Medium"/>
              </a:rPr>
              <a:t>hoạt hơn.</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10" descr="preencoded.png"/>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13" name="Google Shape;213;p10"/>
          <p:cNvSpPr/>
          <p:nvPr/>
        </p:nvSpPr>
        <p:spPr>
          <a:xfrm>
            <a:off x="571500" y="729779"/>
            <a:ext cx="314325" cy="314325"/>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Clr>
                <a:srgbClr val="C23B22"/>
              </a:buClr>
              <a:buSzPts val="900"/>
              <a:buFont typeface="EB Garamond Medium"/>
              <a:buNone/>
            </a:pPr>
            <a:r>
              <a:rPr lang="en-US" sz="900" b="1" i="0" u="none" strike="noStrike" cap="none">
                <a:solidFill>
                  <a:srgbClr val="C23B22"/>
                </a:solidFill>
                <a:latin typeface="EB Garamond Medium"/>
                <a:ea typeface="EB Garamond Medium"/>
                <a:cs typeface="EB Garamond Medium"/>
                <a:sym typeface="EB Garamond Medium"/>
              </a:rPr>
              <a:t>W</a:t>
            </a:r>
            <a:endParaRPr sz="900" b="0" i="0" u="none" strike="noStrike" cap="none">
              <a:solidFill>
                <a:schemeClr val="dk1"/>
              </a:solidFill>
              <a:latin typeface="Calibri"/>
              <a:ea typeface="Calibri"/>
              <a:cs typeface="Calibri"/>
              <a:sym typeface="Calibri"/>
            </a:endParaRPr>
          </a:p>
        </p:txBody>
      </p:sp>
      <p:sp>
        <p:nvSpPr>
          <p:cNvPr id="214" name="Google Shape;214;p10"/>
          <p:cNvSpPr/>
          <p:nvPr/>
        </p:nvSpPr>
        <p:spPr>
          <a:xfrm>
            <a:off x="1028700" y="658341"/>
            <a:ext cx="5759648" cy="37702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2450"/>
              <a:buFont typeface="Playfair Display"/>
              <a:buNone/>
            </a:pPr>
            <a:r>
              <a:rPr lang="en-US" sz="2450" b="1" i="0" u="none" strike="noStrike" cap="none" dirty="0">
                <a:solidFill>
                  <a:srgbClr val="2C3E2D"/>
                </a:solidFill>
                <a:latin typeface="Playfair Display"/>
                <a:ea typeface="Playfair Display"/>
                <a:cs typeface="Playfair Display"/>
                <a:sym typeface="Playfair Display"/>
              </a:rPr>
              <a:t>HƯỚNG PHÁT </a:t>
            </a:r>
            <a:r>
              <a:rPr lang="vi-VN" sz="2450" b="1" i="0" u="none" strike="noStrike" cap="none" dirty="0">
                <a:solidFill>
                  <a:srgbClr val="2C3E2D"/>
                </a:solidFill>
                <a:latin typeface="Playfair Display"/>
                <a:ea typeface="Playfair Display"/>
                <a:cs typeface="Playfair Display"/>
                <a:sym typeface="Playfair Display"/>
              </a:rPr>
              <a:t>TRIỂN, </a:t>
            </a:r>
            <a:r>
              <a:rPr lang="en-US" sz="2450" b="1" i="0" u="none" strike="noStrike" cap="none" dirty="0">
                <a:solidFill>
                  <a:srgbClr val="2C3E2D"/>
                </a:solidFill>
                <a:latin typeface="Playfair Display"/>
                <a:ea typeface="Playfair Display"/>
                <a:cs typeface="Playfair Display"/>
                <a:sym typeface="Playfair Display"/>
              </a:rPr>
              <a:t>KẾT LUẬN</a:t>
            </a:r>
            <a:endParaRPr sz="2450" b="0" i="0" u="none" strike="noStrike" cap="none" dirty="0">
              <a:solidFill>
                <a:schemeClr val="dk1"/>
              </a:solidFill>
              <a:latin typeface="Calibri"/>
              <a:ea typeface="Calibri"/>
              <a:cs typeface="Calibri"/>
              <a:sym typeface="Calibri"/>
            </a:endParaRPr>
          </a:p>
        </p:txBody>
      </p:sp>
      <p:sp>
        <p:nvSpPr>
          <p:cNvPr id="215" name="Google Shape;215;p10"/>
          <p:cNvSpPr/>
          <p:nvPr/>
        </p:nvSpPr>
        <p:spPr>
          <a:xfrm>
            <a:off x="571500" y="1559570"/>
            <a:ext cx="4629150" cy="314325"/>
          </a:xfrm>
          <a:prstGeom prst="rect">
            <a:avLst/>
          </a:prstGeom>
          <a:noFill/>
          <a:ln>
            <a:noFill/>
          </a:ln>
        </p:spPr>
        <p:txBody>
          <a:bodyPr spcFirstLastPara="1" wrap="square" lIns="8500" tIns="85075" rIns="8500" bIns="8500" anchor="ctr" anchorCtr="0">
            <a:spAutoFit/>
          </a:bodyPr>
          <a:lstStyle/>
          <a:p>
            <a:pPr marL="0" marR="0" lvl="0" indent="0" algn="l" rtl="0">
              <a:spcBef>
                <a:spcPts val="0"/>
              </a:spcBef>
              <a:spcAft>
                <a:spcPts val="0"/>
              </a:spcAft>
              <a:buClr>
                <a:srgbClr val="1C2541"/>
              </a:buClr>
              <a:buSzPts val="1200"/>
              <a:buFont typeface="Playfair Display"/>
              <a:buNone/>
            </a:pPr>
            <a:r>
              <a:rPr lang="en-US" sz="1200" b="1" i="0" u="none" strike="noStrike" cap="none">
                <a:solidFill>
                  <a:srgbClr val="1C2541"/>
                </a:solidFill>
                <a:latin typeface="Playfair Display"/>
                <a:ea typeface="Playfair Display"/>
                <a:cs typeface="Playfair Display"/>
                <a:sym typeface="Playfair Display"/>
              </a:rPr>
              <a:t>Lộ Trình Phát Triển</a:t>
            </a:r>
            <a:endParaRPr sz="1200" b="0" i="0" u="none" strike="noStrike" cap="none">
              <a:solidFill>
                <a:schemeClr val="dk1"/>
              </a:solidFill>
              <a:latin typeface="Calibri"/>
              <a:ea typeface="Calibri"/>
              <a:cs typeface="Calibri"/>
              <a:sym typeface="Calibri"/>
            </a:endParaRPr>
          </a:p>
        </p:txBody>
      </p:sp>
      <p:sp>
        <p:nvSpPr>
          <p:cNvPr id="216" name="Google Shape;216;p10"/>
          <p:cNvSpPr/>
          <p:nvPr/>
        </p:nvSpPr>
        <p:spPr>
          <a:xfrm>
            <a:off x="571500" y="1873895"/>
            <a:ext cx="871538" cy="510778"/>
          </a:xfrm>
          <a:prstGeom prst="rect">
            <a:avLst/>
          </a:prstGeom>
          <a:noFill/>
          <a:ln>
            <a:noFill/>
          </a:ln>
        </p:spPr>
        <p:txBody>
          <a:bodyPr spcFirstLastPara="1" wrap="square" lIns="8500" tIns="127500" rIns="8500" bIns="8500" anchor="ctr" anchorCtr="0">
            <a:spAutoFit/>
          </a:bodyPr>
          <a:lstStyle/>
          <a:p>
            <a:pPr marL="0" marR="0" lvl="0" indent="0" algn="l" rtl="0">
              <a:lnSpc>
                <a:spcPct val="120000"/>
              </a:lnSpc>
              <a:spcBef>
                <a:spcPts val="0"/>
              </a:spcBef>
              <a:spcAft>
                <a:spcPts val="0"/>
              </a:spcAft>
              <a:buClr>
                <a:srgbClr val="C23B22"/>
              </a:buClr>
              <a:buSzPts val="900"/>
              <a:buFont typeface="Space Grotesk Medium"/>
              <a:buNone/>
            </a:pPr>
            <a:r>
              <a:rPr lang="en-US" sz="900" b="1" i="0" u="none" strike="noStrike" cap="none">
                <a:solidFill>
                  <a:srgbClr val="C23B22"/>
                </a:solidFill>
                <a:latin typeface="Space Grotesk Medium"/>
                <a:ea typeface="Space Grotesk Medium"/>
                <a:cs typeface="Space Grotesk Medium"/>
                <a:sym typeface="Space Grotesk Medium"/>
              </a:rPr>
              <a:t>Ngắn hạn</a:t>
            </a:r>
            <a:endParaRPr sz="900" b="0" i="0" u="none" strike="noStrike" cap="none">
              <a:solidFill>
                <a:schemeClr val="dk1"/>
              </a:solidFill>
              <a:latin typeface="Calibri"/>
              <a:ea typeface="Calibri"/>
              <a:cs typeface="Calibri"/>
              <a:sym typeface="Calibri"/>
            </a:endParaRPr>
          </a:p>
        </p:txBody>
      </p:sp>
      <p:sp>
        <p:nvSpPr>
          <p:cNvPr id="217" name="Google Shape;217;p10"/>
          <p:cNvSpPr/>
          <p:nvPr/>
        </p:nvSpPr>
        <p:spPr>
          <a:xfrm>
            <a:off x="1443038" y="1873895"/>
            <a:ext cx="3757613" cy="510778"/>
          </a:xfrm>
          <a:prstGeom prst="rect">
            <a:avLst/>
          </a:prstGeom>
          <a:noFill/>
          <a:ln>
            <a:noFill/>
          </a:ln>
        </p:spPr>
        <p:txBody>
          <a:bodyPr spcFirstLastPara="1" wrap="square" lIns="8500" tIns="127500" rIns="8500" bIns="8500" anchor="ctr" anchorCtr="0">
            <a:spAutoFit/>
          </a:bodyPr>
          <a:lstStyle/>
          <a:p>
            <a:pPr marL="0" marR="0" lvl="0" indent="0" algn="l" rtl="0">
              <a:lnSpc>
                <a:spcPct val="120000"/>
              </a:lnSpc>
              <a:spcBef>
                <a:spcPts val="0"/>
              </a:spcBef>
              <a:spcAft>
                <a:spcPts val="0"/>
              </a:spcAft>
              <a:buClr>
                <a:srgbClr val="2C3E2D"/>
              </a:buClr>
              <a:buSzPts val="950"/>
              <a:buFont typeface="EB Garamond"/>
              <a:buNone/>
            </a:pPr>
            <a:r>
              <a:rPr lang="en-US" sz="950" b="0" i="0" u="none" strike="noStrike" cap="none">
                <a:solidFill>
                  <a:srgbClr val="2C3E2D"/>
                </a:solidFill>
                <a:latin typeface="EB Garamond"/>
                <a:ea typeface="EB Garamond"/>
                <a:cs typeface="EB Garamond"/>
                <a:sym typeface="EB Garamond"/>
              </a:rPr>
              <a:t>Chuyển sang đường dẫn tương đối, bổ sung Unit Test cho các thuật toán lõi.</a:t>
            </a:r>
            <a:endParaRPr sz="950" b="0" i="0" u="none" strike="noStrike" cap="none">
              <a:solidFill>
                <a:schemeClr val="dk1"/>
              </a:solidFill>
              <a:latin typeface="Calibri"/>
              <a:ea typeface="Calibri"/>
              <a:cs typeface="Calibri"/>
              <a:sym typeface="Calibri"/>
            </a:endParaRPr>
          </a:p>
        </p:txBody>
      </p:sp>
      <p:sp>
        <p:nvSpPr>
          <p:cNvPr id="218" name="Google Shape;218;p10"/>
          <p:cNvSpPr/>
          <p:nvPr/>
        </p:nvSpPr>
        <p:spPr>
          <a:xfrm>
            <a:off x="571500" y="2384673"/>
            <a:ext cx="871538" cy="507206"/>
          </a:xfrm>
          <a:prstGeom prst="rect">
            <a:avLst/>
          </a:prstGeom>
          <a:noFill/>
          <a:ln>
            <a:noFill/>
          </a:ln>
        </p:spPr>
        <p:txBody>
          <a:bodyPr spcFirstLastPara="1" wrap="square" lIns="8500" tIns="127500" rIns="8500" bIns="8500" anchor="ctr" anchorCtr="0">
            <a:spAutoFit/>
          </a:bodyPr>
          <a:lstStyle/>
          <a:p>
            <a:pPr marL="0" marR="0" lvl="0" indent="0" algn="l" rtl="0">
              <a:lnSpc>
                <a:spcPct val="120000"/>
              </a:lnSpc>
              <a:spcBef>
                <a:spcPts val="0"/>
              </a:spcBef>
              <a:spcAft>
                <a:spcPts val="0"/>
              </a:spcAft>
              <a:buClr>
                <a:srgbClr val="C23B22"/>
              </a:buClr>
              <a:buSzPts val="900"/>
              <a:buFont typeface="Space Grotesk Medium"/>
              <a:buNone/>
            </a:pPr>
            <a:r>
              <a:rPr lang="en-US" sz="900" b="1" i="0" u="none" strike="noStrike" cap="none">
                <a:solidFill>
                  <a:srgbClr val="C23B22"/>
                </a:solidFill>
                <a:latin typeface="Space Grotesk Medium"/>
                <a:ea typeface="Space Grotesk Medium"/>
                <a:cs typeface="Space Grotesk Medium"/>
                <a:sym typeface="Space Grotesk Medium"/>
              </a:rPr>
              <a:t>Trung hạn</a:t>
            </a:r>
            <a:endParaRPr sz="900" b="0" i="0" u="none" strike="noStrike" cap="none">
              <a:solidFill>
                <a:schemeClr val="dk1"/>
              </a:solidFill>
              <a:latin typeface="Calibri"/>
              <a:ea typeface="Calibri"/>
              <a:cs typeface="Calibri"/>
              <a:sym typeface="Calibri"/>
            </a:endParaRPr>
          </a:p>
        </p:txBody>
      </p:sp>
      <p:sp>
        <p:nvSpPr>
          <p:cNvPr id="219" name="Google Shape;219;p10"/>
          <p:cNvSpPr/>
          <p:nvPr/>
        </p:nvSpPr>
        <p:spPr>
          <a:xfrm>
            <a:off x="1443038" y="2384673"/>
            <a:ext cx="3757613" cy="507206"/>
          </a:xfrm>
          <a:prstGeom prst="rect">
            <a:avLst/>
          </a:prstGeom>
          <a:noFill/>
          <a:ln>
            <a:noFill/>
          </a:ln>
        </p:spPr>
        <p:txBody>
          <a:bodyPr spcFirstLastPara="1" wrap="square" lIns="8500" tIns="127500" rIns="8500" bIns="8500" anchor="ctr" anchorCtr="0">
            <a:spAutoFit/>
          </a:bodyPr>
          <a:lstStyle/>
          <a:p>
            <a:pPr marL="0" marR="0" lvl="0" indent="0" algn="l" rtl="0">
              <a:lnSpc>
                <a:spcPct val="120000"/>
              </a:lnSpc>
              <a:spcBef>
                <a:spcPts val="0"/>
              </a:spcBef>
              <a:spcAft>
                <a:spcPts val="0"/>
              </a:spcAft>
              <a:buClr>
                <a:srgbClr val="2C3E2D"/>
              </a:buClr>
              <a:buSzPts val="950"/>
              <a:buFont typeface="EB Garamond"/>
              <a:buNone/>
            </a:pPr>
            <a:r>
              <a:rPr lang="en-US" sz="950" b="0" i="0" u="none" strike="noStrike" cap="none">
                <a:solidFill>
                  <a:srgbClr val="2C3E2D"/>
                </a:solidFill>
                <a:latin typeface="EB Garamond"/>
                <a:ea typeface="EB Garamond"/>
                <a:cs typeface="EB Garamond"/>
                <a:sym typeface="EB Garamond"/>
              </a:rPr>
              <a:t>Tách biệt hoàn toàn các tầng kiến trúc (Logic - Data - UI), thêm lịch sử thay đổi.</a:t>
            </a:r>
            <a:endParaRPr sz="950" b="0" i="0" u="none" strike="noStrike" cap="none">
              <a:solidFill>
                <a:schemeClr val="dk1"/>
              </a:solidFill>
              <a:latin typeface="Calibri"/>
              <a:ea typeface="Calibri"/>
              <a:cs typeface="Calibri"/>
              <a:sym typeface="Calibri"/>
            </a:endParaRPr>
          </a:p>
        </p:txBody>
      </p:sp>
      <p:sp>
        <p:nvSpPr>
          <p:cNvPr id="220" name="Google Shape;220;p10"/>
          <p:cNvSpPr/>
          <p:nvPr/>
        </p:nvSpPr>
        <p:spPr>
          <a:xfrm>
            <a:off x="571500" y="2891879"/>
            <a:ext cx="871538" cy="507206"/>
          </a:xfrm>
          <a:prstGeom prst="rect">
            <a:avLst/>
          </a:prstGeom>
          <a:noFill/>
          <a:ln>
            <a:noFill/>
          </a:ln>
        </p:spPr>
        <p:txBody>
          <a:bodyPr spcFirstLastPara="1" wrap="square" lIns="8500" tIns="127500" rIns="8500" bIns="8500" anchor="ctr" anchorCtr="0">
            <a:spAutoFit/>
          </a:bodyPr>
          <a:lstStyle/>
          <a:p>
            <a:pPr marL="0" marR="0" lvl="0" indent="0" algn="l" rtl="0">
              <a:lnSpc>
                <a:spcPct val="120000"/>
              </a:lnSpc>
              <a:spcBef>
                <a:spcPts val="0"/>
              </a:spcBef>
              <a:spcAft>
                <a:spcPts val="0"/>
              </a:spcAft>
              <a:buClr>
                <a:srgbClr val="C23B22"/>
              </a:buClr>
              <a:buSzPts val="900"/>
              <a:buFont typeface="Space Grotesk Medium"/>
              <a:buNone/>
            </a:pPr>
            <a:r>
              <a:rPr lang="en-US" sz="900" b="1" i="0" u="none" strike="noStrike" cap="none">
                <a:solidFill>
                  <a:srgbClr val="C23B22"/>
                </a:solidFill>
                <a:latin typeface="Space Grotesk Medium"/>
                <a:ea typeface="Space Grotesk Medium"/>
                <a:cs typeface="Space Grotesk Medium"/>
                <a:sym typeface="Space Grotesk Medium"/>
              </a:rPr>
              <a:t>Dài hạn</a:t>
            </a:r>
            <a:endParaRPr sz="900" b="0" i="0" u="none" strike="noStrike" cap="none">
              <a:solidFill>
                <a:schemeClr val="dk1"/>
              </a:solidFill>
              <a:latin typeface="Calibri"/>
              <a:ea typeface="Calibri"/>
              <a:cs typeface="Calibri"/>
              <a:sym typeface="Calibri"/>
            </a:endParaRPr>
          </a:p>
        </p:txBody>
      </p:sp>
      <p:sp>
        <p:nvSpPr>
          <p:cNvPr id="221" name="Google Shape;221;p10"/>
          <p:cNvSpPr/>
          <p:nvPr/>
        </p:nvSpPr>
        <p:spPr>
          <a:xfrm>
            <a:off x="1443038" y="2891879"/>
            <a:ext cx="3757613" cy="507206"/>
          </a:xfrm>
          <a:prstGeom prst="rect">
            <a:avLst/>
          </a:prstGeom>
          <a:noFill/>
          <a:ln>
            <a:noFill/>
          </a:ln>
        </p:spPr>
        <p:txBody>
          <a:bodyPr spcFirstLastPara="1" wrap="square" lIns="8500" tIns="127500" rIns="8500" bIns="8500" anchor="ctr" anchorCtr="0">
            <a:spAutoFit/>
          </a:bodyPr>
          <a:lstStyle/>
          <a:p>
            <a:pPr marL="0" marR="0" lvl="0" indent="0" algn="l" rtl="0">
              <a:lnSpc>
                <a:spcPct val="120000"/>
              </a:lnSpc>
              <a:spcBef>
                <a:spcPts val="0"/>
              </a:spcBef>
              <a:spcAft>
                <a:spcPts val="0"/>
              </a:spcAft>
              <a:buClr>
                <a:srgbClr val="2C3E2D"/>
              </a:buClr>
              <a:buSzPts val="950"/>
              <a:buFont typeface="EB Garamond"/>
              <a:buNone/>
            </a:pPr>
            <a:r>
              <a:rPr lang="en-US" sz="950" b="0" i="0" u="none" strike="noStrike" cap="none" dirty="0" err="1">
                <a:solidFill>
                  <a:srgbClr val="2C3E2D"/>
                </a:solidFill>
                <a:latin typeface="EB Garamond"/>
                <a:ea typeface="EB Garamond"/>
                <a:cs typeface="EB Garamond"/>
                <a:sym typeface="EB Garamond"/>
              </a:rPr>
              <a:t>Nâng</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cấp</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lên</a:t>
            </a:r>
            <a:r>
              <a:rPr lang="en-US" sz="950" b="0" i="0" u="none" strike="noStrike" cap="none" dirty="0">
                <a:solidFill>
                  <a:srgbClr val="2C3E2D"/>
                </a:solidFill>
                <a:latin typeface="EB Garamond"/>
                <a:ea typeface="EB Garamond"/>
                <a:cs typeface="EB Garamond"/>
                <a:sym typeface="EB Garamond"/>
              </a:rPr>
              <a:t> SQL Server/SQLite, </a:t>
            </a:r>
            <a:r>
              <a:rPr lang="en-US" sz="950" b="0" i="0" u="none" strike="noStrike" cap="none" dirty="0" err="1">
                <a:solidFill>
                  <a:srgbClr val="2C3E2D"/>
                </a:solidFill>
                <a:latin typeface="EB Garamond"/>
                <a:ea typeface="EB Garamond"/>
                <a:cs typeface="EB Garamond"/>
                <a:sym typeface="EB Garamond"/>
              </a:rPr>
              <a:t>triển</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khai</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mô</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hình</a:t>
            </a:r>
            <a:r>
              <a:rPr lang="en-US" sz="950" b="0" i="0" u="none" strike="noStrike" cap="none" dirty="0">
                <a:solidFill>
                  <a:srgbClr val="2C3E2D"/>
                </a:solidFill>
                <a:latin typeface="EB Garamond"/>
                <a:ea typeface="EB Garamond"/>
                <a:cs typeface="EB Garamond"/>
                <a:sym typeface="EB Garamond"/>
              </a:rPr>
              <a:t> Client-Server </a:t>
            </a:r>
            <a:r>
              <a:rPr lang="en-US" sz="950" b="0" i="0" u="none" strike="noStrike" cap="none" dirty="0" err="1">
                <a:solidFill>
                  <a:srgbClr val="2C3E2D"/>
                </a:solidFill>
                <a:latin typeface="EB Garamond"/>
                <a:ea typeface="EB Garamond"/>
                <a:cs typeface="EB Garamond"/>
                <a:sym typeface="EB Garamond"/>
              </a:rPr>
              <a:t>cho</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nhiều</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người</a:t>
            </a:r>
            <a:r>
              <a:rPr lang="en-US" sz="950" b="0" i="0" u="none" strike="noStrike" cap="none" dirty="0">
                <a:solidFill>
                  <a:srgbClr val="2C3E2D"/>
                </a:solidFill>
                <a:latin typeface="EB Garamond"/>
                <a:ea typeface="EB Garamond"/>
                <a:cs typeface="EB Garamond"/>
                <a:sym typeface="EB Garamond"/>
              </a:rPr>
              <a:t> </a:t>
            </a:r>
            <a:r>
              <a:rPr lang="en-US" sz="950" b="0" i="0" u="none" strike="noStrike" cap="none" dirty="0" err="1">
                <a:solidFill>
                  <a:srgbClr val="2C3E2D"/>
                </a:solidFill>
                <a:latin typeface="EB Garamond"/>
                <a:ea typeface="EB Garamond"/>
                <a:cs typeface="EB Garamond"/>
                <a:sym typeface="EB Garamond"/>
              </a:rPr>
              <a:t>dùng</a:t>
            </a:r>
            <a:r>
              <a:rPr lang="en-US" sz="950" b="0" i="0" u="none" strike="noStrike" cap="none" dirty="0">
                <a:solidFill>
                  <a:srgbClr val="2C3E2D"/>
                </a:solidFill>
                <a:latin typeface="EB Garamond"/>
                <a:ea typeface="EB Garamond"/>
                <a:cs typeface="EB Garamond"/>
                <a:sym typeface="EB Garamond"/>
              </a:rPr>
              <a:t>.</a:t>
            </a:r>
            <a:endParaRPr sz="950" b="0" i="0" u="none" strike="noStrike" cap="none" dirty="0">
              <a:solidFill>
                <a:schemeClr val="dk1"/>
              </a:solidFill>
              <a:latin typeface="Calibri"/>
              <a:ea typeface="Calibri"/>
              <a:cs typeface="Calibri"/>
              <a:sym typeface="Calibri"/>
            </a:endParaRPr>
          </a:p>
        </p:txBody>
      </p:sp>
      <p:sp>
        <p:nvSpPr>
          <p:cNvPr id="222" name="Google Shape;222;p10"/>
          <p:cNvSpPr/>
          <p:nvPr/>
        </p:nvSpPr>
        <p:spPr>
          <a:xfrm>
            <a:off x="5486400" y="1875597"/>
            <a:ext cx="3086100" cy="26610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1C2541"/>
              </a:buClr>
              <a:buSzPts val="1400"/>
              <a:buFont typeface="Playfair Display"/>
              <a:buNone/>
            </a:pPr>
            <a:r>
              <a:rPr lang="en-US" sz="1400" b="1" i="0" u="none" strike="noStrike" cap="none">
                <a:solidFill>
                  <a:srgbClr val="1C2541"/>
                </a:solidFill>
                <a:latin typeface="Playfair Display"/>
                <a:ea typeface="Playfair Display"/>
                <a:cs typeface="Playfair Display"/>
                <a:sym typeface="Playfair Display"/>
              </a:rPr>
              <a:t>Lời Kết</a:t>
            </a:r>
            <a:endParaRPr sz="1400" b="0" i="0" u="none" strike="noStrike" cap="none">
              <a:solidFill>
                <a:schemeClr val="dk1"/>
              </a:solidFill>
              <a:latin typeface="Calibri"/>
              <a:ea typeface="Calibri"/>
              <a:cs typeface="Calibri"/>
              <a:sym typeface="Calibri"/>
            </a:endParaRPr>
          </a:p>
        </p:txBody>
      </p:sp>
      <p:sp>
        <p:nvSpPr>
          <p:cNvPr id="223" name="Google Shape;223;p10"/>
          <p:cNvSpPr/>
          <p:nvPr/>
        </p:nvSpPr>
        <p:spPr>
          <a:xfrm>
            <a:off x="5486400" y="2284577"/>
            <a:ext cx="3086100" cy="914400"/>
          </a:xfrm>
          <a:prstGeom prst="rect">
            <a:avLst/>
          </a:prstGeom>
          <a:noFill/>
          <a:ln>
            <a:noFill/>
          </a:ln>
        </p:spPr>
        <p:txBody>
          <a:bodyPr spcFirstLastPara="1" wrap="square" lIns="0" tIns="0" rIns="0" bIns="0" anchor="t" anchorCtr="0">
            <a:spAutoFit/>
          </a:bodyPr>
          <a:lstStyle/>
          <a:p>
            <a:pPr marL="0" marR="0" lvl="0" indent="0" algn="l" rtl="0">
              <a:lnSpc>
                <a:spcPct val="128000"/>
              </a:lnSpc>
              <a:spcBef>
                <a:spcPts val="0"/>
              </a:spcBef>
              <a:spcAft>
                <a:spcPts val="0"/>
              </a:spcAft>
              <a:buClr>
                <a:srgbClr val="2D3142"/>
              </a:buClr>
              <a:buSzPts val="1050"/>
              <a:buFont typeface="EB Garamond"/>
              <a:buNone/>
            </a:pPr>
            <a:r>
              <a:rPr lang="en-US" sz="1050" b="0" i="1" u="none" strike="noStrike" cap="none">
                <a:solidFill>
                  <a:srgbClr val="2D3142"/>
                </a:solidFill>
                <a:latin typeface="EB Garamond"/>
                <a:ea typeface="EB Garamond"/>
                <a:cs typeface="EB Garamond"/>
                <a:sym typeface="EB Garamond"/>
              </a:rPr>
              <a:t>Dự án đã hoàn thành xuất sắc các mục tiêu đề ra, không chỉ cung cấp một công cụ quản lý hiệu quả mà còn là minh chứng cho khả năng vận dụng tư duy lập trình bài bản vào thực tiễn.</a:t>
            </a:r>
            <a:endParaRPr sz="1050" b="0" i="0" u="none" strike="noStrike" cap="none">
              <a:solidFill>
                <a:schemeClr val="dk1"/>
              </a:solidFill>
              <a:latin typeface="Calibri"/>
              <a:ea typeface="Calibri"/>
              <a:cs typeface="Calibri"/>
              <a:sym typeface="Calibri"/>
            </a:endParaRPr>
          </a:p>
        </p:txBody>
      </p:sp>
      <p:sp>
        <p:nvSpPr>
          <p:cNvPr id="224" name="Google Shape;224;p10"/>
          <p:cNvSpPr/>
          <p:nvPr/>
        </p:nvSpPr>
        <p:spPr>
          <a:xfrm>
            <a:off x="3525441" y="3688407"/>
            <a:ext cx="2093119"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Clr>
                <a:srgbClr val="2C3E2D"/>
              </a:buClr>
              <a:buSzPts val="1250"/>
              <a:buFont typeface="Playfair Display"/>
              <a:buNone/>
            </a:pPr>
            <a:r>
              <a:rPr lang="en-US" sz="1250" b="1" i="0" u="none" strike="noStrike" cap="none">
                <a:solidFill>
                  <a:srgbClr val="2C3E2D"/>
                </a:solidFill>
                <a:latin typeface="Playfair Display"/>
                <a:ea typeface="Playfair Display"/>
                <a:cs typeface="Playfair Display"/>
                <a:sym typeface="Playfair Display"/>
              </a:rPr>
              <a:t>TRÂN TRỌNG CẢM ƠN</a:t>
            </a:r>
            <a:endParaRPr sz="125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1466</Words>
  <Application>Microsoft Office PowerPoint</Application>
  <PresentationFormat>On-screen Show (16:9)</PresentationFormat>
  <Paragraphs>152</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Calibri</vt:lpstr>
      <vt:lpstr>Playfair Display</vt:lpstr>
      <vt:lpstr>Space Grotesk</vt:lpstr>
      <vt:lpstr>Space Grotesk Medium</vt:lpstr>
      <vt:lpstr>EB Garamond</vt:lpstr>
      <vt:lpstr>EB Garamond SemiBold</vt:lpstr>
      <vt:lpstr>Arial</vt:lpstr>
      <vt:lpstr>EB Garamond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PptxGenJS</dc:creator>
  <cp:lastModifiedBy>buinamdong9@gmail.com</cp:lastModifiedBy>
  <cp:revision>1</cp:revision>
  <dcterms:created xsi:type="dcterms:W3CDTF">2026-06-10T13:53:05Z</dcterms:created>
  <dcterms:modified xsi:type="dcterms:W3CDTF">2026-06-10T14:05:19Z</dcterms:modified>
</cp:coreProperties>
</file>